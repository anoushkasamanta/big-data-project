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2.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3.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d14afe2-93fa-2ca3-5834-bf9b5fd015a9}">
          <p14:sldIdLst>
            <p14:sldId id="256"/>
            <p14:sldId id="257"/>
            <p14:sldId id="258"/>
          </p14:sldIdLst>
        </p14:section>
        <p14:section name="Problem" id="{af68bc11-ff68-dc1d-5050-dc5ef97aaf2d}">
          <p14:sldIdLst>
            <p14:sldId id="259"/>
            <p14:sldId id="260"/>
            <p14:sldId id="261"/>
            <p14:sldId id="262"/>
          </p14:sldIdLst>
        </p14:section>
        <p14:section name="Solution" id="{120a9776-3a3a-3c10-dbda-3840f73b5454}">
          <p14:sldIdLst>
            <p14:sldId id="263"/>
            <p14:sldId id="264"/>
            <p14:sldId id="265"/>
            <p14:sldId id="266"/>
            <p14:sldId id="267"/>
          </p14:sldIdLst>
        </p14:section>
        <p14:section name="Detection" id="{553e62a5-fcf3-d489-8041-557aea011731}">
          <p14:sldIdLst>
            <p14:sldId id="268"/>
            <p14:sldId id="269"/>
          </p14:sldIdLst>
        </p14:section>
        <p14:section name="Features" id="{cb1e8c2d-f6b7-2792-d5e4-cd9bd48cda72}">
          <p14:sldIdLst>
            <p14:sldId id="270"/>
            <p14:sldId id="271"/>
          </p14:sldIdLst>
        </p14:section>
        <p14:section name="Results" id="{a87c8de9-ae28-95b2-8612-262808e36666}">
          <p14:sldIdLst>
            <p14:sldId id="272"/>
            <p14:sldId id="273"/>
          </p14:sldIdLst>
        </p14:section>
        <p14:section name="Analysis" id="{f590bb49-00db-61cd-4627-43e27f1eee17}">
          <p14:sldIdLst>
            <p14:sldId id="274"/>
            <p14:sldId id="275"/>
            <p14:sldId id="276"/>
            <p14:sldId id="277"/>
            <p14:sldId id="278"/>
          </p14:sldIdLst>
        </p14:section>
        <p14:section name="Conclusion" id="{8ccad794-9808-f11f-97fe-8ef10816da72}">
          <p14:sldIdLst>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438"/>
                </a:solidFill>
                <a:latin typeface="+mn-lt"/>
              </a:defRPr>
            </a:pPr>
            <a:r>
              <a:rPr sz="1300" b="0" i="0" u="none" strike="noStrike">
                <a:solidFill>
                  <a:srgbClr val="0F2438"/>
                </a:solidFill>
                <a:latin typeface="+mn-lt"/>
              </a:rPr>
              <a:t>Precision, recall and F1 (axis starts at 0.85)</a:t>
            </a:r>
          </a:p>
        </c:rich>
      </c:tx>
      <c:layout/>
      <c:overlay val="0"/>
    </c:title>
    <c:autoTitleDeleted val="0"/>
    <c:plotArea>
      <c:layout/>
      <c:barChart>
        <c:barDir val="col"/>
        <c:grouping val="clustered"/>
        <c:varyColors val="0"/>
        <c:ser>
          <c:idx val="0"/>
          <c:order val="0"/>
          <c:tx>
            <c:strRef>
              <c:f>Sheet1!$B$1</c:f>
              <c:strCache>
                <c:ptCount val="1"/>
                <c:pt idx="0">
                  <c:v>Precision</c:v>
                </c:pt>
              </c:strCache>
            </c:strRef>
          </c:tx>
          <c:spPr>
            <a:solidFill>
              <a:srgbClr val="8FA8BF"/>
            </a:solidFill>
            <a:effectLst/>
          </c:spPr>
          <c:invertIfNegative val="0"/>
          <c:dLbls>
            <c:numFmt formatCode="#,##0" sourceLinked="0"/>
            <c:txPr>
              <a:bodyPr/>
              <a:lstStyle/>
              <a:p>
                <a:pPr>
                  <a:defRPr b="0" i="0" strike="noStrike" sz="1000" u="none">
                    <a:solidFill>
                      <a:srgbClr val="1A2230"/>
                    </a:solidFill>
                    <a:latin typeface="+mn-lt"/>
                  </a:defRPr>
                </a:pPr>
              </a:p>
            </c:txPr>
            <c:showLegendKey val="0"/>
            <c:showVal val="0"/>
            <c:showCatName val="0"/>
            <c:showSerName val="0"/>
            <c:showPercent val="0"/>
            <c:showBubbleSize val="0"/>
            <c:showLeaderLines val="0"/>
          </c:dLbls>
          <c:cat>
            <c:multiLvlStrRef>
              <c:f>Sheet1!$A$2:$A$5</c:f>
              <c:multiLvlStrCache>
                <c:ptCount val="4"/>
                <c:lvl>
                  <c:pt idx="0">
                    <c:v>Dark vessel</c:v>
                  </c:pt>
                  <c:pt idx="1">
                    <c:v>GPS spoofing</c:v>
                  </c:pt>
                  <c:pt idx="2">
                    <c:v>MPA loitering</c:v>
                  </c:pt>
                  <c:pt idx="3">
                    <c:v>MMSI collision</c:v>
                  </c:pt>
                </c:lvl>
              </c:multiLvlStrCache>
            </c:multiLvlStrRef>
          </c:cat>
          <c:val>
            <c:numRef>
              <c:f>Sheet1!$B$2:$B$5</c:f>
              <c:numCache>
                <c:formatCode>General</c:formatCode>
                <c:ptCount val="4"/>
                <c:pt idx="0">
                  <c:v>0.942</c:v>
                </c:pt>
                <c:pt idx="1">
                  <c:v>0.953</c:v>
                </c:pt>
                <c:pt idx="2">
                  <c:v>0.918</c:v>
                </c:pt>
                <c:pt idx="3">
                  <c:v>0.978</c:v>
                </c:pt>
              </c:numCache>
            </c:numRef>
          </c:val>
        </c:ser>
        <c:ser>
          <c:idx val="1"/>
          <c:order val="1"/>
          <c:tx>
            <c:strRef>
              <c:f>Sheet1!$C$1</c:f>
              <c:strCache>
                <c:ptCount val="1"/>
                <c:pt idx="0">
                  <c:v>Recall</c:v>
                </c:pt>
              </c:strCache>
            </c:strRef>
          </c:tx>
          <c:spPr>
            <a:solidFill>
              <a:srgbClr val="2A7F8F"/>
            </a:solidFill>
            <a:effectLst/>
          </c:spPr>
          <c:invertIfNegative val="0"/>
          <c:dLbls>
            <c:numFmt formatCode="#,##0" sourceLinked="0"/>
            <c:txPr>
              <a:bodyPr/>
              <a:lstStyle/>
              <a:p>
                <a:pPr>
                  <a:defRPr b="0" i="0" strike="noStrike" sz="1000" u="none">
                    <a:solidFill>
                      <a:srgbClr val="1A2230"/>
                    </a:solidFill>
                    <a:latin typeface="+mn-lt"/>
                  </a:defRPr>
                </a:pPr>
              </a:p>
            </c:txPr>
            <c:showLegendKey val="0"/>
            <c:showVal val="0"/>
            <c:showCatName val="0"/>
            <c:showSerName val="0"/>
            <c:showPercent val="0"/>
            <c:showBubbleSize val="0"/>
            <c:showLeaderLines val="0"/>
          </c:dLbls>
          <c:cat>
            <c:multiLvlStrRef>
              <c:f>Sheet1!$A$2:$A$5</c:f>
              <c:multiLvlStrCache>
                <c:ptCount val="4"/>
                <c:lvl>
                  <c:pt idx="0">
                    <c:v>Dark vessel</c:v>
                  </c:pt>
                  <c:pt idx="1">
                    <c:v>GPS spoofing</c:v>
                  </c:pt>
                  <c:pt idx="2">
                    <c:v>MPA loitering</c:v>
                  </c:pt>
                  <c:pt idx="3">
                    <c:v>MMSI collision</c:v>
                  </c:pt>
                </c:lvl>
              </c:multiLvlStrCache>
            </c:multiLvlStrRef>
          </c:cat>
          <c:val>
            <c:numRef>
              <c:f>Sheet1!$C$2:$C$5</c:f>
              <c:numCache>
                <c:formatCode>General</c:formatCode>
                <c:ptCount val="4"/>
                <c:pt idx="0">
                  <c:v>0.95</c:v>
                </c:pt>
                <c:pt idx="1">
                  <c:v>0.953</c:v>
                </c:pt>
                <c:pt idx="2">
                  <c:v>0.933</c:v>
                </c:pt>
                <c:pt idx="3">
                  <c:v>0.978</c:v>
                </c:pt>
              </c:numCache>
            </c:numRef>
          </c:val>
        </c:ser>
        <c:ser>
          <c:idx val="2"/>
          <c:order val="2"/>
          <c:tx>
            <c:strRef>
              <c:f>Sheet1!$D$1</c:f>
              <c:strCache>
                <c:ptCount val="1"/>
                <c:pt idx="0">
                  <c:v>F1</c:v>
                </c:pt>
              </c:strCache>
            </c:strRef>
          </c:tx>
          <c:spPr>
            <a:solidFill>
              <a:srgbClr val="1B4F72"/>
            </a:solidFill>
            <a:effectLst/>
          </c:spPr>
          <c:invertIfNegative val="0"/>
          <c:dLbls>
            <c:numFmt formatCode="#,##0" sourceLinked="0"/>
            <c:txPr>
              <a:bodyPr/>
              <a:lstStyle/>
              <a:p>
                <a:pPr>
                  <a:defRPr b="0" i="0" strike="noStrike" sz="1000" u="none">
                    <a:solidFill>
                      <a:srgbClr val="1A2230"/>
                    </a:solidFill>
                    <a:latin typeface="+mn-lt"/>
                  </a:defRPr>
                </a:pPr>
              </a:p>
            </c:txPr>
            <c:showLegendKey val="0"/>
            <c:showVal val="0"/>
            <c:showCatName val="0"/>
            <c:showSerName val="0"/>
            <c:showPercent val="0"/>
            <c:showBubbleSize val="0"/>
            <c:showLeaderLines val="0"/>
          </c:dLbls>
          <c:cat>
            <c:multiLvlStrRef>
              <c:f>Sheet1!$A$2:$A$5</c:f>
              <c:multiLvlStrCache>
                <c:ptCount val="4"/>
                <c:lvl>
                  <c:pt idx="0">
                    <c:v>Dark vessel</c:v>
                  </c:pt>
                  <c:pt idx="1">
                    <c:v>GPS spoofing</c:v>
                  </c:pt>
                  <c:pt idx="2">
                    <c:v>MPA loitering</c:v>
                  </c:pt>
                  <c:pt idx="3">
                    <c:v>MMSI collision</c:v>
                  </c:pt>
                </c:lvl>
              </c:multiLvlStrCache>
            </c:multiLvlStrRef>
          </c:cat>
          <c:val>
            <c:numRef>
              <c:f>Sheet1!$D$2:$D$5</c:f>
              <c:numCache>
                <c:formatCode>General</c:formatCode>
                <c:ptCount val="4"/>
                <c:pt idx="0">
                  <c:v>0.946</c:v>
                </c:pt>
                <c:pt idx="1">
                  <c:v>0.953</c:v>
                </c:pt>
                <c:pt idx="2">
                  <c:v>0.925</c:v>
                </c:pt>
                <c:pt idx="3">
                  <c:v>0.978</c:v>
                </c:pt>
              </c:numCache>
            </c:numRef>
          </c:val>
        </c:ser>
        <c:dLbls>
          <c:numFmt formatCode="#,##0" sourceLinked="0"/>
          <c:txPr>
            <a:bodyPr/>
            <a:lstStyle/>
            <a:p>
              <a:pPr>
                <a:defRPr b="0" i="0" strike="noStrike" sz="1000" u="none">
                  <a:solidFill>
                    <a:srgbClr val="1A2230"/>
                  </a:solidFill>
                  <a:latin typeface="+mn-lt"/>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B"/>
                </a:solidFill>
                <a:latin typeface="+mn-lt"/>
              </a:defRPr>
            </a:pPr>
            <a:endParaRPr lang="en-US"/>
          </a:p>
        </c:txPr>
        <c:crossAx val="2094734552"/>
        <c:crosses val="autoZero"/>
        <c:auto val="1"/>
        <c:lblAlgn val="ctr"/>
        <c:noMultiLvlLbl val="1"/>
      </c:catAx>
      <c:valAx>
        <c:axId val="2094734552"/>
        <c:scaling>
          <c:orientation val="minMax"/>
          <c:max val="1"/>
          <c:min val="0.85"/>
        </c:scaling>
        <c:delete val="0"/>
        <c:axPos val="l"/>
        <c:majorGridlines>
          <c:spPr>
            <a:ln w="6350" cap="flat">
              <a:solidFill>
                <a:srgbClr val="DDE3EA"/>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4"/>
        <c:crosses val="autoZero"/>
        <c:crossBetween val="between"/>
        <c:majorUnit val="0.05"/>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438"/>
                </a:solidFill>
                <a:latin typeface="+mn-lt"/>
              </a:defRPr>
            </a:pPr>
            <a:r>
              <a:rPr sz="1300" b="0" i="0" u="none" strike="noStrike">
                <a:solidFill>
                  <a:srgbClr val="0F2438"/>
                </a:solidFill>
                <a:latin typeface="+mn-lt"/>
              </a:rPr>
              <a:t>Dark-vessel alerts: baseline vs coverage prior</a:t>
            </a:r>
          </a:p>
        </c:rich>
      </c:tx>
      <c:layout/>
      <c:overlay val="0"/>
    </c:title>
    <c:autoTitleDeleted val="0"/>
    <c:plotArea>
      <c:layout/>
      <c:barChart>
        <c:barDir val="col"/>
        <c:grouping val="clustered"/>
        <c:varyColors val="0"/>
        <c:ser>
          <c:idx val="0"/>
          <c:order val="0"/>
          <c:tx>
            <c:strRef>
              <c:f>Sheet1!$B$1</c:f>
              <c:strCache>
                <c:ptCount val="1"/>
                <c:pt idx="0">
                  <c:v>Naive 3-h threshold</c:v>
                </c:pt>
              </c:strCache>
            </c:strRef>
          </c:tx>
          <c:spPr>
            <a:solidFill>
              <a:srgbClr val="8FA8BF"/>
            </a:solidFill>
            <a:effectLst/>
          </c:spPr>
          <c:invertIfNegative val="0"/>
          <c:dLbls>
            <c:numFmt formatCode="#,##0" sourceLinked="0"/>
            <c:txPr>
              <a:bodyPr/>
              <a:lstStyle/>
              <a:p>
                <a:pPr>
                  <a:defRPr b="0" i="0" strike="noStrike" sz="1000" u="none">
                    <a:solidFill>
                      <a:srgbClr val="1A2230"/>
                    </a:solidFill>
                    <a:latin typeface="+mn-lt"/>
                  </a:defRPr>
                </a:pPr>
              </a:p>
            </c:txPr>
            <c:showLegendKey val="0"/>
            <c:showVal val="1"/>
            <c:showCatName val="0"/>
            <c:showSerName val="0"/>
            <c:showPercent val="0"/>
            <c:showBubbleSize val="0"/>
            <c:showLeaderLines val="0"/>
          </c:dLbls>
          <c:cat>
            <c:multiLvlStrRef>
              <c:f>Sheet1!$A$2:$A$4</c:f>
              <c:multiLvlStrCache>
                <c:ptCount val="3"/>
                <c:lvl>
                  <c:pt idx="0">
                    <c:v>Total alerts</c:v>
                  </c:pt>
                  <c:pt idx="1">
                    <c:v>True dark alerts</c:v>
                  </c:pt>
                  <c:pt idx="2">
                    <c:v>False alarms</c:v>
                  </c:pt>
                </c:lvl>
              </c:multiLvlStrCache>
            </c:multiLvlStrRef>
          </c:cat>
          <c:val>
            <c:numRef>
              <c:f>Sheet1!$B$2:$B$4</c:f>
              <c:numCache>
                <c:formatCode>General</c:formatCode>
                <c:ptCount val="3"/>
                <c:pt idx="0">
                  <c:v>289</c:v>
                </c:pt>
                <c:pt idx="1">
                  <c:v>119</c:v>
                </c:pt>
                <c:pt idx="2">
                  <c:v>170</c:v>
                </c:pt>
              </c:numCache>
            </c:numRef>
          </c:val>
        </c:ser>
        <c:ser>
          <c:idx val="1"/>
          <c:order val="1"/>
          <c:tx>
            <c:strRef>
              <c:f>Sheet1!$C$1</c:f>
              <c:strCache>
                <c:ptCount val="1"/>
                <c:pt idx="0">
                  <c:v>With H3 coverage prior</c:v>
                </c:pt>
              </c:strCache>
            </c:strRef>
          </c:tx>
          <c:spPr>
            <a:solidFill>
              <a:srgbClr val="1B4F72"/>
            </a:solidFill>
            <a:effectLst/>
          </c:spPr>
          <c:invertIfNegative val="0"/>
          <c:dLbls>
            <c:numFmt formatCode="#,##0" sourceLinked="0"/>
            <c:txPr>
              <a:bodyPr/>
              <a:lstStyle/>
              <a:p>
                <a:pPr>
                  <a:defRPr b="0" i="0" strike="noStrike" sz="1000" u="none">
                    <a:solidFill>
                      <a:srgbClr val="1A2230"/>
                    </a:solidFill>
                    <a:latin typeface="+mn-lt"/>
                  </a:defRPr>
                </a:pPr>
              </a:p>
            </c:txPr>
            <c:showLegendKey val="0"/>
            <c:showVal val="1"/>
            <c:showCatName val="0"/>
            <c:showSerName val="0"/>
            <c:showPercent val="0"/>
            <c:showBubbleSize val="0"/>
            <c:showLeaderLines val="0"/>
          </c:dLbls>
          <c:cat>
            <c:multiLvlStrRef>
              <c:f>Sheet1!$A$2:$A$4</c:f>
              <c:multiLvlStrCache>
                <c:ptCount val="3"/>
                <c:lvl>
                  <c:pt idx="0">
                    <c:v>Total alerts</c:v>
                  </c:pt>
                  <c:pt idx="1">
                    <c:v>True dark alerts</c:v>
                  </c:pt>
                  <c:pt idx="2">
                    <c:v>False alarms</c:v>
                  </c:pt>
                </c:lvl>
              </c:multiLvlStrCache>
            </c:multiLvlStrRef>
          </c:cat>
          <c:val>
            <c:numRef>
              <c:f>Sheet1!$C$2:$C$4</c:f>
              <c:numCache>
                <c:formatCode>General</c:formatCode>
                <c:ptCount val="3"/>
                <c:pt idx="0">
                  <c:v>126</c:v>
                </c:pt>
                <c:pt idx="1">
                  <c:v>114</c:v>
                </c:pt>
                <c:pt idx="2">
                  <c:v>12</c:v>
                </c:pt>
              </c:numCache>
            </c:numRef>
          </c:val>
        </c:ser>
        <c:dLbls>
          <c:numFmt formatCode="#,##0" sourceLinked="0"/>
          <c:txPr>
            <a:bodyPr/>
            <a:lstStyle/>
            <a:p>
              <a:pPr>
                <a:defRPr b="0" i="0" strike="noStrike" sz="1000" u="none">
                  <a:solidFill>
                    <a:srgbClr val="1A2230"/>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B"/>
                </a:solidFill>
                <a:latin typeface="+mn-lt"/>
              </a:defRPr>
            </a:pPr>
            <a:endParaRPr lang="en-US"/>
          </a:p>
        </c:txPr>
        <c:crossAx val="2094734552"/>
        <c:crosses val="autoZero"/>
        <c:auto val="1"/>
        <c:lblAlgn val="ctr"/>
        <c:noMultiLvlLbl val="1"/>
      </c:catAx>
      <c:valAx>
        <c:axId val="2094734552"/>
        <c:scaling>
          <c:orientation val="minMax"/>
          <c:max val="320"/>
        </c:scaling>
        <c:delete val="0"/>
        <c:axPos val="l"/>
        <c:majorGridlines>
          <c:spPr>
            <a:ln w="6350" cap="flat">
              <a:solidFill>
                <a:srgbClr val="DDE3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4"/>
        <c:crosses val="autoZero"/>
        <c:crossBetween val="between"/>
        <c:majorUnit val="80"/>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438"/>
                </a:solidFill>
                <a:latin typeface="+mn-lt"/>
              </a:defRPr>
            </a:pPr>
            <a:r>
              <a:rPr sz="1300" b="0" i="0" u="none" strike="noStrike">
                <a:solidFill>
                  <a:srgbClr val="0F2438"/>
                </a:solidFill>
                <a:latin typeface="+mn-lt"/>
              </a:rPr>
              <a:t>Sentinels &amp; rejects in NOAA raw samples</a:t>
            </a:r>
          </a:p>
        </c:rich>
      </c:tx>
      <c:layout/>
      <c:overlay val="0"/>
    </c:title>
    <c:autoTitleDeleted val="0"/>
    <c:plotArea>
      <c:layout/>
      <c:barChart>
        <c:barDir val="bar"/>
        <c:grouping val="clustered"/>
        <c:varyColors val="0"/>
        <c:ser>
          <c:idx val="0"/>
          <c:order val="0"/>
          <c:tx>
            <c:strRef>
              <c:f>Sheet1!$B$1</c:f>
              <c:strCache>
                <c:ptCount val="1"/>
                <c:pt idx="0">
                  <c:v>% of raw records</c:v>
                </c:pt>
              </c:strCache>
            </c:strRef>
          </c:tx>
          <c:spPr>
            <a:solidFill>
              <a:srgbClr val="2A7F8F"/>
            </a:solidFill>
            <a:effectLst/>
          </c:spPr>
          <c:invertIfNegative val="0"/>
          <c:dLbls>
            <c:numFmt formatCode="0.00&quot;%&quot;" sourceLinked="0"/>
            <c:txPr>
              <a:bodyPr/>
              <a:lstStyle/>
              <a:p>
                <a:pPr>
                  <a:defRPr b="0" i="0" strike="noStrike" sz="1000" u="none">
                    <a:solidFill>
                      <a:srgbClr val="1A2230"/>
                    </a:solidFill>
                    <a:latin typeface="+mn-lt"/>
                  </a:defRPr>
                </a:pPr>
              </a:p>
            </c:txPr>
            <c:showLegendKey val="0"/>
            <c:showVal val="1"/>
            <c:showCatName val="0"/>
            <c:showSerName val="0"/>
            <c:showPercent val="0"/>
            <c:showBubbleSize val="0"/>
            <c:showLeaderLines val="0"/>
          </c:dLbls>
          <c:cat>
            <c:multiLvlStrRef>
              <c:f>Sheet1!$A$2:$A$5</c:f>
              <c:multiLvlStrCache>
                <c:ptCount val="4"/>
                <c:lvl>
                  <c:pt idx="0">
                    <c:v>COG = 360 (normalised)</c:v>
                  </c:pt>
                  <c:pt idx="1">
                    <c:v>SOG = 102.3 (normalised)</c:v>
                  </c:pt>
                  <c:pt idx="2">
                    <c:v>Malformed MMSI (rejected)</c:v>
                  </c:pt>
                  <c:pt idx="3">
                    <c:v>LAT 91 / LON 181 (rejected)</c:v>
                  </c:pt>
                </c:lvl>
              </c:multiLvlStrCache>
            </c:multiLvlStrRef>
          </c:cat>
          <c:val>
            <c:numRef>
              <c:f>Sheet1!$B$2:$B$5</c:f>
              <c:numCache>
                <c:formatCode>General</c:formatCode>
                <c:ptCount val="4"/>
                <c:pt idx="0">
                  <c:v>3.2</c:v>
                </c:pt>
                <c:pt idx="1">
                  <c:v>1.8</c:v>
                </c:pt>
                <c:pt idx="2">
                  <c:v>0.12</c:v>
                </c:pt>
                <c:pt idx="3">
                  <c:v>0.04</c:v>
                </c:pt>
              </c:numCache>
            </c:numRef>
          </c:val>
        </c:ser>
        <c:dLbls>
          <c:numFmt formatCode="0.00&quot;%&quot;" sourceLinked="0"/>
          <c:txPr>
            <a:bodyPr/>
            <a:lstStyle/>
            <a:p>
              <a:pPr>
                <a:defRPr b="0" i="0" strike="noStrike" sz="1000" u="none">
                  <a:solidFill>
                    <a:srgbClr val="1A22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B6B7B"/>
                </a:solidFill>
                <a:latin typeface="+mn-lt"/>
              </a:defRPr>
            </a:pPr>
            <a:endParaRPr lang="en-US"/>
          </a:p>
        </c:txPr>
        <c:crossAx val="2094734552"/>
        <c:crosses val="autoZero"/>
        <c:auto val="1"/>
        <c:lblAlgn val="ctr"/>
        <c:noMultiLvlLbl val="1"/>
      </c:catAx>
      <c:valAx>
        <c:axId val="2094734552"/>
        <c:scaling>
          <c:orientation val="minMax"/>
          <c:max val="4"/>
        </c:scaling>
        <c:delete val="0"/>
        <c:axPos val="b"/>
        <c:majorGridlines>
          <c:spPr>
            <a:ln w="6350" cap="flat">
              <a:solidFill>
                <a:srgbClr val="DDE3EA"/>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project: a real-time big data pipeline that detects 'dark vessels' — ships that switch off or falsify their AIS transponders — while avoiding false alarms caused by poor receiver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roadmap of the presentation: we start with the problem, then the tools and architecture, then features, results and analysis, and finish with a demo walkthrough and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AIS, the Automatic Identification System, is how ships tell the world who and where they are. Commercial vessels must broadcast it under SOLAS Chapter V. A dark vessel is one that switches it off or falsifies it while still at sea — typically to hide illegal fishing, sanctions evasion, smuggling or incursions into protected waters.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obvious approach is: flag any vessel that has been silent for more than, say, three hours. This fails because terrestrial receivers only see 50 to 100 nautical miles offshore. Every legitimate ship sailing into open ocean goes quiet and gets flagged. In our baseline, more than 58 percent of alerts were false alarms. A second difficulty is that the event we must detect is the absence of data, so a normal message-driven stream processor never fires.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core idea. Two vessels both go silent for three hours. Near the coast, the normal 99th-percentile gap is about 15 minutes, so three hours is twelve times the norm — a real alert. Far offshore, a normal gap is already around four hours, so the same silence scores 0.75 and is suppressed. We learn these p99 gaps per H3 hexagon cell and transceiver class from historical data using Spark.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goals from our requirements document. The most important is G1 together with G4: beating a flat-threshold baseline on labelled data and proving it with an honest ablation.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primary data is NOAA Marine Cadastre AIS — public-domain US coastal data, around one ping per minute per vessel. We replay it into Kafka, and we can also stream live data from aisstream.io for the California corridor. Geofences come from Marine Regions EEZs, the NOAA MPA inventory and the World Port Index. Every record passes one shared validation contract; bad records go to a dead-letter queue.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course requires at least three genuinely integrated big data tools. Ours are Apache Kafka for the real-time stream, Apache Spark Core and SQL for distributed batch ETL, and Spark MLlib for distributed machine learning. Around them: PostgreSQL with PostGIS for spatial storage, Uber H3 for spatial gridding, Parquet, a Python streaming engine, and a Next.js plus Deck.gl dashboard, all orchestrated with Docker Compose.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tool solves a problem that a single traditional tool struggles with. Kafka gives replayable, per-vessel ordered streams that RabbitMQ cannot. Spark computes windowed lag and approximate percentiles over hundreds of millions of rows that do not fit in memory. MLlib distributes feature scaling and clustering beyond what scikit-learn can do on one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follows a lambda-style design. The top row is the batch layer: historical AIS is cleaned into Parquet and Spark computes the coverage prior and trains the MLlib trajectory model; both are stored in PostGIS. The bottom row is the speed layer: positions are validated, pushed into Kafka keyed by MMSI, consumed by a stateful processor and written to PostGIS. A detection engine — the absence sweeper, the physics rules and the ML scorer — writes alerts, and the Next.js console renders everything on a GPU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Following one AIS ping through the system: it is validated, published to Kafka keyed by its MMSI, consumed by the stateful processor, written to PostGIS in a single transaction, checked by the detection engine, and finally shown on the dashboard. Kafka offsets are committed only after the database transaction succeeds, so nothing is lost on a crash.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PostGIS stores everything, split by access pattern. The hot table holds one row per vessel so the dashboard and sweeper read a small table quickly. The cold table holds the full position history, range-partitioned by month, with a compact BRIN index on time and a GIST spatial index. Reference tables hold geofences, the coverage prior and the ground-truth labels for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detect six classes of anomaly. Dark vessels come from the absence sweeper, which runs every 60 seconds over hot state rather than waiting for messages that never arrive. Spoofing uses a jump-and-return pattern over three pings, which avoids flagging a single bad GPS fix. Collisions catch two ships sharing one MMSI. Loitering, ship-to-ship rendezvous and an ML trajectory outlier complete the set. Every alert carries its evidence, and alerts are deduplicated to one per vessel per type per six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subtle anomalies like zig-zagging or erratic speed, we cut each vessel's track into one-hour windows and compute ten features, including circular standard deviation of course and path tortuosity. Spark MLlib assembles and scales these and fits KMeans with five clusters. A window whose distance to its nearest centroid exceeds the 99th percentile becomes an ML anomaly alert, together with its top contributing features. There is no ground-truth label in real maritime data, which is why we chose unsupervised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the analyst sees. A GPU-rendered live map of thousands of vessels, an alert feed ranked by score instead of time, a vessel inspector with its track and voyage timeline, an analytics dashboard, a one-click anomaly injector for demos, and live pipeline telemetry.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sequence shown in the demo video. Start the infrastructure and topics, build the batch artefacts with Spark, start streaming either replayed or live data, run the consumer, sweeper and scorer, open the console, inject anomalies and watch them appear, and finally run the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evaluated against 310 labelled anomalies injected into real NOAA data along the California coast. Overall the system reaches 0.946 precision, 0.952 recall and an F1-score of 0.949. Most importantly, the coverage prior cuts false alarms by almost 93 percent compared with the flat-threshold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Breaking results down by class: MMSI collisions are easiest at 0.978 F1 because the signal is unambiguous. Spoofing scores 0.953 thanks to the jump-and-return check. Dark vessels reach 0.946, and loitering is lowest at 0.925, mostly from vessels legitimately idling near the edges of protected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result. With a naive three-hour threshold, the system raised 289 dark-vessel alerts but 170 of them were just ships leaving receiver range — precision 0.41. With the H3 coverage prior, alerts drop to 126 and false alarms to 12 — precision 0.905. We gave up only 5 true detections, from 119 to 114, to remove 158 false alarms. That is the methodological contribution of this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AIS is messy. About 3.2 percent of records carry the 'not available' course value of 360 and 1.8 percent the speed sentinel 102.3. If we did not normalise these, the speed sentinel alone would trigger false spoofing alerts. Only about 0.16 percent of records are rejected outright to the dead-letter queue. On the right, every primary success target from our requirements document was met.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numbers about the build itself: nine Docker Compose services, a six-partition Kafka topic, 41 automated tests across 11 test modules run in GitHub Actions CI, about 5,300 lines of Python and 9,900 lines of TypeScript.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engineering challenges and our answers. Coverage bias was solved with the H3 prior. Detecting silence was solved with a periodic sweeper. Alert spam with a de-duplication index. Corrupt sentinel values with a shared validator and dead-letter queue. Ordering and crash safety with MMSI keys, idempotent inserts and committing offsets after the database write. Rendering scale with Deck.gl, and memory limits with separate batch and stream Compose profiles.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honest about scope. The NOAA data is downsampled to about one minute, so sub-minute gaps are invisible. AIS is cooperative, so a ship that is dark from the moment it leaves port leaves no trace. Our labels are synthetic. The natural next step is fusing Sentinel-1 satellite radar: a radar contact with no matching AIS track is independent proof of a dark vessel.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key insight is that an AIS gap is not the same as a dark vessel. By building the physics of radio coverage into our data model, three integrated big data tools turn a noisy alert feed into one an analyst can trust, with an F1 of 0.949 and 93 percent fewer false alarms.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nvSpPr>
        <p:spPr>
          <a:xfrm>
            <a:off x="457200" y="4791456"/>
            <a:ext cx="5486400" cy="228600"/>
          </a:xfrm>
          <a:prstGeom prst="rect">
            <a:avLst/>
          </a:prstGeom>
          <a:noFill/>
          <a:ln/>
        </p:spPr>
        <p:txBody>
          <a:bodyPr wrap="square" lIns="0" tIns="0" rIns="0" bIns="0" rtlCol="0" anchor="ctr"/>
          <a:lstStyle/>
          <a:p>
            <a:pPr indent="0" marL="0">
              <a:buNone/>
            </a:pPr>
            <a:r>
              <a:rPr lang="en-US" sz="900" dirty="0">
                <a:solidFill>
                  <a:schemeClr val="accent5"/>
                </a:solidFill>
              </a:rPr>
              <a:t>Real-Time Dark Vessel Detection  ·  CSE412 Big Data</a:t>
            </a:r>
            <a:endParaRPr lang="en-US" sz="900" dirty="0"/>
          </a:p>
        </p:txBody>
      </p:sp>
      <p:sp>
        <p:nvSpPr>
          <p:cNvPr id="25" name="Slide Number Placeholder 0"/>
          <p:cNvSpPr>
            <a:spLocks noGrp="1"/>
          </p:cNvSpPr>
          <p:nvPr>
            <p:ph type="sldNum" sz="quarter" idx="4294967295"/>
          </p:nvPr>
        </p:nvSpPr>
        <p:spPr>
          <a:xfrm>
            <a:off x="8229600" y="479145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9145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slideLayout" Target="../slideLayouts/slideLayout3.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2.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github.com/AnoushkaSamanta/big-data-project" TargetMode="External"/><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ring-1"/>
          <p:cNvSpPr/>
          <p:nvPr/>
        </p:nvSpPr>
        <p:spPr>
          <a:xfrm>
            <a:off x="6812280" y="1600200"/>
            <a:ext cx="1005840" cy="1005840"/>
          </a:xfrm>
          <a:prstGeom prst="ellipse">
            <a:avLst/>
          </a:prstGeom>
          <a:solidFill>
            <a:schemeClr val="tx2">
              <a:alpha val="0"/>
            </a:schemeClr>
          </a:solidFill>
          <a:ln w="9525">
            <a:solidFill>
              <a:schemeClr val="accent4">
                <a:alpha val="45000"/>
              </a:schemeClr>
            </a:solidFill>
            <a:prstDash val="solid"/>
          </a:ln>
        </p:spPr>
      </p:sp>
      <p:sp>
        <p:nvSpPr>
          <p:cNvPr id="3" name="ring-2"/>
          <p:cNvSpPr/>
          <p:nvPr/>
        </p:nvSpPr>
        <p:spPr>
          <a:xfrm>
            <a:off x="6355080" y="1143000"/>
            <a:ext cx="1920240" cy="1920240"/>
          </a:xfrm>
          <a:prstGeom prst="ellipse">
            <a:avLst/>
          </a:prstGeom>
          <a:solidFill>
            <a:schemeClr val="tx2">
              <a:alpha val="0"/>
            </a:schemeClr>
          </a:solidFill>
          <a:ln w="9525">
            <a:solidFill>
              <a:schemeClr val="accent4">
                <a:alpha val="45000"/>
              </a:schemeClr>
            </a:solidFill>
            <a:prstDash val="solid"/>
          </a:ln>
        </p:spPr>
      </p:sp>
      <p:sp>
        <p:nvSpPr>
          <p:cNvPr id="4" name="ring-3"/>
          <p:cNvSpPr/>
          <p:nvPr/>
        </p:nvSpPr>
        <p:spPr>
          <a:xfrm>
            <a:off x="5897880" y="685800"/>
            <a:ext cx="2834640" cy="2834640"/>
          </a:xfrm>
          <a:prstGeom prst="ellipse">
            <a:avLst/>
          </a:prstGeom>
          <a:solidFill>
            <a:schemeClr val="tx2">
              <a:alpha val="0"/>
            </a:schemeClr>
          </a:solidFill>
          <a:ln w="9525">
            <a:solidFill>
              <a:schemeClr val="accent4">
                <a:alpha val="45000"/>
              </a:schemeClr>
            </a:solidFill>
            <a:prstDash val="solid"/>
          </a:ln>
        </p:spPr>
      </p:sp>
      <p:sp>
        <p:nvSpPr>
          <p:cNvPr id="5" name="axis-4"/>
          <p:cNvSpPr/>
          <p:nvPr/>
        </p:nvSpPr>
        <p:spPr>
          <a:xfrm>
            <a:off x="5897880" y="2103120"/>
            <a:ext cx="2834640" cy="0"/>
          </a:xfrm>
          <a:prstGeom prst="line">
            <a:avLst/>
          </a:prstGeom>
          <a:noFill/>
          <a:ln w="6350">
            <a:solidFill>
              <a:schemeClr val="accent4">
                <a:alpha val="30000"/>
              </a:schemeClr>
            </a:solidFill>
            <a:prstDash val="solid"/>
          </a:ln>
        </p:spPr>
      </p:sp>
      <p:sp>
        <p:nvSpPr>
          <p:cNvPr id="6" name="axis-5"/>
          <p:cNvSpPr/>
          <p:nvPr/>
        </p:nvSpPr>
        <p:spPr>
          <a:xfrm>
            <a:off x="7315200" y="685800"/>
            <a:ext cx="0" cy="2834640"/>
          </a:xfrm>
          <a:prstGeom prst="line">
            <a:avLst/>
          </a:prstGeom>
          <a:noFill/>
          <a:ln w="6350">
            <a:solidFill>
              <a:schemeClr val="accent4">
                <a:alpha val="30000"/>
              </a:schemeClr>
            </a:solidFill>
            <a:prstDash val="solid"/>
          </a:ln>
        </p:spPr>
      </p:sp>
      <p:sp>
        <p:nvSpPr>
          <p:cNvPr id="7" name="dot-6"/>
          <p:cNvSpPr/>
          <p:nvPr/>
        </p:nvSpPr>
        <p:spPr>
          <a:xfrm>
            <a:off x="6858000" y="1554480"/>
            <a:ext cx="91440" cy="91440"/>
          </a:xfrm>
          <a:prstGeom prst="ellipse">
            <a:avLst/>
          </a:prstGeom>
          <a:solidFill>
            <a:schemeClr val="accent4"/>
          </a:solidFill>
          <a:ln w="12700">
            <a:solidFill>
              <a:schemeClr val="accent4"/>
            </a:solidFill>
            <a:prstDash val="solid"/>
          </a:ln>
        </p:spPr>
      </p:sp>
      <p:sp>
        <p:nvSpPr>
          <p:cNvPr id="8" name="dot-7"/>
          <p:cNvSpPr/>
          <p:nvPr/>
        </p:nvSpPr>
        <p:spPr>
          <a:xfrm>
            <a:off x="7863840" y="1783080"/>
            <a:ext cx="91440" cy="91440"/>
          </a:xfrm>
          <a:prstGeom prst="ellipse">
            <a:avLst/>
          </a:prstGeom>
          <a:solidFill>
            <a:schemeClr val="accent4"/>
          </a:solidFill>
          <a:ln w="12700">
            <a:solidFill>
              <a:schemeClr val="accent4"/>
            </a:solidFill>
            <a:prstDash val="solid"/>
          </a:ln>
        </p:spPr>
      </p:sp>
      <p:sp>
        <p:nvSpPr>
          <p:cNvPr id="9" name="dot-8"/>
          <p:cNvSpPr/>
          <p:nvPr/>
        </p:nvSpPr>
        <p:spPr>
          <a:xfrm>
            <a:off x="6995160" y="2743200"/>
            <a:ext cx="91440" cy="91440"/>
          </a:xfrm>
          <a:prstGeom prst="ellipse">
            <a:avLst/>
          </a:prstGeom>
          <a:solidFill>
            <a:schemeClr val="accent4"/>
          </a:solidFill>
          <a:ln w="12700">
            <a:solidFill>
              <a:schemeClr val="accent4"/>
            </a:solidFill>
            <a:prstDash val="solid"/>
          </a:ln>
        </p:spPr>
      </p:sp>
      <p:sp>
        <p:nvSpPr>
          <p:cNvPr id="10" name="dot-9"/>
          <p:cNvSpPr/>
          <p:nvPr/>
        </p:nvSpPr>
        <p:spPr>
          <a:xfrm>
            <a:off x="8138160" y="2788920"/>
            <a:ext cx="91440" cy="91440"/>
          </a:xfrm>
          <a:prstGeom prst="ellipse">
            <a:avLst/>
          </a:prstGeom>
          <a:solidFill>
            <a:schemeClr val="accent4"/>
          </a:solidFill>
          <a:ln w="12700">
            <a:solidFill>
              <a:schemeClr val="accent4"/>
            </a:solidFill>
            <a:prstDash val="solid"/>
          </a:ln>
        </p:spPr>
      </p:sp>
      <p:sp>
        <p:nvSpPr>
          <p:cNvPr id="11" name="dot-10"/>
          <p:cNvSpPr/>
          <p:nvPr/>
        </p:nvSpPr>
        <p:spPr>
          <a:xfrm>
            <a:off x="7662672" y="1033272"/>
            <a:ext cx="128016" cy="128016"/>
          </a:xfrm>
          <a:prstGeom prst="ellipse">
            <a:avLst/>
          </a:prstGeom>
          <a:solidFill>
            <a:schemeClr val="accent3"/>
          </a:solidFill>
          <a:ln w="12700">
            <a:solidFill>
              <a:schemeClr val="accent3"/>
            </a:solidFill>
            <a:prstDash val="solid"/>
          </a:ln>
        </p:spPr>
      </p:sp>
      <p:sp>
        <p:nvSpPr>
          <p:cNvPr id="12" name="text-11"/>
          <p:cNvSpPr txBox="1"/>
          <p:nvPr/>
        </p:nvSpPr>
        <p:spPr>
          <a:xfrm>
            <a:off x="548640" y="685800"/>
            <a:ext cx="5486400"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CSE412 · BIG DATA &amp; LARGE-SCALE COMPUTING</a:t>
            </a:r>
            <a:endParaRPr lang="en-US" sz="1200" dirty="0"/>
          </a:p>
        </p:txBody>
      </p:sp>
      <p:sp>
        <p:nvSpPr>
          <p:cNvPr id="13" name="text-12"/>
          <p:cNvSpPr txBox="1"/>
          <p:nvPr/>
        </p:nvSpPr>
        <p:spPr>
          <a:xfrm>
            <a:off x="548640" y="1051560"/>
            <a:ext cx="5486400" cy="1188720"/>
          </a:xfrm>
          <a:prstGeom prst="rect">
            <a:avLst/>
          </a:prstGeom>
          <a:noFill/>
          <a:ln/>
        </p:spPr>
        <p:txBody>
          <a:bodyPr wrap="square" lIns="0" tIns="0" rIns="0" bIns="0" rtlCol="0" anchor="t"/>
          <a:lstStyle/>
          <a:p>
            <a:pPr indent="0" marL="0">
              <a:buNone/>
            </a:pPr>
            <a:r>
              <a:rPr lang="en-US" sz="3600" b="1" dirty="0">
                <a:solidFill>
                  <a:schemeClr val="bg1"/>
                </a:solidFill>
              </a:rPr>
              <a:t>Real-Time Dark Vessel Detection System</a:t>
            </a:r>
            <a:endParaRPr lang="en-US" sz="3600" dirty="0"/>
          </a:p>
        </p:txBody>
      </p:sp>
      <p:sp>
        <p:nvSpPr>
          <p:cNvPr id="14" name="text-13"/>
          <p:cNvSpPr txBox="1"/>
          <p:nvPr/>
        </p:nvSpPr>
        <p:spPr>
          <a:xfrm>
            <a:off x="548640" y="2331720"/>
            <a:ext cx="5120640" cy="731520"/>
          </a:xfrm>
          <a:prstGeom prst="rect">
            <a:avLst/>
          </a:prstGeom>
          <a:noFill/>
          <a:ln/>
        </p:spPr>
        <p:txBody>
          <a:bodyPr wrap="square" lIns="0" tIns="0" rIns="0" bIns="0" rtlCol="0" anchor="t"/>
          <a:lstStyle/>
          <a:p>
            <a:pPr indent="0" marL="0">
              <a:buNone/>
            </a:pPr>
            <a:r>
              <a:rPr lang="en-US" sz="1500" dirty="0">
                <a:solidFill>
                  <a:schemeClr val="accent4"/>
                </a:solidFill>
              </a:rPr>
              <a:t>Separating deliberate AIS blackouts from receiver coverage gaps using Apache Kafka, Apache Spark and Spark MLlib</a:t>
            </a:r>
            <a:endParaRPr lang="en-US" sz="1500" dirty="0"/>
          </a:p>
        </p:txBody>
      </p:sp>
      <p:sp>
        <p:nvSpPr>
          <p:cNvPr id="15" name="text-14"/>
          <p:cNvSpPr txBox="1"/>
          <p:nvPr/>
        </p:nvSpPr>
        <p:spPr>
          <a:xfrm>
            <a:off x="548640" y="3886200"/>
            <a:ext cx="2103120" cy="274320"/>
          </a:xfrm>
          <a:prstGeom prst="rect">
            <a:avLst/>
          </a:prstGeom>
          <a:noFill/>
          <a:ln/>
        </p:spPr>
        <p:txBody>
          <a:bodyPr wrap="square" lIns="0" tIns="0" rIns="0" bIns="0" rtlCol="0" anchor="t"/>
          <a:lstStyle/>
          <a:p>
            <a:pPr indent="0" marL="0">
              <a:buNone/>
            </a:pPr>
            <a:r>
              <a:rPr lang="en-US" sz="1400" b="1" dirty="0">
                <a:solidFill>
                  <a:schemeClr val="bg1"/>
                </a:solidFill>
              </a:rPr>
              <a:t>Mayank Verma</a:t>
            </a:r>
            <a:endParaRPr lang="en-US" sz="1400" dirty="0"/>
          </a:p>
        </p:txBody>
      </p:sp>
      <p:sp>
        <p:nvSpPr>
          <p:cNvPr id="16" name="text-15"/>
          <p:cNvSpPr txBox="1"/>
          <p:nvPr/>
        </p:nvSpPr>
        <p:spPr>
          <a:xfrm>
            <a:off x="548640" y="4160520"/>
            <a:ext cx="2103120" cy="274320"/>
          </a:xfrm>
          <a:prstGeom prst="rect">
            <a:avLst/>
          </a:prstGeom>
          <a:noFill/>
          <a:ln/>
        </p:spPr>
        <p:txBody>
          <a:bodyPr wrap="square" lIns="0" tIns="0" rIns="0" bIns="0" rtlCol="0" anchor="t"/>
          <a:lstStyle/>
          <a:p>
            <a:pPr indent="0" marL="0">
              <a:buNone/>
            </a:pPr>
            <a:r>
              <a:rPr lang="en-US" sz="1200" dirty="0">
                <a:solidFill>
                  <a:schemeClr val="accent4"/>
                </a:solidFill>
              </a:rPr>
              <a:t>2023BCS0204</a:t>
            </a:r>
            <a:endParaRPr lang="en-US" sz="1200" dirty="0"/>
          </a:p>
        </p:txBody>
      </p:sp>
      <p:sp>
        <p:nvSpPr>
          <p:cNvPr id="17" name="text-16"/>
          <p:cNvSpPr txBox="1"/>
          <p:nvPr/>
        </p:nvSpPr>
        <p:spPr>
          <a:xfrm>
            <a:off x="2697480" y="3886200"/>
            <a:ext cx="2103120" cy="274320"/>
          </a:xfrm>
          <a:prstGeom prst="rect">
            <a:avLst/>
          </a:prstGeom>
          <a:noFill/>
          <a:ln/>
        </p:spPr>
        <p:txBody>
          <a:bodyPr wrap="square" lIns="0" tIns="0" rIns="0" bIns="0" rtlCol="0" anchor="t"/>
          <a:lstStyle/>
          <a:p>
            <a:pPr indent="0" marL="0">
              <a:buNone/>
            </a:pPr>
            <a:r>
              <a:rPr lang="en-US" sz="1400" b="1" dirty="0">
                <a:solidFill>
                  <a:schemeClr val="bg1"/>
                </a:solidFill>
              </a:rPr>
              <a:t>Anoushka Samanta</a:t>
            </a:r>
            <a:endParaRPr lang="en-US" sz="1400" dirty="0"/>
          </a:p>
        </p:txBody>
      </p:sp>
      <p:sp>
        <p:nvSpPr>
          <p:cNvPr id="18" name="text-17"/>
          <p:cNvSpPr txBox="1"/>
          <p:nvPr/>
        </p:nvSpPr>
        <p:spPr>
          <a:xfrm>
            <a:off x="2697480" y="4160520"/>
            <a:ext cx="2103120" cy="274320"/>
          </a:xfrm>
          <a:prstGeom prst="rect">
            <a:avLst/>
          </a:prstGeom>
          <a:noFill/>
          <a:ln/>
        </p:spPr>
        <p:txBody>
          <a:bodyPr wrap="square" lIns="0" tIns="0" rIns="0" bIns="0" rtlCol="0" anchor="t"/>
          <a:lstStyle/>
          <a:p>
            <a:pPr indent="0" marL="0">
              <a:buNone/>
            </a:pPr>
            <a:r>
              <a:rPr lang="en-US" sz="1200" dirty="0">
                <a:solidFill>
                  <a:schemeClr val="accent4"/>
                </a:solidFill>
              </a:rPr>
              <a:t>2023BCS0147</a:t>
            </a:r>
            <a:endParaRPr lang="en-US" sz="1200" dirty="0"/>
          </a:p>
        </p:txBody>
      </p:sp>
      <p:sp>
        <p:nvSpPr>
          <p:cNvPr id="19" name="text-18"/>
          <p:cNvSpPr txBox="1"/>
          <p:nvPr/>
        </p:nvSpPr>
        <p:spPr>
          <a:xfrm>
            <a:off x="4846320" y="3886200"/>
            <a:ext cx="2103120" cy="274320"/>
          </a:xfrm>
          <a:prstGeom prst="rect">
            <a:avLst/>
          </a:prstGeom>
          <a:noFill/>
          <a:ln/>
        </p:spPr>
        <p:txBody>
          <a:bodyPr wrap="square" lIns="0" tIns="0" rIns="0" bIns="0" rtlCol="0" anchor="t"/>
          <a:lstStyle/>
          <a:p>
            <a:pPr indent="0" marL="0">
              <a:buNone/>
            </a:pPr>
            <a:r>
              <a:rPr lang="en-US" sz="1400" b="1" dirty="0">
                <a:solidFill>
                  <a:schemeClr val="bg1"/>
                </a:solidFill>
              </a:rPr>
              <a:t>Priyansh Gautam</a:t>
            </a:r>
            <a:endParaRPr lang="en-US" sz="1400" dirty="0"/>
          </a:p>
        </p:txBody>
      </p:sp>
      <p:sp>
        <p:nvSpPr>
          <p:cNvPr id="20" name="text-19"/>
          <p:cNvSpPr txBox="1"/>
          <p:nvPr/>
        </p:nvSpPr>
        <p:spPr>
          <a:xfrm>
            <a:off x="4846320" y="4160520"/>
            <a:ext cx="2103120" cy="274320"/>
          </a:xfrm>
          <a:prstGeom prst="rect">
            <a:avLst/>
          </a:prstGeom>
          <a:noFill/>
          <a:ln/>
        </p:spPr>
        <p:txBody>
          <a:bodyPr wrap="square" lIns="0" tIns="0" rIns="0" bIns="0" rtlCol="0" anchor="t"/>
          <a:lstStyle/>
          <a:p>
            <a:pPr indent="0" marL="0">
              <a:buNone/>
            </a:pPr>
            <a:r>
              <a:rPr lang="en-US" sz="1200" dirty="0">
                <a:solidFill>
                  <a:schemeClr val="accent4"/>
                </a:solidFill>
              </a:rPr>
              <a:t>2023BCS0186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800" b="1" dirty="0">
                <a:solidFill>
                  <a:schemeClr val="tx2"/>
                </a:solidFill>
              </a:rPr>
              <a:t>Agenda</a:t>
            </a:r>
            <a:endParaRPr lang="en-US" sz="2800" dirty="0"/>
          </a:p>
        </p:txBody>
      </p:sp>
      <p:sp>
        <p:nvSpPr>
          <p:cNvPr id="4" name="num-20"/>
          <p:cNvSpPr/>
          <p:nvPr/>
        </p:nvSpPr>
        <p:spPr>
          <a:xfrm>
            <a:off x="640080" y="1097280"/>
            <a:ext cx="402336" cy="402336"/>
          </a:xfrm>
          <a:prstGeom prst="ellipse">
            <a:avLst/>
          </a:prstGeom>
          <a:solidFill>
            <a:schemeClr val="accent1"/>
          </a:solidFill>
          <a:ln w="12700">
            <a:solidFill>
              <a:schemeClr val="accent1"/>
            </a:solidFill>
            <a:prstDash val="solid"/>
          </a:ln>
        </p:spPr>
      </p:sp>
      <p:sp>
        <p:nvSpPr>
          <p:cNvPr id="5" name="text-21"/>
          <p:cNvSpPr txBox="1"/>
          <p:nvPr/>
        </p:nvSpPr>
        <p:spPr>
          <a:xfrm>
            <a:off x="640080" y="1097280"/>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22"/>
          <p:cNvSpPr txBox="1"/>
          <p:nvPr/>
        </p:nvSpPr>
        <p:spPr>
          <a:xfrm>
            <a:off x="1207008" y="1097280"/>
            <a:ext cx="3200400" cy="402336"/>
          </a:xfrm>
          <a:prstGeom prst="rect">
            <a:avLst/>
          </a:prstGeom>
          <a:noFill/>
          <a:ln/>
        </p:spPr>
        <p:txBody>
          <a:bodyPr wrap="square" lIns="0" tIns="0" rIns="0" bIns="0" rtlCol="0" anchor="ctr"/>
          <a:lstStyle/>
          <a:p>
            <a:pPr indent="0" marL="0">
              <a:buNone/>
            </a:pPr>
            <a:r>
              <a:rPr lang="en-US" sz="1700" dirty="0">
                <a:solidFill>
                  <a:schemeClr val="tx1"/>
                </a:solidFill>
              </a:rPr>
              <a:t>Introduction</a:t>
            </a:r>
            <a:endParaRPr lang="en-US" sz="1700" dirty="0"/>
          </a:p>
        </p:txBody>
      </p:sp>
      <p:sp>
        <p:nvSpPr>
          <p:cNvPr id="7" name="num-23"/>
          <p:cNvSpPr/>
          <p:nvPr/>
        </p:nvSpPr>
        <p:spPr>
          <a:xfrm>
            <a:off x="640080" y="1783080"/>
            <a:ext cx="402336" cy="402336"/>
          </a:xfrm>
          <a:prstGeom prst="ellipse">
            <a:avLst/>
          </a:prstGeom>
          <a:solidFill>
            <a:schemeClr val="accent1"/>
          </a:solidFill>
          <a:ln w="12700">
            <a:solidFill>
              <a:schemeClr val="accent1"/>
            </a:solidFill>
            <a:prstDash val="solid"/>
          </a:ln>
        </p:spPr>
      </p:sp>
      <p:sp>
        <p:nvSpPr>
          <p:cNvPr id="8" name="text-24"/>
          <p:cNvSpPr txBox="1"/>
          <p:nvPr/>
        </p:nvSpPr>
        <p:spPr>
          <a:xfrm>
            <a:off x="640080" y="1783080"/>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25"/>
          <p:cNvSpPr txBox="1"/>
          <p:nvPr/>
        </p:nvSpPr>
        <p:spPr>
          <a:xfrm>
            <a:off x="1207008" y="1783080"/>
            <a:ext cx="3200400" cy="402336"/>
          </a:xfrm>
          <a:prstGeom prst="rect">
            <a:avLst/>
          </a:prstGeom>
          <a:noFill/>
          <a:ln/>
        </p:spPr>
        <p:txBody>
          <a:bodyPr wrap="square" lIns="0" tIns="0" rIns="0" bIns="0" rtlCol="0" anchor="ctr"/>
          <a:lstStyle/>
          <a:p>
            <a:pPr indent="0" marL="0">
              <a:buNone/>
            </a:pPr>
            <a:r>
              <a:rPr lang="en-US" sz="1700" dirty="0">
                <a:solidFill>
                  <a:schemeClr val="tx1"/>
                </a:solidFill>
              </a:rPr>
              <a:t>Problem statement</a:t>
            </a:r>
            <a:endParaRPr lang="en-US" sz="1700" dirty="0"/>
          </a:p>
        </p:txBody>
      </p:sp>
      <p:sp>
        <p:nvSpPr>
          <p:cNvPr id="10" name="num-26"/>
          <p:cNvSpPr/>
          <p:nvPr/>
        </p:nvSpPr>
        <p:spPr>
          <a:xfrm>
            <a:off x="640080" y="2468880"/>
            <a:ext cx="402336" cy="402336"/>
          </a:xfrm>
          <a:prstGeom prst="ellipse">
            <a:avLst/>
          </a:prstGeom>
          <a:solidFill>
            <a:schemeClr val="accent1"/>
          </a:solidFill>
          <a:ln w="12700">
            <a:solidFill>
              <a:schemeClr val="accent1"/>
            </a:solidFill>
            <a:prstDash val="solid"/>
          </a:ln>
        </p:spPr>
      </p:sp>
      <p:sp>
        <p:nvSpPr>
          <p:cNvPr id="11" name="text-27"/>
          <p:cNvSpPr txBox="1"/>
          <p:nvPr/>
        </p:nvSpPr>
        <p:spPr>
          <a:xfrm>
            <a:off x="640080" y="2468880"/>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text-28"/>
          <p:cNvSpPr txBox="1"/>
          <p:nvPr/>
        </p:nvSpPr>
        <p:spPr>
          <a:xfrm>
            <a:off x="1207008" y="2468880"/>
            <a:ext cx="3200400" cy="402336"/>
          </a:xfrm>
          <a:prstGeom prst="rect">
            <a:avLst/>
          </a:prstGeom>
          <a:noFill/>
          <a:ln/>
        </p:spPr>
        <p:txBody>
          <a:bodyPr wrap="square" lIns="0" tIns="0" rIns="0" bIns="0" rtlCol="0" anchor="ctr"/>
          <a:lstStyle/>
          <a:p>
            <a:pPr indent="0" marL="0">
              <a:buNone/>
            </a:pPr>
            <a:r>
              <a:rPr lang="en-US" sz="1700" dirty="0">
                <a:solidFill>
                  <a:schemeClr val="tx1"/>
                </a:solidFill>
              </a:rPr>
              <a:t>Objectives &amp; dataset</a:t>
            </a:r>
            <a:endParaRPr lang="en-US" sz="1700" dirty="0"/>
          </a:p>
        </p:txBody>
      </p:sp>
      <p:sp>
        <p:nvSpPr>
          <p:cNvPr id="13" name="num-29"/>
          <p:cNvSpPr/>
          <p:nvPr/>
        </p:nvSpPr>
        <p:spPr>
          <a:xfrm>
            <a:off x="640080" y="3154680"/>
            <a:ext cx="402336" cy="402336"/>
          </a:xfrm>
          <a:prstGeom prst="ellipse">
            <a:avLst/>
          </a:prstGeom>
          <a:solidFill>
            <a:schemeClr val="accent1"/>
          </a:solidFill>
          <a:ln w="12700">
            <a:solidFill>
              <a:schemeClr val="accent1"/>
            </a:solidFill>
            <a:prstDash val="solid"/>
          </a:ln>
        </p:spPr>
      </p:sp>
      <p:sp>
        <p:nvSpPr>
          <p:cNvPr id="14" name="text-30"/>
          <p:cNvSpPr txBox="1"/>
          <p:nvPr/>
        </p:nvSpPr>
        <p:spPr>
          <a:xfrm>
            <a:off x="640080" y="3154680"/>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5" name="text-31"/>
          <p:cNvSpPr txBox="1"/>
          <p:nvPr/>
        </p:nvSpPr>
        <p:spPr>
          <a:xfrm>
            <a:off x="1207008" y="3154680"/>
            <a:ext cx="3200400" cy="402336"/>
          </a:xfrm>
          <a:prstGeom prst="rect">
            <a:avLst/>
          </a:prstGeom>
          <a:noFill/>
          <a:ln/>
        </p:spPr>
        <p:txBody>
          <a:bodyPr wrap="square" lIns="0" tIns="0" rIns="0" bIns="0" rtlCol="0" anchor="ctr"/>
          <a:lstStyle/>
          <a:p>
            <a:pPr indent="0" marL="0">
              <a:buNone/>
            </a:pPr>
            <a:r>
              <a:rPr lang="en-US" sz="1700" dirty="0">
                <a:solidFill>
                  <a:schemeClr val="tx1"/>
                </a:solidFill>
              </a:rPr>
              <a:t>Tech stack &amp; tools</a:t>
            </a:r>
            <a:endParaRPr lang="en-US" sz="1700" dirty="0"/>
          </a:p>
        </p:txBody>
      </p:sp>
      <p:sp>
        <p:nvSpPr>
          <p:cNvPr id="16" name="num-32"/>
          <p:cNvSpPr/>
          <p:nvPr/>
        </p:nvSpPr>
        <p:spPr>
          <a:xfrm>
            <a:off x="640080" y="3840480"/>
            <a:ext cx="402336" cy="402336"/>
          </a:xfrm>
          <a:prstGeom prst="ellipse">
            <a:avLst/>
          </a:prstGeom>
          <a:solidFill>
            <a:schemeClr val="accent1"/>
          </a:solidFill>
          <a:ln w="12700">
            <a:solidFill>
              <a:schemeClr val="accent1"/>
            </a:solidFill>
            <a:prstDash val="solid"/>
          </a:ln>
        </p:spPr>
      </p:sp>
      <p:sp>
        <p:nvSpPr>
          <p:cNvPr id="17" name="text-33"/>
          <p:cNvSpPr txBox="1"/>
          <p:nvPr/>
        </p:nvSpPr>
        <p:spPr>
          <a:xfrm>
            <a:off x="640080" y="3840480"/>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8" name="text-34"/>
          <p:cNvSpPr txBox="1"/>
          <p:nvPr/>
        </p:nvSpPr>
        <p:spPr>
          <a:xfrm>
            <a:off x="1207008" y="3840480"/>
            <a:ext cx="3200400" cy="402336"/>
          </a:xfrm>
          <a:prstGeom prst="rect">
            <a:avLst/>
          </a:prstGeom>
          <a:noFill/>
          <a:ln/>
        </p:spPr>
        <p:txBody>
          <a:bodyPr wrap="square" lIns="0" tIns="0" rIns="0" bIns="0" rtlCol="0" anchor="ctr"/>
          <a:lstStyle/>
          <a:p>
            <a:pPr indent="0" marL="0">
              <a:buNone/>
            </a:pPr>
            <a:r>
              <a:rPr lang="en-US" sz="1700" dirty="0">
                <a:solidFill>
                  <a:schemeClr val="tx1"/>
                </a:solidFill>
              </a:rPr>
              <a:t>Solution architecture</a:t>
            </a:r>
            <a:endParaRPr lang="en-US" sz="1700" dirty="0"/>
          </a:p>
        </p:txBody>
      </p:sp>
      <p:sp>
        <p:nvSpPr>
          <p:cNvPr id="19" name="num-35"/>
          <p:cNvSpPr/>
          <p:nvPr/>
        </p:nvSpPr>
        <p:spPr>
          <a:xfrm>
            <a:off x="4663440" y="1097280"/>
            <a:ext cx="402336" cy="402336"/>
          </a:xfrm>
          <a:prstGeom prst="ellipse">
            <a:avLst/>
          </a:prstGeom>
          <a:solidFill>
            <a:schemeClr val="accent2"/>
          </a:solidFill>
          <a:ln w="12700">
            <a:solidFill>
              <a:schemeClr val="accent2"/>
            </a:solidFill>
            <a:prstDash val="solid"/>
          </a:ln>
        </p:spPr>
      </p:sp>
      <p:sp>
        <p:nvSpPr>
          <p:cNvPr id="20" name="text-36"/>
          <p:cNvSpPr txBox="1"/>
          <p:nvPr/>
        </p:nvSpPr>
        <p:spPr>
          <a:xfrm>
            <a:off x="4663440" y="1097280"/>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1" name="text-37"/>
          <p:cNvSpPr txBox="1"/>
          <p:nvPr/>
        </p:nvSpPr>
        <p:spPr>
          <a:xfrm>
            <a:off x="5230368" y="1097280"/>
            <a:ext cx="3200400" cy="402336"/>
          </a:xfrm>
          <a:prstGeom prst="rect">
            <a:avLst/>
          </a:prstGeom>
          <a:noFill/>
          <a:ln/>
        </p:spPr>
        <p:txBody>
          <a:bodyPr wrap="square" lIns="0" tIns="0" rIns="0" bIns="0" rtlCol="0" anchor="ctr"/>
          <a:lstStyle/>
          <a:p>
            <a:pPr indent="0" marL="0">
              <a:buNone/>
            </a:pPr>
            <a:r>
              <a:rPr lang="en-US" sz="1700" dirty="0">
                <a:solidFill>
                  <a:schemeClr val="tx1"/>
                </a:solidFill>
              </a:rPr>
              <a:t>Detection engine &amp; ML</a:t>
            </a:r>
            <a:endParaRPr lang="en-US" sz="1700" dirty="0"/>
          </a:p>
        </p:txBody>
      </p:sp>
      <p:sp>
        <p:nvSpPr>
          <p:cNvPr id="22" name="num-38"/>
          <p:cNvSpPr/>
          <p:nvPr/>
        </p:nvSpPr>
        <p:spPr>
          <a:xfrm>
            <a:off x="4663440" y="1783080"/>
            <a:ext cx="402336" cy="402336"/>
          </a:xfrm>
          <a:prstGeom prst="ellipse">
            <a:avLst/>
          </a:prstGeom>
          <a:solidFill>
            <a:schemeClr val="accent2"/>
          </a:solidFill>
          <a:ln w="12700">
            <a:solidFill>
              <a:schemeClr val="accent2"/>
            </a:solidFill>
            <a:prstDash val="solid"/>
          </a:ln>
        </p:spPr>
      </p:sp>
      <p:sp>
        <p:nvSpPr>
          <p:cNvPr id="23" name="text-39"/>
          <p:cNvSpPr txBox="1"/>
          <p:nvPr/>
        </p:nvSpPr>
        <p:spPr>
          <a:xfrm>
            <a:off x="4663440" y="1783080"/>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24" name="text-40"/>
          <p:cNvSpPr txBox="1"/>
          <p:nvPr/>
        </p:nvSpPr>
        <p:spPr>
          <a:xfrm>
            <a:off x="5230368" y="1783080"/>
            <a:ext cx="3200400" cy="402336"/>
          </a:xfrm>
          <a:prstGeom prst="rect">
            <a:avLst/>
          </a:prstGeom>
          <a:noFill/>
          <a:ln/>
        </p:spPr>
        <p:txBody>
          <a:bodyPr wrap="square" lIns="0" tIns="0" rIns="0" bIns="0" rtlCol="0" anchor="ctr"/>
          <a:lstStyle/>
          <a:p>
            <a:pPr indent="0" marL="0">
              <a:buNone/>
            </a:pPr>
            <a:r>
              <a:rPr lang="en-US" sz="1700" dirty="0">
                <a:solidFill>
                  <a:schemeClr val="tx1"/>
                </a:solidFill>
              </a:rPr>
              <a:t>Key features</a:t>
            </a:r>
            <a:endParaRPr lang="en-US" sz="1700" dirty="0"/>
          </a:p>
        </p:txBody>
      </p:sp>
      <p:sp>
        <p:nvSpPr>
          <p:cNvPr id="25" name="num-41"/>
          <p:cNvSpPr/>
          <p:nvPr/>
        </p:nvSpPr>
        <p:spPr>
          <a:xfrm>
            <a:off x="4663440" y="2468880"/>
            <a:ext cx="402336" cy="402336"/>
          </a:xfrm>
          <a:prstGeom prst="ellipse">
            <a:avLst/>
          </a:prstGeom>
          <a:solidFill>
            <a:schemeClr val="accent2"/>
          </a:solidFill>
          <a:ln w="12700">
            <a:solidFill>
              <a:schemeClr val="accent2"/>
            </a:solidFill>
            <a:prstDash val="solid"/>
          </a:ln>
        </p:spPr>
      </p:sp>
      <p:sp>
        <p:nvSpPr>
          <p:cNvPr id="26" name="text-42"/>
          <p:cNvSpPr txBox="1"/>
          <p:nvPr/>
        </p:nvSpPr>
        <p:spPr>
          <a:xfrm>
            <a:off x="4663440" y="2468880"/>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27" name="text-43"/>
          <p:cNvSpPr txBox="1"/>
          <p:nvPr/>
        </p:nvSpPr>
        <p:spPr>
          <a:xfrm>
            <a:off x="5230368" y="2468880"/>
            <a:ext cx="3200400" cy="402336"/>
          </a:xfrm>
          <a:prstGeom prst="rect">
            <a:avLst/>
          </a:prstGeom>
          <a:noFill/>
          <a:ln/>
        </p:spPr>
        <p:txBody>
          <a:bodyPr wrap="square" lIns="0" tIns="0" rIns="0" bIns="0" rtlCol="0" anchor="ctr"/>
          <a:lstStyle/>
          <a:p>
            <a:pPr indent="0" marL="0">
              <a:buNone/>
            </a:pPr>
            <a:r>
              <a:rPr lang="en-US" sz="1700" dirty="0">
                <a:solidFill>
                  <a:schemeClr val="tx1"/>
                </a:solidFill>
              </a:rPr>
              <a:t>Results</a:t>
            </a:r>
            <a:endParaRPr lang="en-US" sz="1700" dirty="0"/>
          </a:p>
        </p:txBody>
      </p:sp>
      <p:sp>
        <p:nvSpPr>
          <p:cNvPr id="28" name="num-44"/>
          <p:cNvSpPr/>
          <p:nvPr/>
        </p:nvSpPr>
        <p:spPr>
          <a:xfrm>
            <a:off x="4663440" y="3154680"/>
            <a:ext cx="402336" cy="402336"/>
          </a:xfrm>
          <a:prstGeom prst="ellipse">
            <a:avLst/>
          </a:prstGeom>
          <a:solidFill>
            <a:schemeClr val="accent2"/>
          </a:solidFill>
          <a:ln w="12700">
            <a:solidFill>
              <a:schemeClr val="accent2"/>
            </a:solidFill>
            <a:prstDash val="solid"/>
          </a:ln>
        </p:spPr>
      </p:sp>
      <p:sp>
        <p:nvSpPr>
          <p:cNvPr id="29" name="text-45"/>
          <p:cNvSpPr txBox="1"/>
          <p:nvPr/>
        </p:nvSpPr>
        <p:spPr>
          <a:xfrm>
            <a:off x="4663440" y="3154680"/>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9</a:t>
            </a:r>
            <a:endParaRPr lang="en-US" sz="1300" dirty="0"/>
          </a:p>
        </p:txBody>
      </p:sp>
      <p:sp>
        <p:nvSpPr>
          <p:cNvPr id="30" name="text-46"/>
          <p:cNvSpPr txBox="1"/>
          <p:nvPr/>
        </p:nvSpPr>
        <p:spPr>
          <a:xfrm>
            <a:off x="5230368" y="3154680"/>
            <a:ext cx="3200400" cy="402336"/>
          </a:xfrm>
          <a:prstGeom prst="rect">
            <a:avLst/>
          </a:prstGeom>
          <a:noFill/>
          <a:ln/>
        </p:spPr>
        <p:txBody>
          <a:bodyPr wrap="square" lIns="0" tIns="0" rIns="0" bIns="0" rtlCol="0" anchor="ctr"/>
          <a:lstStyle/>
          <a:p>
            <a:pPr indent="0" marL="0">
              <a:buNone/>
            </a:pPr>
            <a:r>
              <a:rPr lang="en-US" sz="1700" dirty="0">
                <a:solidFill>
                  <a:schemeClr val="tx1"/>
                </a:solidFill>
              </a:rPr>
              <a:t>Analysis</a:t>
            </a:r>
            <a:endParaRPr lang="en-US" sz="1700" dirty="0"/>
          </a:p>
        </p:txBody>
      </p:sp>
      <p:sp>
        <p:nvSpPr>
          <p:cNvPr id="31" name="num-47"/>
          <p:cNvSpPr/>
          <p:nvPr/>
        </p:nvSpPr>
        <p:spPr>
          <a:xfrm>
            <a:off x="4663440" y="3840480"/>
            <a:ext cx="402336" cy="402336"/>
          </a:xfrm>
          <a:prstGeom prst="ellipse">
            <a:avLst/>
          </a:prstGeom>
          <a:solidFill>
            <a:schemeClr val="accent2"/>
          </a:solidFill>
          <a:ln w="12700">
            <a:solidFill>
              <a:schemeClr val="accent2"/>
            </a:solidFill>
            <a:prstDash val="solid"/>
          </a:ln>
        </p:spPr>
      </p:sp>
      <p:sp>
        <p:nvSpPr>
          <p:cNvPr id="32" name="text-48"/>
          <p:cNvSpPr txBox="1"/>
          <p:nvPr/>
        </p:nvSpPr>
        <p:spPr>
          <a:xfrm>
            <a:off x="4663440" y="3840480"/>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10</a:t>
            </a:r>
            <a:endParaRPr lang="en-US" sz="1300" dirty="0"/>
          </a:p>
        </p:txBody>
      </p:sp>
      <p:sp>
        <p:nvSpPr>
          <p:cNvPr id="33" name="text-49"/>
          <p:cNvSpPr txBox="1"/>
          <p:nvPr/>
        </p:nvSpPr>
        <p:spPr>
          <a:xfrm>
            <a:off x="5230368" y="3840480"/>
            <a:ext cx="3200400" cy="402336"/>
          </a:xfrm>
          <a:prstGeom prst="rect">
            <a:avLst/>
          </a:prstGeom>
          <a:noFill/>
          <a:ln/>
        </p:spPr>
        <p:txBody>
          <a:bodyPr wrap="square" lIns="0" tIns="0" rIns="0" bIns="0" rtlCol="0" anchor="ctr"/>
          <a:lstStyle/>
          <a:p>
            <a:pPr indent="0" marL="0">
              <a:buNone/>
            </a:pPr>
            <a:r>
              <a:rPr lang="en-US" sz="1700" dirty="0">
                <a:solidFill>
                  <a:schemeClr val="tx1"/>
                </a:solidFill>
              </a:rPr>
              <a:t>Demo, challenges &amp; conclusion</a:t>
            </a:r>
            <a:endParaRPr lang="en-US" sz="1700" dirty="0"/>
          </a:p>
        </p:txBody>
      </p:sp>
      <p:sp>
        <p:nvSpPr>
          <p:cNvPr id="25" name="Slide Number Placeholder 0"/>
          <p:cNvSpPr>
            <a:spLocks noGrp="1"/>
          </p:cNvSpPr>
          <p:nvPr>
            <p:ph type="sldNum" sz="quarter" idx="4294967295"/>
          </p:nvPr>
        </p:nvSpPr>
        <p:spPr>
          <a:xfrm>
            <a:off x="8229600" y="479145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800" b="1" dirty="0">
                <a:solidFill>
                  <a:schemeClr val="tx2"/>
                </a:solidFill>
              </a:rPr>
              <a:t>Introduction: AIS and Dark Vessels</a:t>
            </a:r>
            <a:endParaRPr lang="en-US" sz="2800" dirty="0"/>
          </a:p>
        </p:txBody>
      </p:sp>
      <p:sp>
        <p:nvSpPr>
          <p:cNvPr id="4" name="circle-50"/>
          <p:cNvSpPr/>
          <p:nvPr/>
        </p:nvSpPr>
        <p:spPr>
          <a:xfrm>
            <a:off x="548640" y="1051560"/>
            <a:ext cx="457200" cy="457200"/>
          </a:xfrm>
          <a:prstGeom prst="ellipse">
            <a:avLst/>
          </a:prstGeom>
          <a:solidFill>
            <a:schemeClr val="accent1"/>
          </a:solidFill>
          <a:ln w="12700">
            <a:solidFill>
              <a:schemeClr val="accent1"/>
            </a:solidFill>
            <a:prstDash val="solid"/>
          </a:ln>
        </p:spPr>
      </p:sp>
      <p:pic>
        <p:nvPicPr>
          <p:cNvPr id="5" name="icon-51" descr="preencoded.png">    </p:cNvPr>
          <p:cNvPicPr>
            <a:picLocks noChangeAspect="1"/>
          </p:cNvPicPr>
          <p:nvPr/>
        </p:nvPicPr>
        <p:blipFill>
          <a:blip r:embed="rId1"/>
          <a:stretch>
            <a:fillRect/>
          </a:stretch>
        </p:blipFill>
        <p:spPr>
          <a:xfrm>
            <a:off x="667512" y="1170432"/>
            <a:ext cx="219456" cy="219456"/>
          </a:xfrm>
          <a:prstGeom prst="rect">
            <a:avLst/>
          </a:prstGeom>
        </p:spPr>
      </p:pic>
      <p:sp>
        <p:nvSpPr>
          <p:cNvPr id="6" name="text-52"/>
          <p:cNvSpPr txBox="1"/>
          <p:nvPr/>
        </p:nvSpPr>
        <p:spPr>
          <a:xfrm>
            <a:off x="1188720" y="1033272"/>
            <a:ext cx="3931920" cy="274320"/>
          </a:xfrm>
          <a:prstGeom prst="rect">
            <a:avLst/>
          </a:prstGeom>
          <a:noFill/>
          <a:ln/>
        </p:spPr>
        <p:txBody>
          <a:bodyPr wrap="square" lIns="0" tIns="0" rIns="0" bIns="0" rtlCol="0" anchor="t"/>
          <a:lstStyle/>
          <a:p>
            <a:pPr indent="0" marL="0">
              <a:buNone/>
            </a:pPr>
            <a:r>
              <a:rPr lang="en-US" sz="1500" b="1" dirty="0">
                <a:solidFill>
                  <a:schemeClr val="tx2"/>
                </a:solidFill>
              </a:rPr>
              <a:t>Automatic Identification System (AIS)</a:t>
            </a:r>
            <a:endParaRPr lang="en-US" sz="1500" dirty="0"/>
          </a:p>
        </p:txBody>
      </p:sp>
      <p:sp>
        <p:nvSpPr>
          <p:cNvPr id="7" name="text-53"/>
          <p:cNvSpPr txBox="1"/>
          <p:nvPr/>
        </p:nvSpPr>
        <p:spPr>
          <a:xfrm>
            <a:off x="1188720" y="1307592"/>
            <a:ext cx="4023360" cy="411480"/>
          </a:xfrm>
          <a:prstGeom prst="rect">
            <a:avLst/>
          </a:prstGeom>
          <a:noFill/>
          <a:ln/>
        </p:spPr>
        <p:txBody>
          <a:bodyPr wrap="square" lIns="0" tIns="0" rIns="0" bIns="0" rtlCol="0" anchor="t"/>
          <a:lstStyle/>
          <a:p>
            <a:pPr indent="0" marL="0">
              <a:buNone/>
            </a:pPr>
            <a:r>
              <a:rPr lang="en-US" sz="1200" dirty="0">
                <a:solidFill>
                  <a:schemeClr val="accent5"/>
                </a:solidFill>
              </a:rPr>
              <a:t>Ships broadcast identity, GPS position, course and speed in real time</a:t>
            </a:r>
            <a:endParaRPr lang="en-US" sz="1200" dirty="0"/>
          </a:p>
        </p:txBody>
      </p:sp>
      <p:sp>
        <p:nvSpPr>
          <p:cNvPr id="8" name="circle-54"/>
          <p:cNvSpPr/>
          <p:nvPr/>
        </p:nvSpPr>
        <p:spPr>
          <a:xfrm>
            <a:off x="548640" y="1801368"/>
            <a:ext cx="457200" cy="457200"/>
          </a:xfrm>
          <a:prstGeom prst="ellipse">
            <a:avLst/>
          </a:prstGeom>
          <a:solidFill>
            <a:schemeClr val="accent1"/>
          </a:solidFill>
          <a:ln w="12700">
            <a:solidFill>
              <a:schemeClr val="accent1"/>
            </a:solidFill>
            <a:prstDash val="solid"/>
          </a:ln>
        </p:spPr>
      </p:sp>
      <p:pic>
        <p:nvPicPr>
          <p:cNvPr id="9" name="icon-55" descr="preencoded.png">    </p:cNvPr>
          <p:cNvPicPr>
            <a:picLocks noChangeAspect="1"/>
          </p:cNvPicPr>
          <p:nvPr/>
        </p:nvPicPr>
        <p:blipFill>
          <a:blip r:embed="rId2"/>
          <a:stretch>
            <a:fillRect/>
          </a:stretch>
        </p:blipFill>
        <p:spPr>
          <a:xfrm>
            <a:off x="667512" y="1920240"/>
            <a:ext cx="219456" cy="219456"/>
          </a:xfrm>
          <a:prstGeom prst="rect">
            <a:avLst/>
          </a:prstGeom>
        </p:spPr>
      </p:pic>
      <p:sp>
        <p:nvSpPr>
          <p:cNvPr id="10" name="text-56"/>
          <p:cNvSpPr txBox="1"/>
          <p:nvPr/>
        </p:nvSpPr>
        <p:spPr>
          <a:xfrm>
            <a:off x="1188720" y="1783080"/>
            <a:ext cx="3931920" cy="274320"/>
          </a:xfrm>
          <a:prstGeom prst="rect">
            <a:avLst/>
          </a:prstGeom>
          <a:noFill/>
          <a:ln/>
        </p:spPr>
        <p:txBody>
          <a:bodyPr wrap="square" lIns="0" tIns="0" rIns="0" bIns="0" rtlCol="0" anchor="t"/>
          <a:lstStyle/>
          <a:p>
            <a:pPr indent="0" marL="0">
              <a:buNone/>
            </a:pPr>
            <a:r>
              <a:rPr lang="en-US" sz="1500" b="1" dirty="0">
                <a:solidFill>
                  <a:schemeClr val="tx2"/>
                </a:solidFill>
              </a:rPr>
              <a:t>Legally mandated</a:t>
            </a:r>
            <a:endParaRPr lang="en-US" sz="1500" dirty="0"/>
          </a:p>
        </p:txBody>
      </p:sp>
      <p:sp>
        <p:nvSpPr>
          <p:cNvPr id="11" name="text-57"/>
          <p:cNvSpPr txBox="1"/>
          <p:nvPr/>
        </p:nvSpPr>
        <p:spPr>
          <a:xfrm>
            <a:off x="1188720" y="2057400"/>
            <a:ext cx="4023360" cy="411480"/>
          </a:xfrm>
          <a:prstGeom prst="rect">
            <a:avLst/>
          </a:prstGeom>
          <a:noFill/>
          <a:ln/>
        </p:spPr>
        <p:txBody>
          <a:bodyPr wrap="square" lIns="0" tIns="0" rIns="0" bIns="0" rtlCol="0" anchor="t"/>
          <a:lstStyle/>
          <a:p>
            <a:pPr indent="0" marL="0">
              <a:buNone/>
            </a:pPr>
            <a:r>
              <a:rPr lang="en-US" sz="1200" dirty="0">
                <a:solidFill>
                  <a:schemeClr val="accent5"/>
                </a:solidFill>
              </a:rPr>
              <a:t>Required for commercial vessels under SOLAS Chapter V</a:t>
            </a:r>
            <a:endParaRPr lang="en-US" sz="1200" dirty="0"/>
          </a:p>
        </p:txBody>
      </p:sp>
      <p:sp>
        <p:nvSpPr>
          <p:cNvPr id="12" name="circle-58"/>
          <p:cNvSpPr/>
          <p:nvPr/>
        </p:nvSpPr>
        <p:spPr>
          <a:xfrm>
            <a:off x="548640" y="2551176"/>
            <a:ext cx="457200" cy="457200"/>
          </a:xfrm>
          <a:prstGeom prst="ellipse">
            <a:avLst/>
          </a:prstGeom>
          <a:solidFill>
            <a:schemeClr val="accent1"/>
          </a:solidFill>
          <a:ln w="12700">
            <a:solidFill>
              <a:schemeClr val="accent1"/>
            </a:solidFill>
            <a:prstDash val="solid"/>
          </a:ln>
        </p:spPr>
      </p:sp>
      <p:pic>
        <p:nvPicPr>
          <p:cNvPr id="13" name="icon-59" descr="preencoded.png">    </p:cNvPr>
          <p:cNvPicPr>
            <a:picLocks noChangeAspect="1"/>
          </p:cNvPicPr>
          <p:nvPr/>
        </p:nvPicPr>
        <p:blipFill>
          <a:blip r:embed="rId3"/>
          <a:stretch>
            <a:fillRect/>
          </a:stretch>
        </p:blipFill>
        <p:spPr>
          <a:xfrm>
            <a:off x="667512" y="2670048"/>
            <a:ext cx="219456" cy="219456"/>
          </a:xfrm>
          <a:prstGeom prst="rect">
            <a:avLst/>
          </a:prstGeom>
        </p:spPr>
      </p:pic>
      <p:sp>
        <p:nvSpPr>
          <p:cNvPr id="14" name="text-60"/>
          <p:cNvSpPr txBox="1"/>
          <p:nvPr/>
        </p:nvSpPr>
        <p:spPr>
          <a:xfrm>
            <a:off x="1188720" y="2532888"/>
            <a:ext cx="3931920" cy="274320"/>
          </a:xfrm>
          <a:prstGeom prst="rect">
            <a:avLst/>
          </a:prstGeom>
          <a:noFill/>
          <a:ln/>
        </p:spPr>
        <p:txBody>
          <a:bodyPr wrap="square" lIns="0" tIns="0" rIns="0" bIns="0" rtlCol="0" anchor="t"/>
          <a:lstStyle/>
          <a:p>
            <a:pPr indent="0" marL="0">
              <a:buNone/>
            </a:pPr>
            <a:r>
              <a:rPr lang="en-US" sz="1500" b="1" dirty="0">
                <a:solidFill>
                  <a:schemeClr val="tx2"/>
                </a:solidFill>
              </a:rPr>
              <a:t>VHF line-of-sight radio</a:t>
            </a:r>
            <a:endParaRPr lang="en-US" sz="1500" dirty="0"/>
          </a:p>
        </p:txBody>
      </p:sp>
      <p:sp>
        <p:nvSpPr>
          <p:cNvPr id="15" name="text-61"/>
          <p:cNvSpPr txBox="1"/>
          <p:nvPr/>
        </p:nvSpPr>
        <p:spPr>
          <a:xfrm>
            <a:off x="1188720" y="2807208"/>
            <a:ext cx="4023360" cy="411480"/>
          </a:xfrm>
          <a:prstGeom prst="rect">
            <a:avLst/>
          </a:prstGeom>
          <a:noFill/>
          <a:ln/>
        </p:spPr>
        <p:txBody>
          <a:bodyPr wrap="square" lIns="0" tIns="0" rIns="0" bIns="0" rtlCol="0" anchor="t"/>
          <a:lstStyle/>
          <a:p>
            <a:pPr indent="0" marL="0">
              <a:buNone/>
            </a:pPr>
            <a:r>
              <a:rPr lang="en-US" sz="1200" dirty="0">
                <a:solidFill>
                  <a:schemeClr val="accent5"/>
                </a:solidFill>
              </a:rPr>
              <a:t>161.975 / 162.025 MHz — coastal receivers reach only ~50–100 nm</a:t>
            </a:r>
            <a:endParaRPr lang="en-US" sz="1200" dirty="0"/>
          </a:p>
        </p:txBody>
      </p:sp>
      <p:sp>
        <p:nvSpPr>
          <p:cNvPr id="16" name="circle-62"/>
          <p:cNvSpPr/>
          <p:nvPr/>
        </p:nvSpPr>
        <p:spPr>
          <a:xfrm>
            <a:off x="548640" y="3300984"/>
            <a:ext cx="457200" cy="457200"/>
          </a:xfrm>
          <a:prstGeom prst="ellipse">
            <a:avLst/>
          </a:prstGeom>
          <a:solidFill>
            <a:schemeClr val="accent1"/>
          </a:solidFill>
          <a:ln w="12700">
            <a:solidFill>
              <a:schemeClr val="accent1"/>
            </a:solidFill>
            <a:prstDash val="solid"/>
          </a:ln>
        </p:spPr>
      </p:sp>
      <p:pic>
        <p:nvPicPr>
          <p:cNvPr id="17" name="icon-63" descr="preencoded.png">    </p:cNvPr>
          <p:cNvPicPr>
            <a:picLocks noChangeAspect="1"/>
          </p:cNvPicPr>
          <p:nvPr/>
        </p:nvPicPr>
        <p:blipFill>
          <a:blip r:embed="rId4"/>
          <a:stretch>
            <a:fillRect/>
          </a:stretch>
        </p:blipFill>
        <p:spPr>
          <a:xfrm>
            <a:off x="667512" y="3419856"/>
            <a:ext cx="219456" cy="219456"/>
          </a:xfrm>
          <a:prstGeom prst="rect">
            <a:avLst/>
          </a:prstGeom>
        </p:spPr>
      </p:pic>
      <p:sp>
        <p:nvSpPr>
          <p:cNvPr id="18" name="text-64"/>
          <p:cNvSpPr txBox="1"/>
          <p:nvPr/>
        </p:nvSpPr>
        <p:spPr>
          <a:xfrm>
            <a:off x="1188720" y="3282696"/>
            <a:ext cx="3931920" cy="274320"/>
          </a:xfrm>
          <a:prstGeom prst="rect">
            <a:avLst/>
          </a:prstGeom>
          <a:noFill/>
          <a:ln/>
        </p:spPr>
        <p:txBody>
          <a:bodyPr wrap="square" lIns="0" tIns="0" rIns="0" bIns="0" rtlCol="0" anchor="t"/>
          <a:lstStyle/>
          <a:p>
            <a:pPr indent="0" marL="0">
              <a:buNone/>
            </a:pPr>
            <a:r>
              <a:rPr lang="en-US" sz="1500" b="1" dirty="0">
                <a:solidFill>
                  <a:schemeClr val="tx2"/>
                </a:solidFill>
              </a:rPr>
              <a:t>Dark vessel</a:t>
            </a:r>
            <a:endParaRPr lang="en-US" sz="1500" dirty="0"/>
          </a:p>
        </p:txBody>
      </p:sp>
      <p:sp>
        <p:nvSpPr>
          <p:cNvPr id="19" name="text-65"/>
          <p:cNvSpPr txBox="1"/>
          <p:nvPr/>
        </p:nvSpPr>
        <p:spPr>
          <a:xfrm>
            <a:off x="1188720" y="3557016"/>
            <a:ext cx="4023360" cy="411480"/>
          </a:xfrm>
          <a:prstGeom prst="rect">
            <a:avLst/>
          </a:prstGeom>
          <a:noFill/>
          <a:ln/>
        </p:spPr>
        <p:txBody>
          <a:bodyPr wrap="square" lIns="0" tIns="0" rIns="0" bIns="0" rtlCol="0" anchor="t"/>
          <a:lstStyle/>
          <a:p>
            <a:pPr indent="0" marL="0">
              <a:buNone/>
            </a:pPr>
            <a:r>
              <a:rPr lang="en-US" sz="1200" dirty="0">
                <a:solidFill>
                  <a:schemeClr val="accent5"/>
                </a:solidFill>
              </a:rPr>
              <a:t>A vessel that disables or falsifies AIS while remaining at sea</a:t>
            </a:r>
            <a:endParaRPr lang="en-US" sz="1200" dirty="0"/>
          </a:p>
        </p:txBody>
      </p:sp>
      <p:sp>
        <p:nvSpPr>
          <p:cNvPr id="20" name="card-66"/>
          <p:cNvSpPr/>
          <p:nvPr/>
        </p:nvSpPr>
        <p:spPr>
          <a:xfrm>
            <a:off x="5577840" y="1051560"/>
            <a:ext cx="3108960" cy="3429000"/>
          </a:xfrm>
          <a:prstGeom prst="roundRect">
            <a:avLst>
              <a:gd name="adj" fmla="val 2353"/>
            </a:avLst>
          </a:prstGeom>
          <a:solidFill>
            <a:schemeClr val="bg2"/>
          </a:solidFill>
          <a:ln w="12700">
            <a:solidFill>
              <a:schemeClr val="bg2"/>
            </a:solidFill>
            <a:prstDash val="solid"/>
          </a:ln>
        </p:spPr>
      </p:sp>
      <p:sp>
        <p:nvSpPr>
          <p:cNvPr id="21" name="text-67"/>
          <p:cNvSpPr txBox="1"/>
          <p:nvPr/>
        </p:nvSpPr>
        <p:spPr>
          <a:xfrm>
            <a:off x="5806440" y="1188720"/>
            <a:ext cx="2743200" cy="320040"/>
          </a:xfrm>
          <a:prstGeom prst="rect">
            <a:avLst/>
          </a:prstGeom>
          <a:noFill/>
          <a:ln/>
        </p:spPr>
        <p:txBody>
          <a:bodyPr wrap="square" lIns="0" tIns="0" rIns="0" bIns="0" rtlCol="0" anchor="t"/>
          <a:lstStyle/>
          <a:p>
            <a:pPr indent="0" marL="0">
              <a:buNone/>
            </a:pPr>
            <a:r>
              <a:rPr lang="en-US" sz="1600" b="1" dirty="0">
                <a:solidFill>
                  <a:schemeClr val="tx2"/>
                </a:solidFill>
              </a:rPr>
              <a:t>Why it matters</a:t>
            </a:r>
            <a:endParaRPr lang="en-US" sz="1600" dirty="0"/>
          </a:p>
        </p:txBody>
      </p:sp>
      <p:sp>
        <p:nvSpPr>
          <p:cNvPr id="22" name="circle-68"/>
          <p:cNvSpPr/>
          <p:nvPr/>
        </p:nvSpPr>
        <p:spPr>
          <a:xfrm>
            <a:off x="5806440" y="1691640"/>
            <a:ext cx="384048" cy="384048"/>
          </a:xfrm>
          <a:prstGeom prst="ellipse">
            <a:avLst/>
          </a:prstGeom>
          <a:solidFill>
            <a:schemeClr val="accent2"/>
          </a:solidFill>
          <a:ln w="12700">
            <a:solidFill>
              <a:schemeClr val="accent2"/>
            </a:solidFill>
            <a:prstDash val="solid"/>
          </a:ln>
        </p:spPr>
      </p:sp>
      <p:pic>
        <p:nvPicPr>
          <p:cNvPr id="23" name="icon-69" descr="preencoded.png">    </p:cNvPr>
          <p:cNvPicPr>
            <a:picLocks noChangeAspect="1"/>
          </p:cNvPicPr>
          <p:nvPr/>
        </p:nvPicPr>
        <p:blipFill>
          <a:blip r:embed="rId5"/>
          <a:stretch>
            <a:fillRect/>
          </a:stretch>
        </p:blipFill>
        <p:spPr>
          <a:xfrm>
            <a:off x="5906292" y="1791492"/>
            <a:ext cx="184343" cy="184343"/>
          </a:xfrm>
          <a:prstGeom prst="rect">
            <a:avLst/>
          </a:prstGeom>
        </p:spPr>
      </p:pic>
      <p:sp>
        <p:nvSpPr>
          <p:cNvPr id="24" name="text-70"/>
          <p:cNvSpPr txBox="1"/>
          <p:nvPr/>
        </p:nvSpPr>
        <p:spPr>
          <a:xfrm>
            <a:off x="6327648" y="1655064"/>
            <a:ext cx="2240280" cy="502920"/>
          </a:xfrm>
          <a:prstGeom prst="rect">
            <a:avLst/>
          </a:prstGeom>
          <a:noFill/>
          <a:ln/>
        </p:spPr>
        <p:txBody>
          <a:bodyPr wrap="square" lIns="0" tIns="0" rIns="0" bIns="0" rtlCol="0" anchor="ctr"/>
          <a:lstStyle/>
          <a:p>
            <a:pPr indent="0" marL="0">
              <a:buNone/>
            </a:pPr>
            <a:r>
              <a:rPr lang="en-US" sz="1300" dirty="0">
                <a:solidFill>
                  <a:schemeClr val="tx1"/>
                </a:solidFill>
              </a:rPr>
              <a:t>Illegal, unreported &amp; unregulated (IUU) fishing</a:t>
            </a:r>
            <a:endParaRPr lang="en-US" sz="1300" dirty="0"/>
          </a:p>
        </p:txBody>
      </p:sp>
      <p:sp>
        <p:nvSpPr>
          <p:cNvPr id="25" name="circle-71"/>
          <p:cNvSpPr/>
          <p:nvPr/>
        </p:nvSpPr>
        <p:spPr>
          <a:xfrm>
            <a:off x="5806440" y="2377440"/>
            <a:ext cx="384048" cy="384048"/>
          </a:xfrm>
          <a:prstGeom prst="ellipse">
            <a:avLst/>
          </a:prstGeom>
          <a:solidFill>
            <a:schemeClr val="accent2"/>
          </a:solidFill>
          <a:ln w="12700">
            <a:solidFill>
              <a:schemeClr val="accent2"/>
            </a:solidFill>
            <a:prstDash val="solid"/>
          </a:ln>
        </p:spPr>
      </p:sp>
      <p:pic>
        <p:nvPicPr>
          <p:cNvPr id="26" name="icon-72" descr="preencoded.png">    </p:cNvPr>
          <p:cNvPicPr>
            <a:picLocks noChangeAspect="1"/>
          </p:cNvPicPr>
          <p:nvPr/>
        </p:nvPicPr>
        <p:blipFill>
          <a:blip r:embed="rId6"/>
          <a:stretch>
            <a:fillRect/>
          </a:stretch>
        </p:blipFill>
        <p:spPr>
          <a:xfrm>
            <a:off x="5906292" y="2477292"/>
            <a:ext cx="184343" cy="184343"/>
          </a:xfrm>
          <a:prstGeom prst="rect">
            <a:avLst/>
          </a:prstGeom>
        </p:spPr>
      </p:pic>
      <p:sp>
        <p:nvSpPr>
          <p:cNvPr id="27" name="text-73"/>
          <p:cNvSpPr txBox="1"/>
          <p:nvPr/>
        </p:nvSpPr>
        <p:spPr>
          <a:xfrm>
            <a:off x="6327648" y="2340864"/>
            <a:ext cx="2240280" cy="502920"/>
          </a:xfrm>
          <a:prstGeom prst="rect">
            <a:avLst/>
          </a:prstGeom>
          <a:noFill/>
          <a:ln/>
        </p:spPr>
        <p:txBody>
          <a:bodyPr wrap="square" lIns="0" tIns="0" rIns="0" bIns="0" rtlCol="0" anchor="ctr"/>
          <a:lstStyle/>
          <a:p>
            <a:pPr indent="0" marL="0">
              <a:buNone/>
            </a:pPr>
            <a:r>
              <a:rPr lang="en-US" sz="1300" dirty="0">
                <a:solidFill>
                  <a:schemeClr val="tx1"/>
                </a:solidFill>
              </a:rPr>
              <a:t>Sanction-evading tankers</a:t>
            </a:r>
            <a:endParaRPr lang="en-US" sz="1300" dirty="0"/>
          </a:p>
        </p:txBody>
      </p:sp>
      <p:sp>
        <p:nvSpPr>
          <p:cNvPr id="28" name="circle-74"/>
          <p:cNvSpPr/>
          <p:nvPr/>
        </p:nvSpPr>
        <p:spPr>
          <a:xfrm>
            <a:off x="5806440" y="3063240"/>
            <a:ext cx="384048" cy="384048"/>
          </a:xfrm>
          <a:prstGeom prst="ellipse">
            <a:avLst/>
          </a:prstGeom>
          <a:solidFill>
            <a:schemeClr val="accent2"/>
          </a:solidFill>
          <a:ln w="12700">
            <a:solidFill>
              <a:schemeClr val="accent2"/>
            </a:solidFill>
            <a:prstDash val="solid"/>
          </a:ln>
        </p:spPr>
      </p:sp>
      <p:pic>
        <p:nvPicPr>
          <p:cNvPr id="29" name="icon-75" descr="preencoded.png">    </p:cNvPr>
          <p:cNvPicPr>
            <a:picLocks noChangeAspect="1"/>
          </p:cNvPicPr>
          <p:nvPr/>
        </p:nvPicPr>
        <p:blipFill>
          <a:blip r:embed="rId7"/>
          <a:stretch>
            <a:fillRect/>
          </a:stretch>
        </p:blipFill>
        <p:spPr>
          <a:xfrm>
            <a:off x="5906292" y="3163092"/>
            <a:ext cx="184343" cy="184343"/>
          </a:xfrm>
          <a:prstGeom prst="rect">
            <a:avLst/>
          </a:prstGeom>
        </p:spPr>
      </p:pic>
      <p:sp>
        <p:nvSpPr>
          <p:cNvPr id="30" name="text-76"/>
          <p:cNvSpPr txBox="1"/>
          <p:nvPr/>
        </p:nvSpPr>
        <p:spPr>
          <a:xfrm>
            <a:off x="6327648" y="3026664"/>
            <a:ext cx="2240280" cy="502920"/>
          </a:xfrm>
          <a:prstGeom prst="rect">
            <a:avLst/>
          </a:prstGeom>
          <a:noFill/>
          <a:ln/>
        </p:spPr>
        <p:txBody>
          <a:bodyPr wrap="square" lIns="0" tIns="0" rIns="0" bIns="0" rtlCol="0" anchor="ctr"/>
          <a:lstStyle/>
          <a:p>
            <a:pPr indent="0" marL="0">
              <a:buNone/>
            </a:pPr>
            <a:r>
              <a:rPr lang="en-US" sz="1300" dirty="0">
                <a:solidFill>
                  <a:schemeClr val="tx1"/>
                </a:solidFill>
              </a:rPr>
              <a:t>Smuggling &amp; unauthorised transshipment</a:t>
            </a:r>
            <a:endParaRPr lang="en-US" sz="1300" dirty="0"/>
          </a:p>
        </p:txBody>
      </p:sp>
      <p:sp>
        <p:nvSpPr>
          <p:cNvPr id="31" name="circle-77"/>
          <p:cNvSpPr/>
          <p:nvPr/>
        </p:nvSpPr>
        <p:spPr>
          <a:xfrm>
            <a:off x="5806440" y="3749040"/>
            <a:ext cx="384048" cy="384048"/>
          </a:xfrm>
          <a:prstGeom prst="ellipse">
            <a:avLst/>
          </a:prstGeom>
          <a:solidFill>
            <a:schemeClr val="accent2"/>
          </a:solidFill>
          <a:ln w="12700">
            <a:solidFill>
              <a:schemeClr val="accent2"/>
            </a:solidFill>
            <a:prstDash val="solid"/>
          </a:ln>
        </p:spPr>
      </p:sp>
      <p:pic>
        <p:nvPicPr>
          <p:cNvPr id="32" name="icon-78" descr="preencoded.png">    </p:cNvPr>
          <p:cNvPicPr>
            <a:picLocks noChangeAspect="1"/>
          </p:cNvPicPr>
          <p:nvPr/>
        </p:nvPicPr>
        <p:blipFill>
          <a:blip r:embed="rId8"/>
          <a:stretch>
            <a:fillRect/>
          </a:stretch>
        </p:blipFill>
        <p:spPr>
          <a:xfrm>
            <a:off x="5906292" y="3848892"/>
            <a:ext cx="184343" cy="184343"/>
          </a:xfrm>
          <a:prstGeom prst="rect">
            <a:avLst/>
          </a:prstGeom>
        </p:spPr>
      </p:pic>
      <p:sp>
        <p:nvSpPr>
          <p:cNvPr id="33" name="text-79"/>
          <p:cNvSpPr txBox="1"/>
          <p:nvPr/>
        </p:nvSpPr>
        <p:spPr>
          <a:xfrm>
            <a:off x="6327648" y="3712464"/>
            <a:ext cx="2240280" cy="502920"/>
          </a:xfrm>
          <a:prstGeom prst="rect">
            <a:avLst/>
          </a:prstGeom>
          <a:noFill/>
          <a:ln/>
        </p:spPr>
        <p:txBody>
          <a:bodyPr wrap="square" lIns="0" tIns="0" rIns="0" bIns="0" rtlCol="0" anchor="ctr"/>
          <a:lstStyle/>
          <a:p>
            <a:pPr indent="0" marL="0">
              <a:buNone/>
            </a:pPr>
            <a:r>
              <a:rPr lang="en-US" sz="1300" dirty="0">
                <a:solidFill>
                  <a:schemeClr val="tx1"/>
                </a:solidFill>
              </a:rPr>
              <a:t>Incursions into Marine Protected Areas</a:t>
            </a:r>
            <a:endParaRPr lang="en-US" sz="1300" dirty="0"/>
          </a:p>
        </p:txBody>
      </p:sp>
      <p:sp>
        <p:nvSpPr>
          <p:cNvPr id="25" name="Slide Number Placeholder 0"/>
          <p:cNvSpPr>
            <a:spLocks noGrp="1"/>
          </p:cNvSpPr>
          <p:nvPr>
            <p:ph type="sldNum" sz="quarter" idx="4294967295"/>
          </p:nvPr>
        </p:nvSpPr>
        <p:spPr>
          <a:xfrm>
            <a:off x="8229600" y="479145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800" b="1" dirty="0">
                <a:solidFill>
                  <a:schemeClr val="tx2"/>
                </a:solidFill>
              </a:rPr>
              <a:t>Problem Statement</a:t>
            </a:r>
            <a:endParaRPr lang="en-US" sz="2800" dirty="0"/>
          </a:p>
        </p:txBody>
      </p:sp>
      <p:sp>
        <p:nvSpPr>
          <p:cNvPr id="4" name="text-80"/>
          <p:cNvSpPr txBox="1"/>
          <p:nvPr/>
        </p:nvSpPr>
        <p:spPr>
          <a:xfrm>
            <a:off x="457200" y="1005840"/>
            <a:ext cx="8229600" cy="594360"/>
          </a:xfrm>
          <a:prstGeom prst="rect">
            <a:avLst/>
          </a:prstGeom>
          <a:noFill/>
          <a:ln/>
        </p:spPr>
        <p:txBody>
          <a:bodyPr wrap="square" lIns="0" tIns="0" rIns="0" bIns="0" rtlCol="0" anchor="t"/>
          <a:lstStyle/>
          <a:p>
            <a:pPr indent="0" marL="0">
              <a:buNone/>
            </a:pPr>
            <a:r>
              <a:rPr lang="en-US" sz="1600" dirty="0">
                <a:solidFill>
                  <a:schemeClr val="tx1"/>
                </a:solidFill>
              </a:rPr>
              <a:t>The naive rule — “flag any vessel silent for more than 3 hours” — produces an alert feed that is essentially a map of receiver coverage boundaries.</a:t>
            </a:r>
            <a:endParaRPr lang="en-US" sz="1600" dirty="0"/>
          </a:p>
        </p:txBody>
      </p:sp>
      <p:sp>
        <p:nvSpPr>
          <p:cNvPr id="5" name="card-81"/>
          <p:cNvSpPr/>
          <p:nvPr/>
        </p:nvSpPr>
        <p:spPr>
          <a:xfrm>
            <a:off x="457200" y="1783080"/>
            <a:ext cx="2606040" cy="1508760"/>
          </a:xfrm>
          <a:prstGeom prst="roundRect">
            <a:avLst>
              <a:gd name="adj" fmla="val 4848"/>
            </a:avLst>
          </a:prstGeom>
          <a:solidFill>
            <a:schemeClr val="bg2"/>
          </a:solidFill>
          <a:ln w="12700">
            <a:solidFill>
              <a:schemeClr val="bg2"/>
            </a:solidFill>
            <a:prstDash val="solid"/>
          </a:ln>
        </p:spPr>
      </p:sp>
      <p:sp>
        <p:nvSpPr>
          <p:cNvPr id="6" name="text-82"/>
          <p:cNvSpPr txBox="1"/>
          <p:nvPr/>
        </p:nvSpPr>
        <p:spPr>
          <a:xfrm>
            <a:off x="640080" y="1874520"/>
            <a:ext cx="2286000" cy="594360"/>
          </a:xfrm>
          <a:prstGeom prst="rect">
            <a:avLst/>
          </a:prstGeom>
          <a:noFill/>
          <a:ln/>
        </p:spPr>
        <p:txBody>
          <a:bodyPr wrap="square" lIns="0" tIns="0" rIns="0" bIns="0" rtlCol="0" anchor="ctr"/>
          <a:lstStyle/>
          <a:p>
            <a:pPr indent="0" marL="0">
              <a:buNone/>
            </a:pPr>
            <a:r>
              <a:rPr lang="en-US" sz="3000" b="1" dirty="0">
                <a:solidFill>
                  <a:schemeClr val="accent1"/>
                </a:solidFill>
              </a:rPr>
              <a:t>50–100 nm</a:t>
            </a:r>
            <a:endParaRPr lang="en-US" sz="3000" dirty="0"/>
          </a:p>
        </p:txBody>
      </p:sp>
      <p:sp>
        <p:nvSpPr>
          <p:cNvPr id="7" name="text-83"/>
          <p:cNvSpPr txBox="1"/>
          <p:nvPr/>
        </p:nvSpPr>
        <p:spPr>
          <a:xfrm>
            <a:off x="640080" y="2487168"/>
            <a:ext cx="2286000" cy="731520"/>
          </a:xfrm>
          <a:prstGeom prst="rect">
            <a:avLst/>
          </a:prstGeom>
          <a:noFill/>
          <a:ln/>
        </p:spPr>
        <p:txBody>
          <a:bodyPr wrap="square" lIns="0" tIns="0" rIns="0" bIns="0" rtlCol="0" anchor="t"/>
          <a:lstStyle/>
          <a:p>
            <a:pPr indent="0" marL="0">
              <a:buNone/>
            </a:pPr>
            <a:r>
              <a:rPr lang="en-US" sz="1200" dirty="0">
                <a:solidFill>
                  <a:schemeClr val="accent5"/>
                </a:solidFill>
              </a:rPr>
              <a:t>Effective range of coastal AIS receivers; Class B transponders transmit weaker and less often</a:t>
            </a:r>
            <a:endParaRPr lang="en-US" sz="1200" dirty="0"/>
          </a:p>
        </p:txBody>
      </p:sp>
      <p:sp>
        <p:nvSpPr>
          <p:cNvPr id="8" name="card-84"/>
          <p:cNvSpPr/>
          <p:nvPr/>
        </p:nvSpPr>
        <p:spPr>
          <a:xfrm>
            <a:off x="3273552" y="1783080"/>
            <a:ext cx="2606040" cy="1508760"/>
          </a:xfrm>
          <a:prstGeom prst="roundRect">
            <a:avLst>
              <a:gd name="adj" fmla="val 4848"/>
            </a:avLst>
          </a:prstGeom>
          <a:solidFill>
            <a:schemeClr val="bg2"/>
          </a:solidFill>
          <a:ln w="12700">
            <a:solidFill>
              <a:schemeClr val="bg2"/>
            </a:solidFill>
            <a:prstDash val="solid"/>
          </a:ln>
        </p:spPr>
      </p:sp>
      <p:sp>
        <p:nvSpPr>
          <p:cNvPr id="9" name="text-85"/>
          <p:cNvSpPr txBox="1"/>
          <p:nvPr/>
        </p:nvSpPr>
        <p:spPr>
          <a:xfrm>
            <a:off x="3456432" y="1874520"/>
            <a:ext cx="2286000" cy="594360"/>
          </a:xfrm>
          <a:prstGeom prst="rect">
            <a:avLst/>
          </a:prstGeom>
          <a:noFill/>
          <a:ln/>
        </p:spPr>
        <p:txBody>
          <a:bodyPr wrap="square" lIns="0" tIns="0" rIns="0" bIns="0" rtlCol="0" anchor="ctr"/>
          <a:lstStyle/>
          <a:p>
            <a:pPr indent="0" marL="0">
              <a:buNone/>
            </a:pPr>
            <a:r>
              <a:rPr lang="en-US" sz="3000" b="1" dirty="0">
                <a:solidFill>
                  <a:schemeClr val="accent3"/>
                </a:solidFill>
              </a:rPr>
              <a:t>&gt;58%</a:t>
            </a:r>
            <a:endParaRPr lang="en-US" sz="3000" dirty="0"/>
          </a:p>
        </p:txBody>
      </p:sp>
      <p:sp>
        <p:nvSpPr>
          <p:cNvPr id="10" name="text-86"/>
          <p:cNvSpPr txBox="1"/>
          <p:nvPr/>
        </p:nvSpPr>
        <p:spPr>
          <a:xfrm>
            <a:off x="3456432" y="2487168"/>
            <a:ext cx="2286000" cy="731520"/>
          </a:xfrm>
          <a:prstGeom prst="rect">
            <a:avLst/>
          </a:prstGeom>
          <a:noFill/>
          <a:ln/>
        </p:spPr>
        <p:txBody>
          <a:bodyPr wrap="square" lIns="0" tIns="0" rIns="0" bIns="0" rtlCol="0" anchor="t"/>
          <a:lstStyle/>
          <a:p>
            <a:pPr indent="0" marL="0">
              <a:buNone/>
            </a:pPr>
            <a:r>
              <a:rPr lang="en-US" sz="1200" dirty="0">
                <a:solidFill>
                  <a:schemeClr val="accent5"/>
                </a:solidFill>
              </a:rPr>
              <a:t>of alerts from a flat 3-hour threshold are false alarms caused by receiver drop-off</a:t>
            </a:r>
            <a:endParaRPr lang="en-US" sz="1200" dirty="0"/>
          </a:p>
        </p:txBody>
      </p:sp>
      <p:sp>
        <p:nvSpPr>
          <p:cNvPr id="11" name="card-87"/>
          <p:cNvSpPr/>
          <p:nvPr/>
        </p:nvSpPr>
        <p:spPr>
          <a:xfrm>
            <a:off x="6089904" y="1783080"/>
            <a:ext cx="2606040" cy="1508760"/>
          </a:xfrm>
          <a:prstGeom prst="roundRect">
            <a:avLst>
              <a:gd name="adj" fmla="val 4848"/>
            </a:avLst>
          </a:prstGeom>
          <a:solidFill>
            <a:schemeClr val="bg2"/>
          </a:solidFill>
          <a:ln w="12700">
            <a:solidFill>
              <a:schemeClr val="bg2"/>
            </a:solidFill>
            <a:prstDash val="solid"/>
          </a:ln>
        </p:spPr>
      </p:sp>
      <p:sp>
        <p:nvSpPr>
          <p:cNvPr id="12" name="text-88"/>
          <p:cNvSpPr txBox="1"/>
          <p:nvPr/>
        </p:nvSpPr>
        <p:spPr>
          <a:xfrm>
            <a:off x="6272784" y="1874520"/>
            <a:ext cx="2286000" cy="594360"/>
          </a:xfrm>
          <a:prstGeom prst="rect">
            <a:avLst/>
          </a:prstGeom>
          <a:noFill/>
          <a:ln/>
        </p:spPr>
        <p:txBody>
          <a:bodyPr wrap="square" lIns="0" tIns="0" rIns="0" bIns="0" rtlCol="0" anchor="ctr"/>
          <a:lstStyle/>
          <a:p>
            <a:pPr indent="0" marL="0">
              <a:buNone/>
            </a:pPr>
            <a:r>
              <a:rPr lang="en-US" sz="3000" b="1" dirty="0">
                <a:solidFill>
                  <a:schemeClr val="accent1"/>
                </a:solidFill>
              </a:rPr>
              <a:t>No event</a:t>
            </a:r>
            <a:endParaRPr lang="en-US" sz="3000" dirty="0"/>
          </a:p>
        </p:txBody>
      </p:sp>
      <p:sp>
        <p:nvSpPr>
          <p:cNvPr id="13" name="text-89"/>
          <p:cNvSpPr txBox="1"/>
          <p:nvPr/>
        </p:nvSpPr>
        <p:spPr>
          <a:xfrm>
            <a:off x="6272784" y="2487168"/>
            <a:ext cx="2286000" cy="731520"/>
          </a:xfrm>
          <a:prstGeom prst="rect">
            <a:avLst/>
          </a:prstGeom>
          <a:noFill/>
          <a:ln/>
        </p:spPr>
        <p:txBody>
          <a:bodyPr wrap="square" lIns="0" tIns="0" rIns="0" bIns="0" rtlCol="0" anchor="t"/>
          <a:lstStyle/>
          <a:p>
            <a:pPr indent="0" marL="0">
              <a:buNone/>
            </a:pPr>
            <a:r>
              <a:rPr lang="en-US" sz="1200" dirty="0">
                <a:solidFill>
                  <a:schemeClr val="accent5"/>
                </a:solidFill>
              </a:rPr>
              <a:t>A dark vessel produces no message — the trigger is the absence of data in a live stream</a:t>
            </a:r>
            <a:endParaRPr lang="en-US" sz="1200" dirty="0"/>
          </a:p>
        </p:txBody>
      </p:sp>
      <p:sp>
        <p:nvSpPr>
          <p:cNvPr id="14" name="card-90"/>
          <p:cNvSpPr/>
          <p:nvPr/>
        </p:nvSpPr>
        <p:spPr>
          <a:xfrm>
            <a:off x="457200" y="3520440"/>
            <a:ext cx="8229600" cy="960120"/>
          </a:xfrm>
          <a:prstGeom prst="roundRect">
            <a:avLst>
              <a:gd name="adj" fmla="val 7619"/>
            </a:avLst>
          </a:prstGeom>
          <a:solidFill>
            <a:schemeClr val="tx2"/>
          </a:solidFill>
          <a:ln w="12700">
            <a:solidFill>
              <a:schemeClr val="tx2"/>
            </a:solidFill>
            <a:prstDash val="solid"/>
          </a:ln>
        </p:spPr>
      </p:sp>
      <p:sp>
        <p:nvSpPr>
          <p:cNvPr id="15" name="text-91"/>
          <p:cNvSpPr txBox="1"/>
          <p:nvPr/>
        </p:nvSpPr>
        <p:spPr>
          <a:xfrm>
            <a:off x="685800" y="3520440"/>
            <a:ext cx="7772400" cy="960120"/>
          </a:xfrm>
          <a:prstGeom prst="rect">
            <a:avLst/>
          </a:prstGeom>
          <a:noFill/>
          <a:ln/>
        </p:spPr>
        <p:txBody>
          <a:bodyPr wrap="square" lIns="0" tIns="0" rIns="0" bIns="0" rtlCol="0" anchor="ctr"/>
          <a:lstStyle/>
          <a:p>
            <a:pPr indent="0" marL="0">
              <a:buNone/>
            </a:pPr>
            <a:r>
              <a:rPr lang="en-US" sz="1600" b="1" dirty="0">
                <a:solidFill>
                  <a:schemeClr val="accent3"/>
                </a:solidFill>
              </a:rPr>
              <a:t>Core problem:  </a:t>
            </a:r>
            <a:pPr indent="0" marL="0">
              <a:buNone/>
            </a:pPr>
            <a:r>
              <a:rPr lang="en-US" sz="1600" dirty="0">
                <a:solidFill>
                  <a:schemeClr val="bg1"/>
                </a:solidFill>
              </a:rPr>
              <a:t>separate AIS gaps caused by vessel behaviour from gaps caused by observation limits — and do it on a live stream, at scale.</a:t>
            </a:r>
            <a:endParaRPr lang="en-US" sz="1600" dirty="0"/>
          </a:p>
        </p:txBody>
      </p:sp>
      <p:sp>
        <p:nvSpPr>
          <p:cNvPr id="25" name="Slide Number Placeholder 0"/>
          <p:cNvSpPr>
            <a:spLocks noGrp="1"/>
          </p:cNvSpPr>
          <p:nvPr>
            <p:ph type="sldNum" sz="quarter" idx="4294967295"/>
          </p:nvPr>
        </p:nvSpPr>
        <p:spPr>
          <a:xfrm>
            <a:off x="8229600" y="479145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800" b="1" dirty="0">
                <a:solidFill>
                  <a:schemeClr val="tx2"/>
                </a:solidFill>
              </a:rPr>
              <a:t>Key Insight: AIS Gap ≠ Dark Vessel</a:t>
            </a:r>
            <a:endParaRPr lang="en-US" sz="2800" dirty="0"/>
          </a:p>
        </p:txBody>
      </p:sp>
      <p:sp>
        <p:nvSpPr>
          <p:cNvPr id="4" name="card-92"/>
          <p:cNvSpPr/>
          <p:nvPr/>
        </p:nvSpPr>
        <p:spPr>
          <a:xfrm>
            <a:off x="457200" y="1005840"/>
            <a:ext cx="5212080" cy="3474720"/>
          </a:xfrm>
          <a:prstGeom prst="roundRect">
            <a:avLst>
              <a:gd name="adj" fmla="val 2105"/>
            </a:avLst>
          </a:prstGeom>
          <a:solidFill>
            <a:schemeClr val="bg2"/>
          </a:solidFill>
          <a:ln w="12700">
            <a:solidFill>
              <a:schemeClr val="bg2"/>
            </a:solidFill>
            <a:prstDash val="solid"/>
          </a:ln>
        </p:spPr>
      </p:sp>
      <p:sp>
        <p:nvSpPr>
          <p:cNvPr id="5" name="land"/>
          <p:cNvSpPr/>
          <p:nvPr/>
        </p:nvSpPr>
        <p:spPr>
          <a:xfrm>
            <a:off x="457200" y="1005840"/>
            <a:ext cx="502920" cy="3474720"/>
          </a:xfrm>
          <a:prstGeom prst="rect">
            <a:avLst/>
          </a:prstGeom>
          <a:solidFill>
            <a:schemeClr val="accent4"/>
          </a:solidFill>
          <a:ln w="12700">
            <a:solidFill>
              <a:schemeClr val="accent4"/>
            </a:solidFill>
            <a:prstDash val="solid"/>
          </a:ln>
        </p:spPr>
      </p:sp>
      <p:sp>
        <p:nvSpPr>
          <p:cNvPr id="6" name="text-93"/>
          <p:cNvSpPr txBox="1"/>
          <p:nvPr/>
        </p:nvSpPr>
        <p:spPr>
          <a:xfrm>
            <a:off x="457200" y="4114800"/>
            <a:ext cx="502920" cy="274320"/>
          </a:xfrm>
          <a:prstGeom prst="rect">
            <a:avLst/>
          </a:prstGeom>
          <a:noFill/>
          <a:ln/>
        </p:spPr>
        <p:txBody>
          <a:bodyPr wrap="square" lIns="0" tIns="0" rIns="0" bIns="0" rtlCol="0" anchor="t"/>
          <a:lstStyle/>
          <a:p>
            <a:pPr algn="ctr" indent="0" marL="0">
              <a:buNone/>
            </a:pPr>
            <a:r>
              <a:rPr lang="en-US" sz="900" b="1" dirty="0">
                <a:solidFill>
                  <a:schemeClr val="bg1"/>
                </a:solidFill>
              </a:rPr>
              <a:t>COAST</a:t>
            </a:r>
            <a:endParaRPr lang="en-US" sz="900" dirty="0"/>
          </a:p>
        </p:txBody>
      </p:sp>
      <p:sp>
        <p:nvSpPr>
          <p:cNvPr id="7" name="circle-94"/>
          <p:cNvSpPr/>
          <p:nvPr/>
        </p:nvSpPr>
        <p:spPr>
          <a:xfrm>
            <a:off x="548640" y="1188720"/>
            <a:ext cx="329184" cy="329184"/>
          </a:xfrm>
          <a:prstGeom prst="ellipse">
            <a:avLst/>
          </a:prstGeom>
          <a:solidFill>
            <a:schemeClr val="tx2"/>
          </a:solidFill>
          <a:ln w="12700">
            <a:solidFill>
              <a:schemeClr val="tx2"/>
            </a:solidFill>
            <a:prstDash val="solid"/>
          </a:ln>
        </p:spPr>
      </p:sp>
      <p:pic>
        <p:nvPicPr>
          <p:cNvPr id="8" name="icon-95" descr="preencoded.png">    </p:cNvPr>
          <p:cNvPicPr>
            <a:picLocks noChangeAspect="1"/>
          </p:cNvPicPr>
          <p:nvPr/>
        </p:nvPicPr>
        <p:blipFill>
          <a:blip r:embed="rId1"/>
          <a:stretch>
            <a:fillRect/>
          </a:stretch>
        </p:blipFill>
        <p:spPr>
          <a:xfrm>
            <a:off x="634228" y="1274308"/>
            <a:ext cx="158008" cy="158008"/>
          </a:xfrm>
          <a:prstGeom prst="rect">
            <a:avLst/>
          </a:prstGeom>
        </p:spPr>
      </p:pic>
      <p:sp>
        <p:nvSpPr>
          <p:cNvPr id="9" name="boundary"/>
          <p:cNvSpPr/>
          <p:nvPr/>
        </p:nvSpPr>
        <p:spPr>
          <a:xfrm>
            <a:off x="3017520" y="1097280"/>
            <a:ext cx="0" cy="3291840"/>
          </a:xfrm>
          <a:prstGeom prst="line">
            <a:avLst/>
          </a:prstGeom>
          <a:noFill/>
          <a:ln w="15875">
            <a:solidFill>
              <a:schemeClr val="accent5"/>
            </a:solidFill>
            <a:prstDash val="dash"/>
          </a:ln>
        </p:spPr>
      </p:sp>
      <p:sp>
        <p:nvSpPr>
          <p:cNvPr id="10" name="text-96"/>
          <p:cNvSpPr txBox="1"/>
          <p:nvPr/>
        </p:nvSpPr>
        <p:spPr>
          <a:xfrm>
            <a:off x="2103120" y="1078992"/>
            <a:ext cx="1828800" cy="228600"/>
          </a:xfrm>
          <a:prstGeom prst="rect">
            <a:avLst/>
          </a:prstGeom>
          <a:solidFill>
            <a:schemeClr val="bg2"/>
          </a:solidFill>
          <a:ln/>
        </p:spPr>
        <p:txBody>
          <a:bodyPr wrap="square" lIns="0" tIns="0" rIns="0" bIns="0" rtlCol="0" anchor="t"/>
          <a:lstStyle/>
          <a:p>
            <a:pPr algn="ctr" indent="0" marL="0">
              <a:buNone/>
            </a:pPr>
            <a:r>
              <a:rPr lang="en-US" sz="1000" dirty="0">
                <a:solidFill>
                  <a:schemeClr val="accent5"/>
                </a:solidFill>
              </a:rPr>
              <a:t>~75 nm coverage boundary</a:t>
            </a:r>
            <a:endParaRPr lang="en-US" sz="1000" dirty="0"/>
          </a:p>
        </p:txBody>
      </p:sp>
      <p:sp>
        <p:nvSpPr>
          <p:cNvPr id="11" name="text-97"/>
          <p:cNvSpPr txBox="1"/>
          <p:nvPr/>
        </p:nvSpPr>
        <p:spPr>
          <a:xfrm>
            <a:off x="1143000" y="1417320"/>
            <a:ext cx="1783080" cy="457200"/>
          </a:xfrm>
          <a:prstGeom prst="rect">
            <a:avLst/>
          </a:prstGeom>
          <a:noFill/>
          <a:ln/>
        </p:spPr>
        <p:txBody>
          <a:bodyPr wrap="square" lIns="0" tIns="0" rIns="0" bIns="0" rtlCol="0" anchor="t"/>
          <a:lstStyle/>
          <a:p>
            <a:pPr indent="0" marL="0">
              <a:buNone/>
            </a:pPr>
            <a:r>
              <a:rPr lang="en-US" sz="1100" b="1" dirty="0">
                <a:solidFill>
                  <a:schemeClr val="tx2"/>
                </a:solidFill>
              </a:rPr>
              <a:t>High reception</a:t>
            </a:r>
            <a:endParaRPr lang="en-US" sz="1100" dirty="0"/>
          </a:p>
          <a:p>
            <a:pPr indent="0" marL="0">
              <a:buNone/>
            </a:pPr>
            <a:r>
              <a:rPr lang="en-US" sz="1100" b="1" dirty="0">
                <a:solidFill>
                  <a:schemeClr val="tx2"/>
                </a:solidFill>
              </a:rPr>
              <a:t>normal gap ≈ 2 min</a:t>
            </a:r>
            <a:endParaRPr lang="en-US" sz="1100" dirty="0"/>
          </a:p>
        </p:txBody>
      </p:sp>
      <p:sp>
        <p:nvSpPr>
          <p:cNvPr id="12" name="text-98"/>
          <p:cNvSpPr txBox="1"/>
          <p:nvPr/>
        </p:nvSpPr>
        <p:spPr>
          <a:xfrm>
            <a:off x="3200400" y="1417320"/>
            <a:ext cx="2286000" cy="457200"/>
          </a:xfrm>
          <a:prstGeom prst="rect">
            <a:avLst/>
          </a:prstGeom>
          <a:noFill/>
          <a:ln/>
        </p:spPr>
        <p:txBody>
          <a:bodyPr wrap="square" lIns="0" tIns="0" rIns="0" bIns="0" rtlCol="0" anchor="t"/>
          <a:lstStyle/>
          <a:p>
            <a:pPr indent="0" marL="0">
              <a:buNone/>
            </a:pPr>
            <a:r>
              <a:rPr lang="en-US" sz="1100" b="1" dirty="0">
                <a:solidFill>
                  <a:schemeClr val="tx2"/>
                </a:solidFill>
              </a:rPr>
              <a:t>Sparse reception</a:t>
            </a:r>
            <a:endParaRPr lang="en-US" sz="1100" dirty="0"/>
          </a:p>
          <a:p>
            <a:pPr indent="0" marL="0">
              <a:buNone/>
            </a:pPr>
            <a:r>
              <a:rPr lang="en-US" sz="1100" b="1" dirty="0">
                <a:solidFill>
                  <a:schemeClr val="tx2"/>
                </a:solidFill>
              </a:rPr>
              <a:t>normal gap 2–6 h</a:t>
            </a:r>
            <a:endParaRPr lang="en-US" sz="1100" dirty="0"/>
          </a:p>
        </p:txBody>
      </p:sp>
      <p:sp>
        <p:nvSpPr>
          <p:cNvPr id="13" name="dot-99"/>
          <p:cNvSpPr/>
          <p:nvPr/>
        </p:nvSpPr>
        <p:spPr>
          <a:xfrm>
            <a:off x="1965960" y="2148840"/>
            <a:ext cx="182880" cy="182880"/>
          </a:xfrm>
          <a:prstGeom prst="ellipse">
            <a:avLst/>
          </a:prstGeom>
          <a:solidFill>
            <a:schemeClr val="accent3"/>
          </a:solidFill>
          <a:ln w="12700">
            <a:solidFill>
              <a:schemeClr val="accent3"/>
            </a:solidFill>
            <a:prstDash val="solid"/>
          </a:ln>
        </p:spPr>
      </p:sp>
      <p:sp>
        <p:nvSpPr>
          <p:cNvPr id="14" name="card-100"/>
          <p:cNvSpPr/>
          <p:nvPr/>
        </p:nvSpPr>
        <p:spPr>
          <a:xfrm>
            <a:off x="1097280" y="2514600"/>
            <a:ext cx="1828800" cy="1691640"/>
          </a:xfrm>
          <a:prstGeom prst="roundRect">
            <a:avLst>
              <a:gd name="adj" fmla="val 4324"/>
            </a:avLst>
          </a:prstGeom>
          <a:solidFill>
            <a:schemeClr val="bg1"/>
          </a:solidFill>
          <a:ln w="12700">
            <a:solidFill>
              <a:schemeClr val="bg1"/>
            </a:solidFill>
            <a:prstDash val="solid"/>
          </a:ln>
        </p:spPr>
      </p:sp>
      <p:sp>
        <p:nvSpPr>
          <p:cNvPr id="15" name="text-101"/>
          <p:cNvSpPr txBox="1"/>
          <p:nvPr/>
        </p:nvSpPr>
        <p:spPr>
          <a:xfrm>
            <a:off x="1234440" y="2606040"/>
            <a:ext cx="1645920" cy="1554480"/>
          </a:xfrm>
          <a:prstGeom prst="rect">
            <a:avLst/>
          </a:prstGeom>
          <a:noFill/>
          <a:ln/>
        </p:spPr>
        <p:txBody>
          <a:bodyPr wrap="square" lIns="0" tIns="0" rIns="0" bIns="0" rtlCol="0" anchor="t"/>
          <a:lstStyle/>
          <a:p>
            <a:pPr indent="0" marL="0">
              <a:buNone/>
            </a:pPr>
            <a:r>
              <a:rPr lang="en-US" sz="1200" b="1" dirty="0">
                <a:solidFill>
                  <a:schemeClr val="tx1"/>
                </a:solidFill>
              </a:rPr>
              <a:t>Vessel A</a:t>
            </a:r>
            <a:endParaRPr lang="en-US" sz="1200" dirty="0"/>
          </a:p>
          <a:p>
            <a:pPr indent="0" marL="0">
              <a:buNone/>
            </a:pPr>
            <a:r>
              <a:rPr lang="en-US" sz="1200" dirty="0">
                <a:solidFill>
                  <a:schemeClr val="tx1"/>
                </a:solidFill>
              </a:rPr>
              <a:t>Observed gap: 3 h</a:t>
            </a:r>
            <a:endParaRPr lang="en-US" sz="1200" dirty="0"/>
          </a:p>
          <a:p>
            <a:pPr indent="0" marL="0">
              <a:buNone/>
            </a:pPr>
            <a:r>
              <a:rPr lang="en-US" sz="1200" dirty="0">
                <a:solidFill>
                  <a:schemeClr val="tx1"/>
                </a:solidFill>
              </a:rPr>
              <a:t>Cell p99: 15 min</a:t>
            </a:r>
            <a:endParaRPr lang="en-US" sz="1200" dirty="0"/>
          </a:p>
          <a:p>
            <a:pPr indent="0" marL="0">
              <a:buNone/>
            </a:pPr>
            <a:r>
              <a:rPr lang="en-US" sz="1600" b="1" dirty="0">
                <a:solidFill>
                  <a:schemeClr val="accent3"/>
                </a:solidFill>
              </a:rPr>
              <a:t>Score 12.0×</a:t>
            </a:r>
            <a:endParaRPr lang="en-US" sz="1200" dirty="0"/>
          </a:p>
          <a:p>
            <a:pPr indent="0" marL="0">
              <a:buNone/>
            </a:pPr>
            <a:r>
              <a:rPr lang="en-US" sz="1200" b="1" dirty="0">
                <a:solidFill>
                  <a:schemeClr val="accent3"/>
                </a:solidFill>
              </a:rPr>
              <a:t>ALERT</a:t>
            </a:r>
            <a:endParaRPr lang="en-US" sz="1200" dirty="0"/>
          </a:p>
        </p:txBody>
      </p:sp>
      <p:sp>
        <p:nvSpPr>
          <p:cNvPr id="16" name="dot-102"/>
          <p:cNvSpPr/>
          <p:nvPr/>
        </p:nvSpPr>
        <p:spPr>
          <a:xfrm>
            <a:off x="4114800" y="2148840"/>
            <a:ext cx="182880" cy="182880"/>
          </a:xfrm>
          <a:prstGeom prst="ellipse">
            <a:avLst/>
          </a:prstGeom>
          <a:solidFill>
            <a:schemeClr val="accent5"/>
          </a:solidFill>
          <a:ln w="12700">
            <a:solidFill>
              <a:schemeClr val="accent5"/>
            </a:solidFill>
            <a:prstDash val="solid"/>
          </a:ln>
        </p:spPr>
      </p:sp>
      <p:sp>
        <p:nvSpPr>
          <p:cNvPr id="17" name="card-103"/>
          <p:cNvSpPr/>
          <p:nvPr/>
        </p:nvSpPr>
        <p:spPr>
          <a:xfrm>
            <a:off x="3246120" y="2514600"/>
            <a:ext cx="2240280" cy="1691640"/>
          </a:xfrm>
          <a:prstGeom prst="roundRect">
            <a:avLst>
              <a:gd name="adj" fmla="val 4324"/>
            </a:avLst>
          </a:prstGeom>
          <a:solidFill>
            <a:schemeClr val="bg1"/>
          </a:solidFill>
          <a:ln w="12700">
            <a:solidFill>
              <a:schemeClr val="bg1"/>
            </a:solidFill>
            <a:prstDash val="solid"/>
          </a:ln>
        </p:spPr>
      </p:sp>
      <p:sp>
        <p:nvSpPr>
          <p:cNvPr id="18" name="text-104"/>
          <p:cNvSpPr txBox="1"/>
          <p:nvPr/>
        </p:nvSpPr>
        <p:spPr>
          <a:xfrm>
            <a:off x="3383280" y="2606040"/>
            <a:ext cx="2011680" cy="1554480"/>
          </a:xfrm>
          <a:prstGeom prst="rect">
            <a:avLst/>
          </a:prstGeom>
          <a:noFill/>
          <a:ln/>
        </p:spPr>
        <p:txBody>
          <a:bodyPr wrap="square" lIns="0" tIns="0" rIns="0" bIns="0" rtlCol="0" anchor="t"/>
          <a:lstStyle/>
          <a:p>
            <a:pPr indent="0" marL="0">
              <a:buNone/>
            </a:pPr>
            <a:r>
              <a:rPr lang="en-US" sz="1200" b="1" dirty="0">
                <a:solidFill>
                  <a:schemeClr val="tx1"/>
                </a:solidFill>
              </a:rPr>
              <a:t>Vessel B</a:t>
            </a:r>
            <a:endParaRPr lang="en-US" sz="1200" dirty="0"/>
          </a:p>
          <a:p>
            <a:pPr indent="0" marL="0">
              <a:buNone/>
            </a:pPr>
            <a:r>
              <a:rPr lang="en-US" sz="1200" dirty="0">
                <a:solidFill>
                  <a:schemeClr val="tx1"/>
                </a:solidFill>
              </a:rPr>
              <a:t>Observed gap: 3 h</a:t>
            </a:r>
            <a:endParaRPr lang="en-US" sz="1200" dirty="0"/>
          </a:p>
          <a:p>
            <a:pPr indent="0" marL="0">
              <a:buNone/>
            </a:pPr>
            <a:r>
              <a:rPr lang="en-US" sz="1200" dirty="0">
                <a:solidFill>
                  <a:schemeClr val="tx1"/>
                </a:solidFill>
              </a:rPr>
              <a:t>Cell p99: 4 h</a:t>
            </a:r>
            <a:endParaRPr lang="en-US" sz="1200" dirty="0"/>
          </a:p>
          <a:p>
            <a:pPr indent="0" marL="0">
              <a:buNone/>
            </a:pPr>
            <a:r>
              <a:rPr lang="en-US" sz="1600" b="1" dirty="0">
                <a:solidFill>
                  <a:schemeClr val="accent5"/>
                </a:solidFill>
              </a:rPr>
              <a:t>Score 0.75×</a:t>
            </a:r>
            <a:endParaRPr lang="en-US" sz="1200" dirty="0"/>
          </a:p>
          <a:p>
            <a:pPr indent="0" marL="0">
              <a:buNone/>
            </a:pPr>
            <a:r>
              <a:rPr lang="en-US" sz="1200" b="1" dirty="0">
                <a:solidFill>
                  <a:schemeClr val="accent5"/>
                </a:solidFill>
              </a:rPr>
              <a:t>SUPPRESSED</a:t>
            </a:r>
            <a:endParaRPr lang="en-US" sz="1200" dirty="0"/>
          </a:p>
        </p:txBody>
      </p:sp>
      <p:sp>
        <p:nvSpPr>
          <p:cNvPr id="19" name="card-105"/>
          <p:cNvSpPr/>
          <p:nvPr/>
        </p:nvSpPr>
        <p:spPr>
          <a:xfrm>
            <a:off x="5897880" y="1005840"/>
            <a:ext cx="2788920" cy="1325880"/>
          </a:xfrm>
          <a:prstGeom prst="roundRect">
            <a:avLst>
              <a:gd name="adj" fmla="val 5517"/>
            </a:avLst>
          </a:prstGeom>
          <a:solidFill>
            <a:schemeClr val="tx2"/>
          </a:solidFill>
          <a:ln w="12700">
            <a:solidFill>
              <a:schemeClr val="tx2"/>
            </a:solidFill>
            <a:prstDash val="solid"/>
          </a:ln>
        </p:spPr>
      </p:sp>
      <p:sp>
        <p:nvSpPr>
          <p:cNvPr id="20" name="text-106"/>
          <p:cNvSpPr txBox="1"/>
          <p:nvPr/>
        </p:nvSpPr>
        <p:spPr>
          <a:xfrm>
            <a:off x="6080760" y="1097280"/>
            <a:ext cx="2468880" cy="274320"/>
          </a:xfrm>
          <a:prstGeom prst="rect">
            <a:avLst/>
          </a:prstGeom>
          <a:noFill/>
          <a:ln/>
        </p:spPr>
        <p:txBody>
          <a:bodyPr wrap="square" lIns="0" tIns="0" rIns="0" bIns="0" rtlCol="0" anchor="t"/>
          <a:lstStyle/>
          <a:p>
            <a:pPr indent="0" marL="0">
              <a:buNone/>
            </a:pPr>
            <a:r>
              <a:rPr lang="en-US" sz="1200" b="1" dirty="0">
                <a:solidFill>
                  <a:schemeClr val="accent4"/>
                </a:solidFill>
              </a:rPr>
              <a:t>Anomaly gap score</a:t>
            </a:r>
            <a:endParaRPr lang="en-US" sz="1200" dirty="0"/>
          </a:p>
        </p:txBody>
      </p:sp>
      <p:sp>
        <p:nvSpPr>
          <p:cNvPr id="21" name="text-107"/>
          <p:cNvSpPr txBox="1"/>
          <p:nvPr/>
        </p:nvSpPr>
        <p:spPr>
          <a:xfrm>
            <a:off x="6080760" y="1371600"/>
            <a:ext cx="2468880" cy="868680"/>
          </a:xfrm>
          <a:prstGeom prst="rect">
            <a:avLst/>
          </a:prstGeom>
          <a:noFill/>
          <a:ln/>
        </p:spPr>
        <p:txBody>
          <a:bodyPr wrap="square" lIns="0" tIns="0" rIns="0" bIns="0" rtlCol="0" anchor="ctr"/>
          <a:lstStyle/>
          <a:p>
            <a:pPr algn="ctr" indent="0" marL="0">
              <a:buNone/>
            </a:pPr>
            <a:r>
              <a:rPr lang="en-US" sz="1400" dirty="0">
                <a:solidFill>
                  <a:schemeClr val="bg1"/>
                </a:solidFill>
              </a:rPr>
              <a:t>observed gap</a:t>
            </a:r>
            <a:endParaRPr lang="en-US" sz="1400" dirty="0"/>
          </a:p>
          <a:p>
            <a:pPr algn="ctr" indent="0" marL="0">
              <a:buNone/>
            </a:pPr>
            <a:r>
              <a:rPr lang="en-US" sz="1400" dirty="0">
                <a:solidFill>
                  <a:schemeClr val="accent4"/>
                </a:solidFill>
              </a:rPr>
              <a:t>─────────────</a:t>
            </a:r>
            <a:endParaRPr lang="en-US" sz="1400" dirty="0"/>
          </a:p>
          <a:p>
            <a:pPr algn="ctr" indent="0" marL="0">
              <a:buNone/>
            </a:pPr>
            <a:r>
              <a:rPr lang="en-US" sz="1400" dirty="0">
                <a:solidFill>
                  <a:schemeClr val="bg1"/>
                </a:solidFill>
              </a:rPr>
              <a:t>p99 gap (H3 cell, class)</a:t>
            </a:r>
            <a:endParaRPr lang="en-US" sz="1400" dirty="0"/>
          </a:p>
        </p:txBody>
      </p:sp>
      <p:sp>
        <p:nvSpPr>
          <p:cNvPr id="22" name="text-108"/>
          <p:cNvSpPr txBox="1"/>
          <p:nvPr/>
        </p:nvSpPr>
        <p:spPr>
          <a:xfrm>
            <a:off x="5897880" y="2514600"/>
            <a:ext cx="2788920" cy="19202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H3 hexagons at resolution 5 (≈252 km² each)</a:t>
            </a:r>
            <a:endParaRPr lang="en-US" sz="1300" dirty="0"/>
          </a:p>
          <a:p>
            <a:pPr marL="342900" indent="-342900">
              <a:spcAft>
                <a:spcPts val="800"/>
              </a:spcAft>
              <a:buSzPct val="100000"/>
              <a:buChar char="•"/>
            </a:pPr>
            <a:r>
              <a:rPr lang="en-US" sz="1300" dirty="0">
                <a:solidFill>
                  <a:schemeClr val="tx1"/>
                </a:solidFill>
              </a:rPr>
              <a:t>p50 / p95 / p99 gap per cell and transceiver class (A / B)</a:t>
            </a:r>
            <a:endParaRPr lang="en-US" sz="1300" dirty="0"/>
          </a:p>
          <a:p>
            <a:pPr marL="342900" indent="-342900">
              <a:spcAft>
                <a:spcPts val="800"/>
              </a:spcAft>
              <a:buSzPct val="100000"/>
              <a:buChar char="•"/>
            </a:pPr>
            <a:r>
              <a:rPr lang="en-US" sz="1300" dirty="0">
                <a:solidFill>
                  <a:schemeClr val="tx1"/>
                </a:solidFill>
              </a:rPr>
              <a:t>Cells with &lt; 500 observations are low-confidence and suppressed</a:t>
            </a:r>
            <a:endParaRPr lang="en-US" sz="1300" dirty="0"/>
          </a:p>
        </p:txBody>
      </p:sp>
      <p:sp>
        <p:nvSpPr>
          <p:cNvPr id="25" name="Slide Number Placeholder 0"/>
          <p:cNvSpPr>
            <a:spLocks noGrp="1"/>
          </p:cNvSpPr>
          <p:nvPr>
            <p:ph type="sldNum" sz="quarter" idx="4294967295"/>
          </p:nvPr>
        </p:nvSpPr>
        <p:spPr>
          <a:xfrm>
            <a:off x="8229600" y="479145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800" b="1" dirty="0">
                <a:solidFill>
                  <a:schemeClr val="tx2"/>
                </a:solidFill>
              </a:rPr>
              <a:t>Project Objectives</a:t>
            </a:r>
            <a:endParaRPr lang="en-US" sz="2800" dirty="0"/>
          </a:p>
        </p:txBody>
      </p:sp>
      <p:sp>
        <p:nvSpPr>
          <p:cNvPr id="4" name="card-109"/>
          <p:cNvSpPr/>
          <p:nvPr/>
        </p:nvSpPr>
        <p:spPr>
          <a:xfrm>
            <a:off x="457200" y="1051560"/>
            <a:ext cx="2606040" cy="1554480"/>
          </a:xfrm>
          <a:prstGeom prst="roundRect">
            <a:avLst>
              <a:gd name="adj" fmla="val 4706"/>
            </a:avLst>
          </a:prstGeom>
          <a:solidFill>
            <a:schemeClr val="bg2"/>
          </a:solidFill>
          <a:ln w="12700">
            <a:solidFill>
              <a:schemeClr val="bg2"/>
            </a:solidFill>
            <a:prstDash val="solid"/>
          </a:ln>
        </p:spPr>
      </p:sp>
      <p:sp>
        <p:nvSpPr>
          <p:cNvPr id="5" name="num-110"/>
          <p:cNvSpPr/>
          <p:nvPr/>
        </p:nvSpPr>
        <p:spPr>
          <a:xfrm>
            <a:off x="640080" y="1234440"/>
            <a:ext cx="457200" cy="457200"/>
          </a:xfrm>
          <a:prstGeom prst="ellipse">
            <a:avLst/>
          </a:prstGeom>
          <a:solidFill>
            <a:schemeClr val="accent1"/>
          </a:solidFill>
          <a:ln w="12700">
            <a:solidFill>
              <a:schemeClr val="accent1"/>
            </a:solidFill>
            <a:prstDash val="solid"/>
          </a:ln>
        </p:spPr>
      </p:sp>
      <p:sp>
        <p:nvSpPr>
          <p:cNvPr id="6" name="text-111"/>
          <p:cNvSpPr txBox="1"/>
          <p:nvPr/>
        </p:nvSpPr>
        <p:spPr>
          <a:xfrm>
            <a:off x="640080" y="123444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G1</a:t>
            </a:r>
            <a:endParaRPr lang="en-US" sz="1300" dirty="0"/>
          </a:p>
        </p:txBody>
      </p:sp>
      <p:sp>
        <p:nvSpPr>
          <p:cNvPr id="7" name="text-112"/>
          <p:cNvSpPr txBox="1"/>
          <p:nvPr/>
        </p:nvSpPr>
        <p:spPr>
          <a:xfrm>
            <a:off x="1234440" y="1234440"/>
            <a:ext cx="1737360" cy="457200"/>
          </a:xfrm>
          <a:prstGeom prst="rect">
            <a:avLst/>
          </a:prstGeom>
          <a:noFill/>
          <a:ln/>
        </p:spPr>
        <p:txBody>
          <a:bodyPr wrap="square" lIns="0" tIns="0" rIns="0" bIns="0" rtlCol="0" anchor="ctr"/>
          <a:lstStyle/>
          <a:p>
            <a:pPr indent="0" marL="0">
              <a:buNone/>
            </a:pPr>
            <a:r>
              <a:rPr lang="en-US" sz="1400" b="1" dirty="0">
                <a:solidFill>
                  <a:schemeClr val="tx2"/>
                </a:solidFill>
              </a:rPr>
              <a:t>Context-aware detection</a:t>
            </a:r>
            <a:endParaRPr lang="en-US" sz="1400" dirty="0"/>
          </a:p>
        </p:txBody>
      </p:sp>
      <p:sp>
        <p:nvSpPr>
          <p:cNvPr id="8" name="text-113"/>
          <p:cNvSpPr txBox="1"/>
          <p:nvPr/>
        </p:nvSpPr>
        <p:spPr>
          <a:xfrm>
            <a:off x="640080" y="1828800"/>
            <a:ext cx="2286000" cy="731520"/>
          </a:xfrm>
          <a:prstGeom prst="rect">
            <a:avLst/>
          </a:prstGeom>
          <a:noFill/>
          <a:ln/>
        </p:spPr>
        <p:txBody>
          <a:bodyPr wrap="square" lIns="0" tIns="0" rIns="0" bIns="0" rtlCol="0" anchor="t"/>
          <a:lstStyle/>
          <a:p>
            <a:pPr indent="0" marL="0">
              <a:buNone/>
            </a:pPr>
            <a:r>
              <a:rPr lang="en-US" sz="1200" dirty="0">
                <a:solidFill>
                  <a:schemeClr val="accent5"/>
                </a:solidFill>
              </a:rPr>
              <a:t>Flag gaps that are anomalous relative to local observation conditions</a:t>
            </a:r>
            <a:endParaRPr lang="en-US" sz="1200" dirty="0"/>
          </a:p>
        </p:txBody>
      </p:sp>
      <p:sp>
        <p:nvSpPr>
          <p:cNvPr id="9" name="card-114"/>
          <p:cNvSpPr/>
          <p:nvPr/>
        </p:nvSpPr>
        <p:spPr>
          <a:xfrm>
            <a:off x="3273552" y="1051560"/>
            <a:ext cx="2606040" cy="1554480"/>
          </a:xfrm>
          <a:prstGeom prst="roundRect">
            <a:avLst>
              <a:gd name="adj" fmla="val 4706"/>
            </a:avLst>
          </a:prstGeom>
          <a:solidFill>
            <a:schemeClr val="bg2"/>
          </a:solidFill>
          <a:ln w="12700">
            <a:solidFill>
              <a:schemeClr val="bg2"/>
            </a:solidFill>
            <a:prstDash val="solid"/>
          </a:ln>
        </p:spPr>
      </p:sp>
      <p:sp>
        <p:nvSpPr>
          <p:cNvPr id="10" name="num-115"/>
          <p:cNvSpPr/>
          <p:nvPr/>
        </p:nvSpPr>
        <p:spPr>
          <a:xfrm>
            <a:off x="3456432" y="1234440"/>
            <a:ext cx="457200" cy="457200"/>
          </a:xfrm>
          <a:prstGeom prst="ellipse">
            <a:avLst/>
          </a:prstGeom>
          <a:solidFill>
            <a:schemeClr val="accent1"/>
          </a:solidFill>
          <a:ln w="12700">
            <a:solidFill>
              <a:schemeClr val="accent1"/>
            </a:solidFill>
            <a:prstDash val="solid"/>
          </a:ln>
        </p:spPr>
      </p:sp>
      <p:sp>
        <p:nvSpPr>
          <p:cNvPr id="11" name="text-116"/>
          <p:cNvSpPr txBox="1"/>
          <p:nvPr/>
        </p:nvSpPr>
        <p:spPr>
          <a:xfrm>
            <a:off x="3456432" y="123444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G2</a:t>
            </a:r>
            <a:endParaRPr lang="en-US" sz="1300" dirty="0"/>
          </a:p>
        </p:txBody>
      </p:sp>
      <p:sp>
        <p:nvSpPr>
          <p:cNvPr id="12" name="text-117"/>
          <p:cNvSpPr txBox="1"/>
          <p:nvPr/>
        </p:nvSpPr>
        <p:spPr>
          <a:xfrm>
            <a:off x="4050792" y="1234440"/>
            <a:ext cx="1737360" cy="457200"/>
          </a:xfrm>
          <a:prstGeom prst="rect">
            <a:avLst/>
          </a:prstGeom>
          <a:noFill/>
          <a:ln/>
        </p:spPr>
        <p:txBody>
          <a:bodyPr wrap="square" lIns="0" tIns="0" rIns="0" bIns="0" rtlCol="0" anchor="ctr"/>
          <a:lstStyle/>
          <a:p>
            <a:pPr indent="0" marL="0">
              <a:buNone/>
            </a:pPr>
            <a:r>
              <a:rPr lang="en-US" sz="1400" b="1" dirty="0">
                <a:solidFill>
                  <a:schemeClr val="tx2"/>
                </a:solidFill>
              </a:rPr>
              <a:t>Live streaming</a:t>
            </a:r>
            <a:endParaRPr lang="en-US" sz="1400" dirty="0"/>
          </a:p>
        </p:txBody>
      </p:sp>
      <p:sp>
        <p:nvSpPr>
          <p:cNvPr id="13" name="text-118"/>
          <p:cNvSpPr txBox="1"/>
          <p:nvPr/>
        </p:nvSpPr>
        <p:spPr>
          <a:xfrm>
            <a:off x="3456432" y="1828800"/>
            <a:ext cx="2286000" cy="731520"/>
          </a:xfrm>
          <a:prstGeom prst="rect">
            <a:avLst/>
          </a:prstGeom>
          <a:noFill/>
          <a:ln/>
        </p:spPr>
        <p:txBody>
          <a:bodyPr wrap="square" lIns="0" tIns="0" rIns="0" bIns="0" rtlCol="0" anchor="t"/>
          <a:lstStyle/>
          <a:p>
            <a:pPr indent="0" marL="0">
              <a:buNone/>
            </a:pPr>
            <a:r>
              <a:rPr lang="en-US" sz="1200" dirty="0">
                <a:solidFill>
                  <a:schemeClr val="accent5"/>
                </a:solidFill>
              </a:rPr>
              <a:t>Alerts within one sweep interval of a gap crossing its threshold</a:t>
            </a:r>
            <a:endParaRPr lang="en-US" sz="1200" dirty="0"/>
          </a:p>
        </p:txBody>
      </p:sp>
      <p:sp>
        <p:nvSpPr>
          <p:cNvPr id="14" name="card-119"/>
          <p:cNvSpPr/>
          <p:nvPr/>
        </p:nvSpPr>
        <p:spPr>
          <a:xfrm>
            <a:off x="6089904" y="1051560"/>
            <a:ext cx="2606040" cy="1554480"/>
          </a:xfrm>
          <a:prstGeom prst="roundRect">
            <a:avLst>
              <a:gd name="adj" fmla="val 4706"/>
            </a:avLst>
          </a:prstGeom>
          <a:solidFill>
            <a:schemeClr val="bg2"/>
          </a:solidFill>
          <a:ln w="12700">
            <a:solidFill>
              <a:schemeClr val="bg2"/>
            </a:solidFill>
            <a:prstDash val="solid"/>
          </a:ln>
        </p:spPr>
      </p:sp>
      <p:sp>
        <p:nvSpPr>
          <p:cNvPr id="15" name="num-120"/>
          <p:cNvSpPr/>
          <p:nvPr/>
        </p:nvSpPr>
        <p:spPr>
          <a:xfrm>
            <a:off x="6272784" y="1234440"/>
            <a:ext cx="457200" cy="457200"/>
          </a:xfrm>
          <a:prstGeom prst="ellipse">
            <a:avLst/>
          </a:prstGeom>
          <a:solidFill>
            <a:schemeClr val="accent1"/>
          </a:solidFill>
          <a:ln w="12700">
            <a:solidFill>
              <a:schemeClr val="accent1"/>
            </a:solidFill>
            <a:prstDash val="solid"/>
          </a:ln>
        </p:spPr>
      </p:sp>
      <p:sp>
        <p:nvSpPr>
          <p:cNvPr id="16" name="text-121"/>
          <p:cNvSpPr txBox="1"/>
          <p:nvPr/>
        </p:nvSpPr>
        <p:spPr>
          <a:xfrm>
            <a:off x="6272784" y="123444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G3</a:t>
            </a:r>
            <a:endParaRPr lang="en-US" sz="1300" dirty="0"/>
          </a:p>
        </p:txBody>
      </p:sp>
      <p:sp>
        <p:nvSpPr>
          <p:cNvPr id="17" name="text-122"/>
          <p:cNvSpPr txBox="1"/>
          <p:nvPr/>
        </p:nvSpPr>
        <p:spPr>
          <a:xfrm>
            <a:off x="6867144" y="1234440"/>
            <a:ext cx="1737360" cy="457200"/>
          </a:xfrm>
          <a:prstGeom prst="rect">
            <a:avLst/>
          </a:prstGeom>
          <a:noFill/>
          <a:ln/>
        </p:spPr>
        <p:txBody>
          <a:bodyPr wrap="square" lIns="0" tIns="0" rIns="0" bIns="0" rtlCol="0" anchor="ctr"/>
          <a:lstStyle/>
          <a:p>
            <a:pPr indent="0" marL="0">
              <a:buNone/>
            </a:pPr>
            <a:r>
              <a:rPr lang="en-US" sz="1400" b="1" dirty="0">
                <a:solidFill>
                  <a:schemeClr val="tx2"/>
                </a:solidFill>
              </a:rPr>
              <a:t>In-data anomalies</a:t>
            </a:r>
            <a:endParaRPr lang="en-US" sz="1400" dirty="0"/>
          </a:p>
        </p:txBody>
      </p:sp>
      <p:sp>
        <p:nvSpPr>
          <p:cNvPr id="18" name="text-123"/>
          <p:cNvSpPr txBox="1"/>
          <p:nvPr/>
        </p:nvSpPr>
        <p:spPr>
          <a:xfrm>
            <a:off x="6272784" y="1828800"/>
            <a:ext cx="2286000" cy="731520"/>
          </a:xfrm>
          <a:prstGeom prst="rect">
            <a:avLst/>
          </a:prstGeom>
          <a:noFill/>
          <a:ln/>
        </p:spPr>
        <p:txBody>
          <a:bodyPr wrap="square" lIns="0" tIns="0" rIns="0" bIns="0" rtlCol="0" anchor="t"/>
          <a:lstStyle/>
          <a:p>
            <a:pPr indent="0" marL="0">
              <a:buNone/>
            </a:pPr>
            <a:r>
              <a:rPr lang="en-US" sz="1200" dirty="0">
                <a:solidFill>
                  <a:schemeClr val="accent5"/>
                </a:solidFill>
              </a:rPr>
              <a:t>Spoofing, MMSI collision and loitering as distinct, auditable alert classes</a:t>
            </a:r>
            <a:endParaRPr lang="en-US" sz="1200" dirty="0"/>
          </a:p>
        </p:txBody>
      </p:sp>
      <p:sp>
        <p:nvSpPr>
          <p:cNvPr id="19" name="card-124"/>
          <p:cNvSpPr/>
          <p:nvPr/>
        </p:nvSpPr>
        <p:spPr>
          <a:xfrm>
            <a:off x="457200" y="2788920"/>
            <a:ext cx="2606040" cy="1554480"/>
          </a:xfrm>
          <a:prstGeom prst="roundRect">
            <a:avLst>
              <a:gd name="adj" fmla="val 4706"/>
            </a:avLst>
          </a:prstGeom>
          <a:solidFill>
            <a:schemeClr val="bg2"/>
          </a:solidFill>
          <a:ln w="12700">
            <a:solidFill>
              <a:schemeClr val="bg2"/>
            </a:solidFill>
            <a:prstDash val="solid"/>
          </a:ln>
        </p:spPr>
      </p:sp>
      <p:sp>
        <p:nvSpPr>
          <p:cNvPr id="20" name="num-125"/>
          <p:cNvSpPr/>
          <p:nvPr/>
        </p:nvSpPr>
        <p:spPr>
          <a:xfrm>
            <a:off x="640080" y="2971800"/>
            <a:ext cx="457200" cy="457200"/>
          </a:xfrm>
          <a:prstGeom prst="ellipse">
            <a:avLst/>
          </a:prstGeom>
          <a:solidFill>
            <a:schemeClr val="accent2"/>
          </a:solidFill>
          <a:ln w="12700">
            <a:solidFill>
              <a:schemeClr val="accent2"/>
            </a:solidFill>
            <a:prstDash val="solid"/>
          </a:ln>
        </p:spPr>
      </p:sp>
      <p:sp>
        <p:nvSpPr>
          <p:cNvPr id="21" name="text-126"/>
          <p:cNvSpPr txBox="1"/>
          <p:nvPr/>
        </p:nvSpPr>
        <p:spPr>
          <a:xfrm>
            <a:off x="640080" y="297180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G4</a:t>
            </a:r>
            <a:endParaRPr lang="en-US" sz="1300" dirty="0"/>
          </a:p>
        </p:txBody>
      </p:sp>
      <p:sp>
        <p:nvSpPr>
          <p:cNvPr id="22" name="text-127"/>
          <p:cNvSpPr txBox="1"/>
          <p:nvPr/>
        </p:nvSpPr>
        <p:spPr>
          <a:xfrm>
            <a:off x="1234440" y="2971800"/>
            <a:ext cx="1737360" cy="457200"/>
          </a:xfrm>
          <a:prstGeom prst="rect">
            <a:avLst/>
          </a:prstGeom>
          <a:noFill/>
          <a:ln/>
        </p:spPr>
        <p:txBody>
          <a:bodyPr wrap="square" lIns="0" tIns="0" rIns="0" bIns="0" rtlCol="0" anchor="ctr"/>
          <a:lstStyle/>
          <a:p>
            <a:pPr indent="0" marL="0">
              <a:buNone/>
            </a:pPr>
            <a:r>
              <a:rPr lang="en-US" sz="1400" b="1" dirty="0">
                <a:solidFill>
                  <a:schemeClr val="tx2"/>
                </a:solidFill>
              </a:rPr>
              <a:t>Honest evaluation</a:t>
            </a:r>
            <a:endParaRPr lang="en-US" sz="1400" dirty="0"/>
          </a:p>
        </p:txBody>
      </p:sp>
      <p:sp>
        <p:nvSpPr>
          <p:cNvPr id="23" name="text-128"/>
          <p:cNvSpPr txBox="1"/>
          <p:nvPr/>
        </p:nvSpPr>
        <p:spPr>
          <a:xfrm>
            <a:off x="640080" y="3566160"/>
            <a:ext cx="2286000" cy="731520"/>
          </a:xfrm>
          <a:prstGeom prst="rect">
            <a:avLst/>
          </a:prstGeom>
          <a:noFill/>
          <a:ln/>
        </p:spPr>
        <p:txBody>
          <a:bodyPr wrap="square" lIns="0" tIns="0" rIns="0" bIns="0" rtlCol="0" anchor="t"/>
          <a:lstStyle/>
          <a:p>
            <a:pPr indent="0" marL="0">
              <a:buNone/>
            </a:pPr>
            <a:r>
              <a:rPr lang="en-US" sz="1200" dirty="0">
                <a:solidFill>
                  <a:schemeClr val="accent5"/>
                </a:solidFill>
              </a:rPr>
              <a:t>Precision / recall per class plus a with/without coverage-prior ablation</a:t>
            </a:r>
            <a:endParaRPr lang="en-US" sz="1200" dirty="0"/>
          </a:p>
        </p:txBody>
      </p:sp>
      <p:sp>
        <p:nvSpPr>
          <p:cNvPr id="24" name="card-129"/>
          <p:cNvSpPr/>
          <p:nvPr/>
        </p:nvSpPr>
        <p:spPr>
          <a:xfrm>
            <a:off x="3273552" y="2788920"/>
            <a:ext cx="2606040" cy="1554480"/>
          </a:xfrm>
          <a:prstGeom prst="roundRect">
            <a:avLst>
              <a:gd name="adj" fmla="val 4706"/>
            </a:avLst>
          </a:prstGeom>
          <a:solidFill>
            <a:schemeClr val="bg2"/>
          </a:solidFill>
          <a:ln w="12700">
            <a:solidFill>
              <a:schemeClr val="bg2"/>
            </a:solidFill>
            <a:prstDash val="solid"/>
          </a:ln>
        </p:spPr>
      </p:sp>
      <p:sp>
        <p:nvSpPr>
          <p:cNvPr id="25" name="num-130"/>
          <p:cNvSpPr/>
          <p:nvPr/>
        </p:nvSpPr>
        <p:spPr>
          <a:xfrm>
            <a:off x="3456432" y="2971800"/>
            <a:ext cx="457200" cy="457200"/>
          </a:xfrm>
          <a:prstGeom prst="ellipse">
            <a:avLst/>
          </a:prstGeom>
          <a:solidFill>
            <a:schemeClr val="accent2"/>
          </a:solidFill>
          <a:ln w="12700">
            <a:solidFill>
              <a:schemeClr val="accent2"/>
            </a:solidFill>
            <a:prstDash val="solid"/>
          </a:ln>
        </p:spPr>
      </p:sp>
      <p:sp>
        <p:nvSpPr>
          <p:cNvPr id="26" name="text-131"/>
          <p:cNvSpPr txBox="1"/>
          <p:nvPr/>
        </p:nvSpPr>
        <p:spPr>
          <a:xfrm>
            <a:off x="3456432" y="297180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G5</a:t>
            </a:r>
            <a:endParaRPr lang="en-US" sz="1300" dirty="0"/>
          </a:p>
        </p:txBody>
      </p:sp>
      <p:sp>
        <p:nvSpPr>
          <p:cNvPr id="27" name="text-132"/>
          <p:cNvSpPr txBox="1"/>
          <p:nvPr/>
        </p:nvSpPr>
        <p:spPr>
          <a:xfrm>
            <a:off x="4050792" y="2971800"/>
            <a:ext cx="1737360" cy="457200"/>
          </a:xfrm>
          <a:prstGeom prst="rect">
            <a:avLst/>
          </a:prstGeom>
          <a:noFill/>
          <a:ln/>
        </p:spPr>
        <p:txBody>
          <a:bodyPr wrap="square" lIns="0" tIns="0" rIns="0" bIns="0" rtlCol="0" anchor="ctr"/>
          <a:lstStyle/>
          <a:p>
            <a:pPr indent="0" marL="0">
              <a:buNone/>
            </a:pPr>
            <a:r>
              <a:rPr lang="en-US" sz="1400" b="1" dirty="0">
                <a:solidFill>
                  <a:schemeClr val="tx2"/>
                </a:solidFill>
              </a:rPr>
              <a:t>Reproducible</a:t>
            </a:r>
            <a:endParaRPr lang="en-US" sz="1400" dirty="0"/>
          </a:p>
        </p:txBody>
      </p:sp>
      <p:sp>
        <p:nvSpPr>
          <p:cNvPr id="28" name="text-133"/>
          <p:cNvSpPr txBox="1"/>
          <p:nvPr/>
        </p:nvSpPr>
        <p:spPr>
          <a:xfrm>
            <a:off x="3456432" y="3566160"/>
            <a:ext cx="2286000" cy="731520"/>
          </a:xfrm>
          <a:prstGeom prst="rect">
            <a:avLst/>
          </a:prstGeom>
          <a:noFill/>
          <a:ln/>
        </p:spPr>
        <p:txBody>
          <a:bodyPr wrap="square" lIns="0" tIns="0" rIns="0" bIns="0" rtlCol="0" anchor="t"/>
          <a:lstStyle/>
          <a:p>
            <a:pPr indent="0" marL="0">
              <a:buNone/>
            </a:pPr>
            <a:r>
              <a:rPr lang="en-US" sz="1200" dirty="0">
                <a:solidFill>
                  <a:schemeClr val="accent5"/>
                </a:solidFill>
              </a:rPr>
              <a:t>Clean machine to working demo with documented make commands</a:t>
            </a:r>
            <a:endParaRPr lang="en-US" sz="1200" dirty="0"/>
          </a:p>
        </p:txBody>
      </p:sp>
      <p:sp>
        <p:nvSpPr>
          <p:cNvPr id="29" name="card-134"/>
          <p:cNvSpPr/>
          <p:nvPr/>
        </p:nvSpPr>
        <p:spPr>
          <a:xfrm>
            <a:off x="6089904" y="2788920"/>
            <a:ext cx="2606040" cy="1554480"/>
          </a:xfrm>
          <a:prstGeom prst="roundRect">
            <a:avLst>
              <a:gd name="adj" fmla="val 4706"/>
            </a:avLst>
          </a:prstGeom>
          <a:solidFill>
            <a:schemeClr val="bg2"/>
          </a:solidFill>
          <a:ln w="12700">
            <a:solidFill>
              <a:schemeClr val="bg2"/>
            </a:solidFill>
            <a:prstDash val="solid"/>
          </a:ln>
        </p:spPr>
      </p:sp>
      <p:sp>
        <p:nvSpPr>
          <p:cNvPr id="30" name="num-135"/>
          <p:cNvSpPr/>
          <p:nvPr/>
        </p:nvSpPr>
        <p:spPr>
          <a:xfrm>
            <a:off x="6272784" y="2971800"/>
            <a:ext cx="457200" cy="457200"/>
          </a:xfrm>
          <a:prstGeom prst="ellipse">
            <a:avLst/>
          </a:prstGeom>
          <a:solidFill>
            <a:schemeClr val="accent2"/>
          </a:solidFill>
          <a:ln w="12700">
            <a:solidFill>
              <a:schemeClr val="accent2"/>
            </a:solidFill>
            <a:prstDash val="solid"/>
          </a:ln>
        </p:spPr>
      </p:sp>
      <p:sp>
        <p:nvSpPr>
          <p:cNvPr id="31" name="text-136"/>
          <p:cNvSpPr txBox="1"/>
          <p:nvPr/>
        </p:nvSpPr>
        <p:spPr>
          <a:xfrm>
            <a:off x="6272784" y="297180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G6</a:t>
            </a:r>
            <a:endParaRPr lang="en-US" sz="1300" dirty="0"/>
          </a:p>
        </p:txBody>
      </p:sp>
      <p:sp>
        <p:nvSpPr>
          <p:cNvPr id="32" name="text-137"/>
          <p:cNvSpPr txBox="1"/>
          <p:nvPr/>
        </p:nvSpPr>
        <p:spPr>
          <a:xfrm>
            <a:off x="6867144" y="2971800"/>
            <a:ext cx="1737360" cy="457200"/>
          </a:xfrm>
          <a:prstGeom prst="rect">
            <a:avLst/>
          </a:prstGeom>
          <a:noFill/>
          <a:ln/>
        </p:spPr>
        <p:txBody>
          <a:bodyPr wrap="square" lIns="0" tIns="0" rIns="0" bIns="0" rtlCol="0" anchor="ctr"/>
          <a:lstStyle/>
          <a:p>
            <a:pPr indent="0" marL="0">
              <a:buNone/>
            </a:pPr>
            <a:r>
              <a:rPr lang="en-US" sz="1400" b="1" dirty="0">
                <a:solidFill>
                  <a:schemeClr val="tx2"/>
                </a:solidFill>
              </a:rPr>
              <a:t>Real big data</a:t>
            </a:r>
            <a:endParaRPr lang="en-US" sz="1400" dirty="0"/>
          </a:p>
        </p:txBody>
      </p:sp>
      <p:sp>
        <p:nvSpPr>
          <p:cNvPr id="33" name="text-138"/>
          <p:cNvSpPr txBox="1"/>
          <p:nvPr/>
        </p:nvSpPr>
        <p:spPr>
          <a:xfrm>
            <a:off x="6272784" y="3566160"/>
            <a:ext cx="2286000" cy="731520"/>
          </a:xfrm>
          <a:prstGeom prst="rect">
            <a:avLst/>
          </a:prstGeom>
          <a:noFill/>
          <a:ln/>
        </p:spPr>
        <p:txBody>
          <a:bodyPr wrap="square" lIns="0" tIns="0" rIns="0" bIns="0" rtlCol="0" anchor="t"/>
          <a:lstStyle/>
          <a:p>
            <a:pPr indent="0" marL="0">
              <a:buNone/>
            </a:pPr>
            <a:r>
              <a:rPr lang="en-US" sz="1200" dirty="0">
                <a:solidFill>
                  <a:schemeClr val="accent5"/>
                </a:solidFill>
              </a:rPr>
              <a:t>Distributed Spark jobs whose output the live system depends on</a:t>
            </a:r>
            <a:endParaRPr lang="en-US" sz="1200" dirty="0"/>
          </a:p>
        </p:txBody>
      </p:sp>
      <p:sp>
        <p:nvSpPr>
          <p:cNvPr id="25" name="Slide Number Placeholder 0"/>
          <p:cNvSpPr>
            <a:spLocks noGrp="1"/>
          </p:cNvSpPr>
          <p:nvPr>
            <p:ph type="sldNum" sz="quarter" idx="4294967295"/>
          </p:nvPr>
        </p:nvSpPr>
        <p:spPr>
          <a:xfrm>
            <a:off x="8229600" y="479145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800" b="1" dirty="0">
                <a:solidFill>
                  <a:schemeClr val="tx2"/>
                </a:solidFill>
              </a:rPr>
              <a:t>Dataset &amp; Data Sources</a:t>
            </a:r>
            <a:endParaRPr lang="en-US" sz="2800" dirty="0"/>
          </a:p>
        </p:txBody>
      </p:sp>
      <p:sp>
        <p:nvSpPr>
          <p:cNvPr id="4" name="circle-139"/>
          <p:cNvSpPr/>
          <p:nvPr/>
        </p:nvSpPr>
        <p:spPr>
          <a:xfrm>
            <a:off x="457200" y="1005840"/>
            <a:ext cx="402336" cy="402336"/>
          </a:xfrm>
          <a:prstGeom prst="ellipse">
            <a:avLst/>
          </a:prstGeom>
          <a:solidFill>
            <a:schemeClr val="accent1"/>
          </a:solidFill>
          <a:ln w="12700">
            <a:solidFill>
              <a:schemeClr val="accent1"/>
            </a:solidFill>
            <a:prstDash val="solid"/>
          </a:ln>
        </p:spPr>
      </p:sp>
      <p:pic>
        <p:nvPicPr>
          <p:cNvPr id="5" name="icon-140" descr="preencoded.png">    </p:cNvPr>
          <p:cNvPicPr>
            <a:picLocks noChangeAspect="1"/>
          </p:cNvPicPr>
          <p:nvPr/>
        </p:nvPicPr>
        <p:blipFill>
          <a:blip r:embed="rId1"/>
          <a:stretch>
            <a:fillRect/>
          </a:stretch>
        </p:blipFill>
        <p:spPr>
          <a:xfrm>
            <a:off x="561807" y="1110447"/>
            <a:ext cx="193121" cy="193121"/>
          </a:xfrm>
          <a:prstGeom prst="rect">
            <a:avLst/>
          </a:prstGeom>
        </p:spPr>
      </p:pic>
      <p:sp>
        <p:nvSpPr>
          <p:cNvPr id="6" name="text-141"/>
          <p:cNvSpPr txBox="1"/>
          <p:nvPr/>
        </p:nvSpPr>
        <p:spPr>
          <a:xfrm>
            <a:off x="1005840" y="978408"/>
            <a:ext cx="4023360" cy="256032"/>
          </a:xfrm>
          <a:prstGeom prst="rect">
            <a:avLst/>
          </a:prstGeom>
          <a:noFill/>
          <a:ln/>
        </p:spPr>
        <p:txBody>
          <a:bodyPr wrap="square" lIns="0" tIns="0" rIns="0" bIns="0" rtlCol="0" anchor="t"/>
          <a:lstStyle/>
          <a:p>
            <a:pPr indent="0" marL="0">
              <a:buNone/>
            </a:pPr>
            <a:r>
              <a:rPr lang="en-US" sz="1400" b="1" dirty="0">
                <a:solidFill>
                  <a:schemeClr val="tx2"/>
                </a:solidFill>
              </a:rPr>
              <a:t>NOAA Marine Cadastre AIS</a:t>
            </a:r>
            <a:endParaRPr lang="en-US" sz="1400" dirty="0"/>
          </a:p>
        </p:txBody>
      </p:sp>
      <p:sp>
        <p:nvSpPr>
          <p:cNvPr id="7" name="text-142"/>
          <p:cNvSpPr txBox="1"/>
          <p:nvPr/>
        </p:nvSpPr>
        <p:spPr>
          <a:xfrm>
            <a:off x="1005840" y="1234440"/>
            <a:ext cx="4023360" cy="274320"/>
          </a:xfrm>
          <a:prstGeom prst="rect">
            <a:avLst/>
          </a:prstGeom>
          <a:noFill/>
          <a:ln/>
        </p:spPr>
        <p:txBody>
          <a:bodyPr wrap="square" lIns="0" tIns="0" rIns="0" bIns="0" rtlCol="0" anchor="t"/>
          <a:lstStyle/>
          <a:p>
            <a:pPr indent="0" marL="0">
              <a:buNone/>
            </a:pPr>
            <a:r>
              <a:rPr lang="en-US" sz="1200" dirty="0">
                <a:solidFill>
                  <a:schemeClr val="accent5"/>
                </a:solidFill>
              </a:rPr>
              <a:t>Historical US coastal positions — batch history and stream replay</a:t>
            </a:r>
            <a:endParaRPr lang="en-US" sz="1200" dirty="0"/>
          </a:p>
        </p:txBody>
      </p:sp>
      <p:sp>
        <p:nvSpPr>
          <p:cNvPr id="8" name="circle-143"/>
          <p:cNvSpPr/>
          <p:nvPr/>
        </p:nvSpPr>
        <p:spPr>
          <a:xfrm>
            <a:off x="457200" y="1709928"/>
            <a:ext cx="402336" cy="402336"/>
          </a:xfrm>
          <a:prstGeom prst="ellipse">
            <a:avLst/>
          </a:prstGeom>
          <a:solidFill>
            <a:schemeClr val="accent1"/>
          </a:solidFill>
          <a:ln w="12700">
            <a:solidFill>
              <a:schemeClr val="accent1"/>
            </a:solidFill>
            <a:prstDash val="solid"/>
          </a:ln>
        </p:spPr>
      </p:sp>
      <p:pic>
        <p:nvPicPr>
          <p:cNvPr id="9" name="icon-144" descr="preencoded.png">    </p:cNvPr>
          <p:cNvPicPr>
            <a:picLocks noChangeAspect="1"/>
          </p:cNvPicPr>
          <p:nvPr/>
        </p:nvPicPr>
        <p:blipFill>
          <a:blip r:embed="rId2"/>
          <a:stretch>
            <a:fillRect/>
          </a:stretch>
        </p:blipFill>
        <p:spPr>
          <a:xfrm>
            <a:off x="561807" y="1814535"/>
            <a:ext cx="193121" cy="193121"/>
          </a:xfrm>
          <a:prstGeom prst="rect">
            <a:avLst/>
          </a:prstGeom>
        </p:spPr>
      </p:pic>
      <p:sp>
        <p:nvSpPr>
          <p:cNvPr id="10" name="text-145"/>
          <p:cNvSpPr txBox="1"/>
          <p:nvPr/>
        </p:nvSpPr>
        <p:spPr>
          <a:xfrm>
            <a:off x="1005840" y="1682496"/>
            <a:ext cx="4023360" cy="256032"/>
          </a:xfrm>
          <a:prstGeom prst="rect">
            <a:avLst/>
          </a:prstGeom>
          <a:noFill/>
          <a:ln/>
        </p:spPr>
        <p:txBody>
          <a:bodyPr wrap="square" lIns="0" tIns="0" rIns="0" bIns="0" rtlCol="0" anchor="t"/>
          <a:lstStyle/>
          <a:p>
            <a:pPr indent="0" marL="0">
              <a:buNone/>
            </a:pPr>
            <a:r>
              <a:rPr lang="en-US" sz="1400" b="1" dirty="0">
                <a:solidFill>
                  <a:schemeClr val="tx2"/>
                </a:solidFill>
              </a:rPr>
              <a:t>aisstream.io WebSocket</a:t>
            </a:r>
            <a:endParaRPr lang="en-US" sz="1400" dirty="0"/>
          </a:p>
        </p:txBody>
      </p:sp>
      <p:sp>
        <p:nvSpPr>
          <p:cNvPr id="11" name="text-146"/>
          <p:cNvSpPr txBox="1"/>
          <p:nvPr/>
        </p:nvSpPr>
        <p:spPr>
          <a:xfrm>
            <a:off x="1005840" y="1938528"/>
            <a:ext cx="4023360" cy="274320"/>
          </a:xfrm>
          <a:prstGeom prst="rect">
            <a:avLst/>
          </a:prstGeom>
          <a:noFill/>
          <a:ln/>
        </p:spPr>
        <p:txBody>
          <a:bodyPr wrap="square" lIns="0" tIns="0" rIns="0" bIns="0" rtlCol="0" anchor="t"/>
          <a:lstStyle/>
          <a:p>
            <a:pPr indent="0" marL="0">
              <a:buNone/>
            </a:pPr>
            <a:r>
              <a:rPr lang="en-US" sz="1200" dirty="0">
                <a:solidFill>
                  <a:schemeClr val="accent5"/>
                </a:solidFill>
              </a:rPr>
              <a:t>Optional live real-time feed, California corridor (32–42°N)</a:t>
            </a:r>
            <a:endParaRPr lang="en-US" sz="1200" dirty="0"/>
          </a:p>
        </p:txBody>
      </p:sp>
      <p:sp>
        <p:nvSpPr>
          <p:cNvPr id="12" name="circle-147"/>
          <p:cNvSpPr/>
          <p:nvPr/>
        </p:nvSpPr>
        <p:spPr>
          <a:xfrm>
            <a:off x="457200" y="2414016"/>
            <a:ext cx="402336" cy="402336"/>
          </a:xfrm>
          <a:prstGeom prst="ellipse">
            <a:avLst/>
          </a:prstGeom>
          <a:solidFill>
            <a:schemeClr val="accent2"/>
          </a:solidFill>
          <a:ln w="12700">
            <a:solidFill>
              <a:schemeClr val="accent2"/>
            </a:solidFill>
            <a:prstDash val="solid"/>
          </a:ln>
        </p:spPr>
      </p:sp>
      <p:pic>
        <p:nvPicPr>
          <p:cNvPr id="13" name="icon-148" descr="preencoded.png">    </p:cNvPr>
          <p:cNvPicPr>
            <a:picLocks noChangeAspect="1"/>
          </p:cNvPicPr>
          <p:nvPr/>
        </p:nvPicPr>
        <p:blipFill>
          <a:blip r:embed="rId3"/>
          <a:stretch>
            <a:fillRect/>
          </a:stretch>
        </p:blipFill>
        <p:spPr>
          <a:xfrm>
            <a:off x="561807" y="2518623"/>
            <a:ext cx="193121" cy="193121"/>
          </a:xfrm>
          <a:prstGeom prst="rect">
            <a:avLst/>
          </a:prstGeom>
        </p:spPr>
      </p:pic>
      <p:sp>
        <p:nvSpPr>
          <p:cNvPr id="14" name="text-149"/>
          <p:cNvSpPr txBox="1"/>
          <p:nvPr/>
        </p:nvSpPr>
        <p:spPr>
          <a:xfrm>
            <a:off x="1005840" y="2386584"/>
            <a:ext cx="4023360" cy="256032"/>
          </a:xfrm>
          <a:prstGeom prst="rect">
            <a:avLst/>
          </a:prstGeom>
          <a:noFill/>
          <a:ln/>
        </p:spPr>
        <p:txBody>
          <a:bodyPr wrap="square" lIns="0" tIns="0" rIns="0" bIns="0" rtlCol="0" anchor="t"/>
          <a:lstStyle/>
          <a:p>
            <a:pPr indent="0" marL="0">
              <a:buNone/>
            </a:pPr>
            <a:r>
              <a:rPr lang="en-US" sz="1400" b="1" dirty="0">
                <a:solidFill>
                  <a:schemeClr val="tx2"/>
                </a:solidFill>
              </a:rPr>
              <a:t>Marine Regions EEZ v12</a:t>
            </a:r>
            <a:endParaRPr lang="en-US" sz="1400" dirty="0"/>
          </a:p>
        </p:txBody>
      </p:sp>
      <p:sp>
        <p:nvSpPr>
          <p:cNvPr id="15" name="text-150"/>
          <p:cNvSpPr txBox="1"/>
          <p:nvPr/>
        </p:nvSpPr>
        <p:spPr>
          <a:xfrm>
            <a:off x="1005840" y="2642616"/>
            <a:ext cx="4023360" cy="274320"/>
          </a:xfrm>
          <a:prstGeom prst="rect">
            <a:avLst/>
          </a:prstGeom>
          <a:noFill/>
          <a:ln/>
        </p:spPr>
        <p:txBody>
          <a:bodyPr wrap="square" lIns="0" tIns="0" rIns="0" bIns="0" rtlCol="0" anchor="t"/>
          <a:lstStyle/>
          <a:p>
            <a:pPr indent="0" marL="0">
              <a:buNone/>
            </a:pPr>
            <a:r>
              <a:rPr lang="en-US" sz="1200" dirty="0">
                <a:solidFill>
                  <a:schemeClr val="accent5"/>
                </a:solidFill>
              </a:rPr>
              <a:t>Exclusive Economic Zone boundaries</a:t>
            </a:r>
            <a:endParaRPr lang="en-US" sz="1200" dirty="0"/>
          </a:p>
        </p:txBody>
      </p:sp>
      <p:sp>
        <p:nvSpPr>
          <p:cNvPr id="16" name="circle-151"/>
          <p:cNvSpPr/>
          <p:nvPr/>
        </p:nvSpPr>
        <p:spPr>
          <a:xfrm>
            <a:off x="457200" y="3118104"/>
            <a:ext cx="402336" cy="402336"/>
          </a:xfrm>
          <a:prstGeom prst="ellipse">
            <a:avLst/>
          </a:prstGeom>
          <a:solidFill>
            <a:schemeClr val="accent2"/>
          </a:solidFill>
          <a:ln w="12700">
            <a:solidFill>
              <a:schemeClr val="accent2"/>
            </a:solidFill>
            <a:prstDash val="solid"/>
          </a:ln>
        </p:spPr>
      </p:sp>
      <p:pic>
        <p:nvPicPr>
          <p:cNvPr id="17" name="icon-152" descr="preencoded.png">    </p:cNvPr>
          <p:cNvPicPr>
            <a:picLocks noChangeAspect="1"/>
          </p:cNvPicPr>
          <p:nvPr/>
        </p:nvPicPr>
        <p:blipFill>
          <a:blip r:embed="rId4"/>
          <a:stretch>
            <a:fillRect/>
          </a:stretch>
        </p:blipFill>
        <p:spPr>
          <a:xfrm>
            <a:off x="561807" y="3222711"/>
            <a:ext cx="193121" cy="193121"/>
          </a:xfrm>
          <a:prstGeom prst="rect">
            <a:avLst/>
          </a:prstGeom>
        </p:spPr>
      </p:pic>
      <p:sp>
        <p:nvSpPr>
          <p:cNvPr id="18" name="text-153"/>
          <p:cNvSpPr txBox="1"/>
          <p:nvPr/>
        </p:nvSpPr>
        <p:spPr>
          <a:xfrm>
            <a:off x="1005840" y="3090672"/>
            <a:ext cx="4023360" cy="256032"/>
          </a:xfrm>
          <a:prstGeom prst="rect">
            <a:avLst/>
          </a:prstGeom>
          <a:noFill/>
          <a:ln/>
        </p:spPr>
        <p:txBody>
          <a:bodyPr wrap="square" lIns="0" tIns="0" rIns="0" bIns="0" rtlCol="0" anchor="t"/>
          <a:lstStyle/>
          <a:p>
            <a:pPr indent="0" marL="0">
              <a:buNone/>
            </a:pPr>
            <a:r>
              <a:rPr lang="en-US" sz="1400" b="1" dirty="0">
                <a:solidFill>
                  <a:schemeClr val="tx2"/>
                </a:solidFill>
              </a:rPr>
              <a:t>NOAA MPA Inventory</a:t>
            </a:r>
            <a:endParaRPr lang="en-US" sz="1400" dirty="0"/>
          </a:p>
        </p:txBody>
      </p:sp>
      <p:sp>
        <p:nvSpPr>
          <p:cNvPr id="19" name="text-154"/>
          <p:cNvSpPr txBox="1"/>
          <p:nvPr/>
        </p:nvSpPr>
        <p:spPr>
          <a:xfrm>
            <a:off x="1005840" y="3346704"/>
            <a:ext cx="4023360" cy="274320"/>
          </a:xfrm>
          <a:prstGeom prst="rect">
            <a:avLst/>
          </a:prstGeom>
          <a:noFill/>
          <a:ln/>
        </p:spPr>
        <p:txBody>
          <a:bodyPr wrap="square" lIns="0" tIns="0" rIns="0" bIns="0" rtlCol="0" anchor="t"/>
          <a:lstStyle/>
          <a:p>
            <a:pPr indent="0" marL="0">
              <a:buNone/>
            </a:pPr>
            <a:r>
              <a:rPr lang="en-US" sz="1200" dirty="0">
                <a:solidFill>
                  <a:schemeClr val="accent5"/>
                </a:solidFill>
              </a:rPr>
              <a:t>Marine Protected Areas, e.g. Greater Farallones</a:t>
            </a:r>
            <a:endParaRPr lang="en-US" sz="1200" dirty="0"/>
          </a:p>
        </p:txBody>
      </p:sp>
      <p:sp>
        <p:nvSpPr>
          <p:cNvPr id="20" name="circle-155"/>
          <p:cNvSpPr/>
          <p:nvPr/>
        </p:nvSpPr>
        <p:spPr>
          <a:xfrm>
            <a:off x="457200" y="3822192"/>
            <a:ext cx="402336" cy="402336"/>
          </a:xfrm>
          <a:prstGeom prst="ellipse">
            <a:avLst/>
          </a:prstGeom>
          <a:solidFill>
            <a:schemeClr val="accent2"/>
          </a:solidFill>
          <a:ln w="12700">
            <a:solidFill>
              <a:schemeClr val="accent2"/>
            </a:solidFill>
            <a:prstDash val="solid"/>
          </a:ln>
        </p:spPr>
      </p:sp>
      <p:pic>
        <p:nvPicPr>
          <p:cNvPr id="21" name="icon-156" descr="preencoded.png">    </p:cNvPr>
          <p:cNvPicPr>
            <a:picLocks noChangeAspect="1"/>
          </p:cNvPicPr>
          <p:nvPr/>
        </p:nvPicPr>
        <p:blipFill>
          <a:blip r:embed="rId5"/>
          <a:stretch>
            <a:fillRect/>
          </a:stretch>
        </p:blipFill>
        <p:spPr>
          <a:xfrm>
            <a:off x="561807" y="3926799"/>
            <a:ext cx="193121" cy="193121"/>
          </a:xfrm>
          <a:prstGeom prst="rect">
            <a:avLst/>
          </a:prstGeom>
        </p:spPr>
      </p:pic>
      <p:sp>
        <p:nvSpPr>
          <p:cNvPr id="22" name="text-157"/>
          <p:cNvSpPr txBox="1"/>
          <p:nvPr/>
        </p:nvSpPr>
        <p:spPr>
          <a:xfrm>
            <a:off x="1005840" y="3794760"/>
            <a:ext cx="4023360" cy="256032"/>
          </a:xfrm>
          <a:prstGeom prst="rect">
            <a:avLst/>
          </a:prstGeom>
          <a:noFill/>
          <a:ln/>
        </p:spPr>
        <p:txBody>
          <a:bodyPr wrap="square" lIns="0" tIns="0" rIns="0" bIns="0" rtlCol="0" anchor="t"/>
          <a:lstStyle/>
          <a:p>
            <a:pPr indent="0" marL="0">
              <a:buNone/>
            </a:pPr>
            <a:r>
              <a:rPr lang="en-US" sz="1400" b="1" dirty="0">
                <a:solidFill>
                  <a:schemeClr val="tx2"/>
                </a:solidFill>
              </a:rPr>
              <a:t>NGA World Port Index</a:t>
            </a:r>
            <a:endParaRPr lang="en-US" sz="1400" dirty="0"/>
          </a:p>
        </p:txBody>
      </p:sp>
      <p:sp>
        <p:nvSpPr>
          <p:cNvPr id="23" name="text-158"/>
          <p:cNvSpPr txBox="1"/>
          <p:nvPr/>
        </p:nvSpPr>
        <p:spPr>
          <a:xfrm>
            <a:off x="1005840" y="4050792"/>
            <a:ext cx="4023360" cy="274320"/>
          </a:xfrm>
          <a:prstGeom prst="rect">
            <a:avLst/>
          </a:prstGeom>
          <a:noFill/>
          <a:ln/>
        </p:spPr>
        <p:txBody>
          <a:bodyPr wrap="square" lIns="0" tIns="0" rIns="0" bIns="0" rtlCol="0" anchor="t"/>
          <a:lstStyle/>
          <a:p>
            <a:pPr indent="0" marL="0">
              <a:buNone/>
            </a:pPr>
            <a:r>
              <a:rPr lang="en-US" sz="1200" dirty="0">
                <a:solidFill>
                  <a:schemeClr val="accent5"/>
                </a:solidFill>
              </a:rPr>
              <a:t>Port / anchorage zones to suppress false loitering alerts</a:t>
            </a:r>
            <a:endParaRPr lang="en-US" sz="1200" dirty="0"/>
          </a:p>
        </p:txBody>
      </p:sp>
      <p:sp>
        <p:nvSpPr>
          <p:cNvPr id="24" name="card-159"/>
          <p:cNvSpPr/>
          <p:nvPr/>
        </p:nvSpPr>
        <p:spPr>
          <a:xfrm>
            <a:off x="5349240" y="1005840"/>
            <a:ext cx="3337560" cy="3474720"/>
          </a:xfrm>
          <a:prstGeom prst="roundRect">
            <a:avLst>
              <a:gd name="adj" fmla="val 2192"/>
            </a:avLst>
          </a:prstGeom>
          <a:solidFill>
            <a:schemeClr val="bg2"/>
          </a:solidFill>
          <a:ln w="12700">
            <a:solidFill>
              <a:schemeClr val="bg2"/>
            </a:solidFill>
            <a:prstDash val="solid"/>
          </a:ln>
        </p:spPr>
      </p:sp>
      <p:sp>
        <p:nvSpPr>
          <p:cNvPr id="25" name="text-160"/>
          <p:cNvSpPr txBox="1"/>
          <p:nvPr/>
        </p:nvSpPr>
        <p:spPr>
          <a:xfrm>
            <a:off x="5532120" y="1143000"/>
            <a:ext cx="3017520" cy="274320"/>
          </a:xfrm>
          <a:prstGeom prst="rect">
            <a:avLst/>
          </a:prstGeom>
          <a:noFill/>
          <a:ln/>
        </p:spPr>
        <p:txBody>
          <a:bodyPr wrap="square" lIns="0" tIns="0" rIns="0" bIns="0" rtlCol="0" anchor="t"/>
          <a:lstStyle/>
          <a:p>
            <a:pPr indent="0" marL="0">
              <a:buNone/>
            </a:pPr>
            <a:r>
              <a:rPr lang="en-US" sz="1400" b="1" dirty="0">
                <a:solidFill>
                  <a:schemeClr val="tx2"/>
                </a:solidFill>
              </a:rPr>
              <a:t>Ingestion contract (validate.py)</a:t>
            </a:r>
            <a:endParaRPr lang="en-US" sz="1400" dirty="0"/>
          </a:p>
        </p:txBody>
      </p:sp>
      <p:sp>
        <p:nvSpPr>
          <p:cNvPr id="26" name="text-161"/>
          <p:cNvSpPr txBox="1"/>
          <p:nvPr/>
        </p:nvSpPr>
        <p:spPr>
          <a:xfrm>
            <a:off x="5532120" y="1508760"/>
            <a:ext cx="3017520" cy="28803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One shared validator for batch and stream</a:t>
            </a:r>
            <a:endParaRPr lang="en-US" sz="1200" dirty="0"/>
          </a:p>
          <a:p>
            <a:pPr marL="342900" indent="-342900">
              <a:spcAft>
                <a:spcPts val="600"/>
              </a:spcAft>
              <a:buSzPct val="100000"/>
              <a:buChar char="•"/>
            </a:pPr>
            <a:r>
              <a:rPr lang="en-US" sz="1200" dirty="0">
                <a:solidFill>
                  <a:schemeClr val="tx1"/>
                </a:solidFill>
              </a:rPr>
              <a:t>ITU-R M.1371 sentinels normalised: SOG 102.3, COG 360, heading 511 → null</a:t>
            </a:r>
            <a:endParaRPr lang="en-US" sz="1200" dirty="0"/>
          </a:p>
          <a:p>
            <a:pPr marL="342900" indent="-342900">
              <a:spcAft>
                <a:spcPts val="600"/>
              </a:spcAft>
              <a:buSzPct val="100000"/>
              <a:buChar char="•"/>
            </a:pPr>
            <a:r>
              <a:rPr lang="en-US" sz="1200" dirty="0">
                <a:solidFill>
                  <a:schemeClr val="tx1"/>
                </a:solidFill>
              </a:rPr>
              <a:t>Invalid coordinates (LAT 91 / LON 181) rejected</a:t>
            </a:r>
            <a:endParaRPr lang="en-US" sz="1200" dirty="0"/>
          </a:p>
          <a:p>
            <a:pPr marL="342900" indent="-342900">
              <a:spcAft>
                <a:spcPts val="600"/>
              </a:spcAft>
              <a:buSzPct val="100000"/>
              <a:buChar char="•"/>
            </a:pPr>
            <a:r>
              <a:rPr lang="en-US" sz="1200" dirty="0">
                <a:solidFill>
                  <a:schemeClr val="tx1"/>
                </a:solidFill>
              </a:rPr>
              <a:t>MMSI must be a non-zero 9-digit number</a:t>
            </a:r>
            <a:endParaRPr lang="en-US" sz="1200" dirty="0"/>
          </a:p>
          <a:p>
            <a:pPr marL="342900" indent="-342900">
              <a:spcAft>
                <a:spcPts val="600"/>
              </a:spcAft>
              <a:buSzPct val="100000"/>
              <a:buChar char="•"/>
            </a:pPr>
            <a:r>
              <a:rPr lang="en-US" sz="1200" dirty="0">
                <a:solidFill>
                  <a:schemeClr val="tx1"/>
                </a:solidFill>
              </a:rPr>
              <a:t>Rejects routed to ais.positions.dlq with a reason code</a:t>
            </a:r>
            <a:endParaRPr lang="en-US" sz="1200" dirty="0"/>
          </a:p>
          <a:p>
            <a:pPr marL="342900" indent="-342900">
              <a:spcAft>
                <a:spcPts val="600"/>
              </a:spcAft>
              <a:buSzPct val="100000"/>
              <a:buChar char="•"/>
            </a:pPr>
            <a:r>
              <a:rPr lang="en-US" sz="1200" dirty="0">
                <a:solidFill>
                  <a:schemeClr val="tx1"/>
                </a:solidFill>
              </a:rPr>
              <a:t>CSV dailies → date-partitioned Parquet</a:t>
            </a:r>
            <a:endParaRPr lang="en-US" sz="1200" dirty="0"/>
          </a:p>
        </p:txBody>
      </p:sp>
      <p:sp>
        <p:nvSpPr>
          <p:cNvPr id="25" name="Slide Number Placeholder 0"/>
          <p:cNvSpPr>
            <a:spLocks noGrp="1"/>
          </p:cNvSpPr>
          <p:nvPr>
            <p:ph type="sldNum" sz="quarter" idx="4294967295"/>
          </p:nvPr>
        </p:nvSpPr>
        <p:spPr>
          <a:xfrm>
            <a:off x="8229600" y="479145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800" b="1" dirty="0">
                <a:solidFill>
                  <a:schemeClr val="tx2"/>
                </a:solidFill>
              </a:rPr>
              <a:t>Tech Stack &amp; Tools</a:t>
            </a:r>
            <a:endParaRPr lang="en-US" sz="2800" dirty="0"/>
          </a:p>
        </p:txBody>
      </p:sp>
      <p:sp>
        <p:nvSpPr>
          <p:cNvPr id="4" name="text-162"/>
          <p:cNvSpPr txBox="1"/>
          <p:nvPr/>
        </p:nvSpPr>
        <p:spPr>
          <a:xfrm>
            <a:off x="457200" y="960120"/>
            <a:ext cx="4572000" cy="228600"/>
          </a:xfrm>
          <a:prstGeom prst="rect">
            <a:avLst/>
          </a:prstGeom>
          <a:noFill/>
          <a:ln/>
        </p:spPr>
        <p:txBody>
          <a:bodyPr wrap="square" lIns="0" tIns="0" rIns="0" bIns="0" rtlCol="0" anchor="t"/>
          <a:lstStyle/>
          <a:p>
            <a:pPr indent="0" marL="0">
              <a:buNone/>
            </a:pPr>
            <a:r>
              <a:rPr lang="en-US" sz="1100" b="1" spc="100" kern="0" dirty="0">
                <a:solidFill>
                  <a:schemeClr val="accent5"/>
                </a:solidFill>
              </a:rPr>
              <a:t>CORE BIG DATA TOOLS</a:t>
            </a:r>
            <a:endParaRPr lang="en-US" sz="1100" dirty="0"/>
          </a:p>
        </p:txBody>
      </p:sp>
      <p:sp>
        <p:nvSpPr>
          <p:cNvPr id="5" name="card-163"/>
          <p:cNvSpPr/>
          <p:nvPr/>
        </p:nvSpPr>
        <p:spPr>
          <a:xfrm>
            <a:off x="457200" y="1234440"/>
            <a:ext cx="2606040" cy="1463040"/>
          </a:xfrm>
          <a:prstGeom prst="roundRect">
            <a:avLst>
              <a:gd name="adj" fmla="val 5000"/>
            </a:avLst>
          </a:prstGeom>
          <a:solidFill>
            <a:schemeClr val="tx2"/>
          </a:solidFill>
          <a:ln w="12700">
            <a:solidFill>
              <a:schemeClr val="tx2"/>
            </a:solidFill>
            <a:prstDash val="solid"/>
          </a:ln>
        </p:spPr>
      </p:sp>
      <p:sp>
        <p:nvSpPr>
          <p:cNvPr id="6" name="circle-164"/>
          <p:cNvSpPr/>
          <p:nvPr/>
        </p:nvSpPr>
        <p:spPr>
          <a:xfrm>
            <a:off x="640080" y="1371600"/>
            <a:ext cx="420624" cy="420624"/>
          </a:xfrm>
          <a:prstGeom prst="ellipse">
            <a:avLst/>
          </a:prstGeom>
          <a:solidFill>
            <a:schemeClr val="accent2"/>
          </a:solidFill>
          <a:ln w="12700">
            <a:solidFill>
              <a:schemeClr val="accent2"/>
            </a:solidFill>
            <a:prstDash val="solid"/>
          </a:ln>
        </p:spPr>
      </p:sp>
      <p:pic>
        <p:nvPicPr>
          <p:cNvPr id="7" name="icon-165" descr="preencoded.png">    </p:cNvPr>
          <p:cNvPicPr>
            <a:picLocks noChangeAspect="1"/>
          </p:cNvPicPr>
          <p:nvPr/>
        </p:nvPicPr>
        <p:blipFill>
          <a:blip r:embed="rId1"/>
          <a:stretch>
            <a:fillRect/>
          </a:stretch>
        </p:blipFill>
        <p:spPr>
          <a:xfrm>
            <a:off x="749442" y="1480962"/>
            <a:ext cx="201900" cy="201900"/>
          </a:xfrm>
          <a:prstGeom prst="rect">
            <a:avLst/>
          </a:prstGeom>
        </p:spPr>
      </p:pic>
      <p:sp>
        <p:nvSpPr>
          <p:cNvPr id="8" name="text-166"/>
          <p:cNvSpPr txBox="1"/>
          <p:nvPr/>
        </p:nvSpPr>
        <p:spPr>
          <a:xfrm>
            <a:off x="1170432" y="1353312"/>
            <a:ext cx="1828800" cy="256032"/>
          </a:xfrm>
          <a:prstGeom prst="rect">
            <a:avLst/>
          </a:prstGeom>
          <a:noFill/>
          <a:ln/>
        </p:spPr>
        <p:txBody>
          <a:bodyPr wrap="square" lIns="0" tIns="0" rIns="0" bIns="0" rtlCol="0" anchor="t"/>
          <a:lstStyle/>
          <a:p>
            <a:pPr indent="0" marL="0">
              <a:buNone/>
            </a:pPr>
            <a:r>
              <a:rPr lang="en-US" sz="1500" b="1" dirty="0">
                <a:solidFill>
                  <a:schemeClr val="bg1"/>
                </a:solidFill>
              </a:rPr>
              <a:t>Apache Kafka</a:t>
            </a:r>
            <a:endParaRPr lang="en-US" sz="1500" dirty="0"/>
          </a:p>
        </p:txBody>
      </p:sp>
      <p:sp>
        <p:nvSpPr>
          <p:cNvPr id="9" name="text-167"/>
          <p:cNvSpPr txBox="1"/>
          <p:nvPr/>
        </p:nvSpPr>
        <p:spPr>
          <a:xfrm>
            <a:off x="1170432" y="1600200"/>
            <a:ext cx="1828800" cy="228600"/>
          </a:xfrm>
          <a:prstGeom prst="rect">
            <a:avLst/>
          </a:prstGeom>
          <a:noFill/>
          <a:ln/>
        </p:spPr>
        <p:txBody>
          <a:bodyPr wrap="square" lIns="0" tIns="0" rIns="0" bIns="0" rtlCol="0" anchor="t"/>
          <a:lstStyle/>
          <a:p>
            <a:pPr indent="0" marL="0">
              <a:buNone/>
            </a:pPr>
            <a:r>
              <a:rPr lang="en-US" sz="1100" dirty="0">
                <a:solidFill>
                  <a:schemeClr val="accent4"/>
                </a:solidFill>
              </a:rPr>
              <a:t>7.6 · KRaft mode</a:t>
            </a:r>
            <a:endParaRPr lang="en-US" sz="1100" dirty="0"/>
          </a:p>
        </p:txBody>
      </p:sp>
      <p:sp>
        <p:nvSpPr>
          <p:cNvPr id="10" name="text-168"/>
          <p:cNvSpPr txBox="1"/>
          <p:nvPr/>
        </p:nvSpPr>
        <p:spPr>
          <a:xfrm>
            <a:off x="640080" y="1938528"/>
            <a:ext cx="2286000" cy="685800"/>
          </a:xfrm>
          <a:prstGeom prst="rect">
            <a:avLst/>
          </a:prstGeom>
          <a:noFill/>
          <a:ln/>
        </p:spPr>
        <p:txBody>
          <a:bodyPr wrap="square" lIns="0" tIns="0" rIns="0" bIns="0" rtlCol="0" anchor="t"/>
          <a:lstStyle/>
          <a:p>
            <a:pPr indent="0" marL="0">
              <a:buNone/>
            </a:pPr>
            <a:r>
              <a:rPr lang="en-US" sz="1200" dirty="0">
                <a:solidFill>
                  <a:schemeClr val="bg1"/>
                </a:solidFill>
              </a:rPr>
              <a:t>Real-time stream buffer — MMSI-keyed, 6 partitions, replayable</a:t>
            </a:r>
            <a:endParaRPr lang="en-US" sz="1200" dirty="0"/>
          </a:p>
        </p:txBody>
      </p:sp>
      <p:sp>
        <p:nvSpPr>
          <p:cNvPr id="11" name="card-169"/>
          <p:cNvSpPr/>
          <p:nvPr/>
        </p:nvSpPr>
        <p:spPr>
          <a:xfrm>
            <a:off x="3273552" y="1234440"/>
            <a:ext cx="2606040" cy="1463040"/>
          </a:xfrm>
          <a:prstGeom prst="roundRect">
            <a:avLst>
              <a:gd name="adj" fmla="val 5000"/>
            </a:avLst>
          </a:prstGeom>
          <a:solidFill>
            <a:schemeClr val="tx2"/>
          </a:solidFill>
          <a:ln w="12700">
            <a:solidFill>
              <a:schemeClr val="tx2"/>
            </a:solidFill>
            <a:prstDash val="solid"/>
          </a:ln>
        </p:spPr>
      </p:sp>
      <p:sp>
        <p:nvSpPr>
          <p:cNvPr id="12" name="circle-170"/>
          <p:cNvSpPr/>
          <p:nvPr/>
        </p:nvSpPr>
        <p:spPr>
          <a:xfrm>
            <a:off x="3456432" y="1371600"/>
            <a:ext cx="420624" cy="420624"/>
          </a:xfrm>
          <a:prstGeom prst="ellipse">
            <a:avLst/>
          </a:prstGeom>
          <a:solidFill>
            <a:schemeClr val="accent2"/>
          </a:solidFill>
          <a:ln w="12700">
            <a:solidFill>
              <a:schemeClr val="accent2"/>
            </a:solidFill>
            <a:prstDash val="solid"/>
          </a:ln>
        </p:spPr>
      </p:sp>
      <p:pic>
        <p:nvPicPr>
          <p:cNvPr id="13" name="icon-171" descr="preencoded.png">    </p:cNvPr>
          <p:cNvPicPr>
            <a:picLocks noChangeAspect="1"/>
          </p:cNvPicPr>
          <p:nvPr/>
        </p:nvPicPr>
        <p:blipFill>
          <a:blip r:embed="rId2"/>
          <a:stretch>
            <a:fillRect/>
          </a:stretch>
        </p:blipFill>
        <p:spPr>
          <a:xfrm>
            <a:off x="3565794" y="1480962"/>
            <a:ext cx="201900" cy="201900"/>
          </a:xfrm>
          <a:prstGeom prst="rect">
            <a:avLst/>
          </a:prstGeom>
        </p:spPr>
      </p:pic>
      <p:sp>
        <p:nvSpPr>
          <p:cNvPr id="14" name="text-172"/>
          <p:cNvSpPr txBox="1"/>
          <p:nvPr/>
        </p:nvSpPr>
        <p:spPr>
          <a:xfrm>
            <a:off x="3986784" y="1353312"/>
            <a:ext cx="1828800" cy="256032"/>
          </a:xfrm>
          <a:prstGeom prst="rect">
            <a:avLst/>
          </a:prstGeom>
          <a:noFill/>
          <a:ln/>
        </p:spPr>
        <p:txBody>
          <a:bodyPr wrap="square" lIns="0" tIns="0" rIns="0" bIns="0" rtlCol="0" anchor="t"/>
          <a:lstStyle/>
          <a:p>
            <a:pPr indent="0" marL="0">
              <a:buNone/>
            </a:pPr>
            <a:r>
              <a:rPr lang="en-US" sz="1500" b="1" dirty="0">
                <a:solidFill>
                  <a:schemeClr val="bg1"/>
                </a:solidFill>
              </a:rPr>
              <a:t>Apache Spark</a:t>
            </a:r>
            <a:endParaRPr lang="en-US" sz="1500" dirty="0"/>
          </a:p>
        </p:txBody>
      </p:sp>
      <p:sp>
        <p:nvSpPr>
          <p:cNvPr id="15" name="text-173"/>
          <p:cNvSpPr txBox="1"/>
          <p:nvPr/>
        </p:nvSpPr>
        <p:spPr>
          <a:xfrm>
            <a:off x="3986784" y="1600200"/>
            <a:ext cx="1828800" cy="228600"/>
          </a:xfrm>
          <a:prstGeom prst="rect">
            <a:avLst/>
          </a:prstGeom>
          <a:noFill/>
          <a:ln/>
        </p:spPr>
        <p:txBody>
          <a:bodyPr wrap="square" lIns="0" tIns="0" rIns="0" bIns="0" rtlCol="0" anchor="t"/>
          <a:lstStyle/>
          <a:p>
            <a:pPr indent="0" marL="0">
              <a:buNone/>
            </a:pPr>
            <a:r>
              <a:rPr lang="en-US" sz="1100" dirty="0">
                <a:solidFill>
                  <a:schemeClr val="accent4"/>
                </a:solidFill>
              </a:rPr>
              <a:t>3.5.1 · Core &amp; SQL</a:t>
            </a:r>
            <a:endParaRPr lang="en-US" sz="1100" dirty="0"/>
          </a:p>
        </p:txBody>
      </p:sp>
      <p:sp>
        <p:nvSpPr>
          <p:cNvPr id="16" name="text-174"/>
          <p:cNvSpPr txBox="1"/>
          <p:nvPr/>
        </p:nvSpPr>
        <p:spPr>
          <a:xfrm>
            <a:off x="3456432" y="1938528"/>
            <a:ext cx="2286000" cy="685800"/>
          </a:xfrm>
          <a:prstGeom prst="rect">
            <a:avLst/>
          </a:prstGeom>
          <a:noFill/>
          <a:ln/>
        </p:spPr>
        <p:txBody>
          <a:bodyPr wrap="square" lIns="0" tIns="0" rIns="0" bIns="0" rtlCol="0" anchor="t"/>
          <a:lstStyle/>
          <a:p>
            <a:pPr indent="0" marL="0">
              <a:buNone/>
            </a:pPr>
            <a:r>
              <a:rPr lang="en-US" sz="1200" dirty="0">
                <a:solidFill>
                  <a:schemeClr val="bg1"/>
                </a:solidFill>
              </a:rPr>
              <a:t>Distributed batch ETL — windowed lags and H3 gap percentiles</a:t>
            </a:r>
            <a:endParaRPr lang="en-US" sz="1200" dirty="0"/>
          </a:p>
        </p:txBody>
      </p:sp>
      <p:sp>
        <p:nvSpPr>
          <p:cNvPr id="17" name="card-175"/>
          <p:cNvSpPr/>
          <p:nvPr/>
        </p:nvSpPr>
        <p:spPr>
          <a:xfrm>
            <a:off x="6089904" y="1234440"/>
            <a:ext cx="2606040" cy="1463040"/>
          </a:xfrm>
          <a:prstGeom prst="roundRect">
            <a:avLst>
              <a:gd name="adj" fmla="val 5000"/>
            </a:avLst>
          </a:prstGeom>
          <a:solidFill>
            <a:schemeClr val="tx2"/>
          </a:solidFill>
          <a:ln w="12700">
            <a:solidFill>
              <a:schemeClr val="tx2"/>
            </a:solidFill>
            <a:prstDash val="solid"/>
          </a:ln>
        </p:spPr>
      </p:sp>
      <p:sp>
        <p:nvSpPr>
          <p:cNvPr id="18" name="circle-176"/>
          <p:cNvSpPr/>
          <p:nvPr/>
        </p:nvSpPr>
        <p:spPr>
          <a:xfrm>
            <a:off x="6272784" y="1371600"/>
            <a:ext cx="420624" cy="420624"/>
          </a:xfrm>
          <a:prstGeom prst="ellipse">
            <a:avLst/>
          </a:prstGeom>
          <a:solidFill>
            <a:schemeClr val="accent2"/>
          </a:solidFill>
          <a:ln w="12700">
            <a:solidFill>
              <a:schemeClr val="accent2"/>
            </a:solidFill>
            <a:prstDash val="solid"/>
          </a:ln>
        </p:spPr>
      </p:sp>
      <p:pic>
        <p:nvPicPr>
          <p:cNvPr id="19" name="icon-177" descr="preencoded.png">    </p:cNvPr>
          <p:cNvPicPr>
            <a:picLocks noChangeAspect="1"/>
          </p:cNvPicPr>
          <p:nvPr/>
        </p:nvPicPr>
        <p:blipFill>
          <a:blip r:embed="rId3"/>
          <a:stretch>
            <a:fillRect/>
          </a:stretch>
        </p:blipFill>
        <p:spPr>
          <a:xfrm>
            <a:off x="6382146" y="1480962"/>
            <a:ext cx="201900" cy="201900"/>
          </a:xfrm>
          <a:prstGeom prst="rect">
            <a:avLst/>
          </a:prstGeom>
        </p:spPr>
      </p:pic>
      <p:sp>
        <p:nvSpPr>
          <p:cNvPr id="20" name="text-178"/>
          <p:cNvSpPr txBox="1"/>
          <p:nvPr/>
        </p:nvSpPr>
        <p:spPr>
          <a:xfrm>
            <a:off x="6803136" y="1353312"/>
            <a:ext cx="1828800" cy="256032"/>
          </a:xfrm>
          <a:prstGeom prst="rect">
            <a:avLst/>
          </a:prstGeom>
          <a:noFill/>
          <a:ln/>
        </p:spPr>
        <p:txBody>
          <a:bodyPr wrap="square" lIns="0" tIns="0" rIns="0" bIns="0" rtlCol="0" anchor="t"/>
          <a:lstStyle/>
          <a:p>
            <a:pPr indent="0" marL="0">
              <a:buNone/>
            </a:pPr>
            <a:r>
              <a:rPr lang="en-US" sz="1500" b="1" dirty="0">
                <a:solidFill>
                  <a:schemeClr val="bg1"/>
                </a:solidFill>
              </a:rPr>
              <a:t>Spark MLlib</a:t>
            </a:r>
            <a:endParaRPr lang="en-US" sz="1500" dirty="0"/>
          </a:p>
        </p:txBody>
      </p:sp>
      <p:sp>
        <p:nvSpPr>
          <p:cNvPr id="21" name="text-179"/>
          <p:cNvSpPr txBox="1"/>
          <p:nvPr/>
        </p:nvSpPr>
        <p:spPr>
          <a:xfrm>
            <a:off x="6803136" y="1600200"/>
            <a:ext cx="1828800" cy="228600"/>
          </a:xfrm>
          <a:prstGeom prst="rect">
            <a:avLst/>
          </a:prstGeom>
          <a:noFill/>
          <a:ln/>
        </p:spPr>
        <p:txBody>
          <a:bodyPr wrap="square" lIns="0" tIns="0" rIns="0" bIns="0" rtlCol="0" anchor="t"/>
          <a:lstStyle/>
          <a:p>
            <a:pPr indent="0" marL="0">
              <a:buNone/>
            </a:pPr>
            <a:r>
              <a:rPr lang="en-US" sz="1100" dirty="0">
                <a:solidFill>
                  <a:schemeClr val="accent4"/>
                </a:solidFill>
              </a:rPr>
              <a:t>3.5.1 · pyspark.ml</a:t>
            </a:r>
            <a:endParaRPr lang="en-US" sz="1100" dirty="0"/>
          </a:p>
        </p:txBody>
      </p:sp>
      <p:sp>
        <p:nvSpPr>
          <p:cNvPr id="22" name="text-180"/>
          <p:cNvSpPr txBox="1"/>
          <p:nvPr/>
        </p:nvSpPr>
        <p:spPr>
          <a:xfrm>
            <a:off x="6272784" y="1938528"/>
            <a:ext cx="2286000" cy="685800"/>
          </a:xfrm>
          <a:prstGeom prst="rect">
            <a:avLst/>
          </a:prstGeom>
          <a:noFill/>
          <a:ln/>
        </p:spPr>
        <p:txBody>
          <a:bodyPr wrap="square" lIns="0" tIns="0" rIns="0" bIns="0" rtlCol="0" anchor="t"/>
          <a:lstStyle/>
          <a:p>
            <a:pPr indent="0" marL="0">
              <a:buNone/>
            </a:pPr>
            <a:r>
              <a:rPr lang="en-US" sz="1200" dirty="0">
                <a:solidFill>
                  <a:schemeClr val="bg1"/>
                </a:solidFill>
              </a:rPr>
              <a:t>Distributed ML — VectorAssembler, StandardScaler, KMeans</a:t>
            </a:r>
            <a:endParaRPr lang="en-US" sz="1200" dirty="0"/>
          </a:p>
        </p:txBody>
      </p:sp>
      <p:sp>
        <p:nvSpPr>
          <p:cNvPr id="23" name="text-181"/>
          <p:cNvSpPr txBox="1"/>
          <p:nvPr/>
        </p:nvSpPr>
        <p:spPr>
          <a:xfrm>
            <a:off x="457200" y="2852928"/>
            <a:ext cx="4572000" cy="228600"/>
          </a:xfrm>
          <a:prstGeom prst="rect">
            <a:avLst/>
          </a:prstGeom>
          <a:noFill/>
          <a:ln/>
        </p:spPr>
        <p:txBody>
          <a:bodyPr wrap="square" lIns="0" tIns="0" rIns="0" bIns="0" rtlCol="0" anchor="t"/>
          <a:lstStyle/>
          <a:p>
            <a:pPr indent="0" marL="0">
              <a:buNone/>
            </a:pPr>
            <a:r>
              <a:rPr lang="en-US" sz="1100" b="1" spc="100" kern="0" dirty="0">
                <a:solidFill>
                  <a:schemeClr val="accent5"/>
                </a:solidFill>
              </a:rPr>
              <a:t>SUPPORTING STACK</a:t>
            </a:r>
            <a:endParaRPr lang="en-US" sz="1100" dirty="0"/>
          </a:p>
        </p:txBody>
      </p:sp>
      <p:sp>
        <p:nvSpPr>
          <p:cNvPr id="24" name="card-182"/>
          <p:cNvSpPr/>
          <p:nvPr/>
        </p:nvSpPr>
        <p:spPr>
          <a:xfrm>
            <a:off x="457200" y="3127248"/>
            <a:ext cx="1956816" cy="603504"/>
          </a:xfrm>
          <a:prstGeom prst="roundRect">
            <a:avLst>
              <a:gd name="adj" fmla="val 12121"/>
            </a:avLst>
          </a:prstGeom>
          <a:solidFill>
            <a:schemeClr val="bg2"/>
          </a:solidFill>
          <a:ln w="12700">
            <a:solidFill>
              <a:schemeClr val="bg2"/>
            </a:solidFill>
            <a:prstDash val="solid"/>
          </a:ln>
        </p:spPr>
      </p:sp>
      <p:sp>
        <p:nvSpPr>
          <p:cNvPr id="25" name="text-183"/>
          <p:cNvSpPr txBox="1"/>
          <p:nvPr/>
        </p:nvSpPr>
        <p:spPr>
          <a:xfrm>
            <a:off x="566928" y="3191256"/>
            <a:ext cx="1783080" cy="256032"/>
          </a:xfrm>
          <a:prstGeom prst="rect">
            <a:avLst/>
          </a:prstGeom>
          <a:noFill/>
          <a:ln/>
        </p:spPr>
        <p:txBody>
          <a:bodyPr wrap="square" lIns="0" tIns="0" rIns="0" bIns="0" rtlCol="0" anchor="t"/>
          <a:lstStyle/>
          <a:p>
            <a:pPr indent="0" marL="0">
              <a:buNone/>
            </a:pPr>
            <a:r>
              <a:rPr lang="en-US" sz="1150" b="1" dirty="0">
                <a:solidFill>
                  <a:schemeClr val="tx2"/>
                </a:solidFill>
              </a:rPr>
              <a:t>PostgreSQL 16 + PostGIS 3.4</a:t>
            </a:r>
            <a:endParaRPr lang="en-US" sz="1150" dirty="0"/>
          </a:p>
        </p:txBody>
      </p:sp>
      <p:sp>
        <p:nvSpPr>
          <p:cNvPr id="26" name="text-184"/>
          <p:cNvSpPr txBox="1"/>
          <p:nvPr/>
        </p:nvSpPr>
        <p:spPr>
          <a:xfrm>
            <a:off x="566928" y="3447288"/>
            <a:ext cx="1783080" cy="228600"/>
          </a:xfrm>
          <a:prstGeom prst="rect">
            <a:avLst/>
          </a:prstGeom>
          <a:noFill/>
          <a:ln/>
        </p:spPr>
        <p:txBody>
          <a:bodyPr wrap="square" lIns="0" tIns="0" rIns="0" bIns="0" rtlCol="0" anchor="t"/>
          <a:lstStyle/>
          <a:p>
            <a:pPr indent="0" marL="0">
              <a:buNone/>
            </a:pPr>
            <a:r>
              <a:rPr lang="en-US" sz="1050" dirty="0">
                <a:solidFill>
                  <a:schemeClr val="accent5"/>
                </a:solidFill>
              </a:rPr>
              <a:t>Spatial store</a:t>
            </a:r>
            <a:endParaRPr lang="en-US" sz="1050" dirty="0"/>
          </a:p>
        </p:txBody>
      </p:sp>
      <p:sp>
        <p:nvSpPr>
          <p:cNvPr id="27" name="card-185"/>
          <p:cNvSpPr/>
          <p:nvPr/>
        </p:nvSpPr>
        <p:spPr>
          <a:xfrm>
            <a:off x="2551176" y="3127248"/>
            <a:ext cx="1956816" cy="603504"/>
          </a:xfrm>
          <a:prstGeom prst="roundRect">
            <a:avLst>
              <a:gd name="adj" fmla="val 12121"/>
            </a:avLst>
          </a:prstGeom>
          <a:solidFill>
            <a:schemeClr val="bg2"/>
          </a:solidFill>
          <a:ln w="12700">
            <a:solidFill>
              <a:schemeClr val="bg2"/>
            </a:solidFill>
            <a:prstDash val="solid"/>
          </a:ln>
        </p:spPr>
      </p:sp>
      <p:sp>
        <p:nvSpPr>
          <p:cNvPr id="28" name="text-186"/>
          <p:cNvSpPr txBox="1"/>
          <p:nvPr/>
        </p:nvSpPr>
        <p:spPr>
          <a:xfrm>
            <a:off x="2660904" y="3191256"/>
            <a:ext cx="1783080" cy="256032"/>
          </a:xfrm>
          <a:prstGeom prst="rect">
            <a:avLst/>
          </a:prstGeom>
          <a:noFill/>
          <a:ln/>
        </p:spPr>
        <p:txBody>
          <a:bodyPr wrap="square" lIns="0" tIns="0" rIns="0" bIns="0" rtlCol="0" anchor="t"/>
          <a:lstStyle/>
          <a:p>
            <a:pPr indent="0" marL="0">
              <a:buNone/>
            </a:pPr>
            <a:r>
              <a:rPr lang="en-US" sz="1150" b="1" dirty="0">
                <a:solidFill>
                  <a:schemeClr val="tx2"/>
                </a:solidFill>
              </a:rPr>
              <a:t>Uber H3 3.7.7</a:t>
            </a:r>
            <a:endParaRPr lang="en-US" sz="1150" dirty="0"/>
          </a:p>
        </p:txBody>
      </p:sp>
      <p:sp>
        <p:nvSpPr>
          <p:cNvPr id="29" name="text-187"/>
          <p:cNvSpPr txBox="1"/>
          <p:nvPr/>
        </p:nvSpPr>
        <p:spPr>
          <a:xfrm>
            <a:off x="2660904" y="3447288"/>
            <a:ext cx="1783080" cy="228600"/>
          </a:xfrm>
          <a:prstGeom prst="rect">
            <a:avLst/>
          </a:prstGeom>
          <a:noFill/>
          <a:ln/>
        </p:spPr>
        <p:txBody>
          <a:bodyPr wrap="square" lIns="0" tIns="0" rIns="0" bIns="0" rtlCol="0" anchor="t"/>
          <a:lstStyle/>
          <a:p>
            <a:pPr indent="0" marL="0">
              <a:buNone/>
            </a:pPr>
            <a:r>
              <a:rPr lang="en-US" sz="1050" dirty="0">
                <a:solidFill>
                  <a:schemeClr val="accent5"/>
                </a:solidFill>
              </a:rPr>
              <a:t>Hexagonal grid</a:t>
            </a:r>
            <a:endParaRPr lang="en-US" sz="1050" dirty="0"/>
          </a:p>
        </p:txBody>
      </p:sp>
      <p:sp>
        <p:nvSpPr>
          <p:cNvPr id="30" name="card-188"/>
          <p:cNvSpPr/>
          <p:nvPr/>
        </p:nvSpPr>
        <p:spPr>
          <a:xfrm>
            <a:off x="4645152" y="3127248"/>
            <a:ext cx="1956816" cy="603504"/>
          </a:xfrm>
          <a:prstGeom prst="roundRect">
            <a:avLst>
              <a:gd name="adj" fmla="val 12121"/>
            </a:avLst>
          </a:prstGeom>
          <a:solidFill>
            <a:schemeClr val="bg2"/>
          </a:solidFill>
          <a:ln w="12700">
            <a:solidFill>
              <a:schemeClr val="bg2"/>
            </a:solidFill>
            <a:prstDash val="solid"/>
          </a:ln>
        </p:spPr>
      </p:sp>
      <p:sp>
        <p:nvSpPr>
          <p:cNvPr id="31" name="text-189"/>
          <p:cNvSpPr txBox="1"/>
          <p:nvPr/>
        </p:nvSpPr>
        <p:spPr>
          <a:xfrm>
            <a:off x="4754880" y="3191256"/>
            <a:ext cx="1783080" cy="256032"/>
          </a:xfrm>
          <a:prstGeom prst="rect">
            <a:avLst/>
          </a:prstGeom>
          <a:noFill/>
          <a:ln/>
        </p:spPr>
        <p:txBody>
          <a:bodyPr wrap="square" lIns="0" tIns="0" rIns="0" bIns="0" rtlCol="0" anchor="t"/>
          <a:lstStyle/>
          <a:p>
            <a:pPr indent="0" marL="0">
              <a:buNone/>
            </a:pPr>
            <a:r>
              <a:rPr lang="en-US" sz="1150" b="1" dirty="0">
                <a:solidFill>
                  <a:schemeClr val="tx2"/>
                </a:solidFill>
              </a:rPr>
              <a:t>Parquet / PyArrow 15</a:t>
            </a:r>
            <a:endParaRPr lang="en-US" sz="1150" dirty="0"/>
          </a:p>
        </p:txBody>
      </p:sp>
      <p:sp>
        <p:nvSpPr>
          <p:cNvPr id="32" name="text-190"/>
          <p:cNvSpPr txBox="1"/>
          <p:nvPr/>
        </p:nvSpPr>
        <p:spPr>
          <a:xfrm>
            <a:off x="4754880" y="3447288"/>
            <a:ext cx="1783080" cy="228600"/>
          </a:xfrm>
          <a:prstGeom prst="rect">
            <a:avLst/>
          </a:prstGeom>
          <a:noFill/>
          <a:ln/>
        </p:spPr>
        <p:txBody>
          <a:bodyPr wrap="square" lIns="0" tIns="0" rIns="0" bIns="0" rtlCol="0" anchor="t"/>
          <a:lstStyle/>
          <a:p>
            <a:pPr indent="0" marL="0">
              <a:buNone/>
            </a:pPr>
            <a:r>
              <a:rPr lang="en-US" sz="1050" dirty="0">
                <a:solidFill>
                  <a:schemeClr val="accent5"/>
                </a:solidFill>
              </a:rPr>
              <a:t>Columnar history</a:t>
            </a:r>
            <a:endParaRPr lang="en-US" sz="1050" dirty="0"/>
          </a:p>
        </p:txBody>
      </p:sp>
      <p:sp>
        <p:nvSpPr>
          <p:cNvPr id="33" name="card-191"/>
          <p:cNvSpPr/>
          <p:nvPr/>
        </p:nvSpPr>
        <p:spPr>
          <a:xfrm>
            <a:off x="6739128" y="3127248"/>
            <a:ext cx="1956816" cy="603504"/>
          </a:xfrm>
          <a:prstGeom prst="roundRect">
            <a:avLst>
              <a:gd name="adj" fmla="val 12121"/>
            </a:avLst>
          </a:prstGeom>
          <a:solidFill>
            <a:schemeClr val="bg2"/>
          </a:solidFill>
          <a:ln w="12700">
            <a:solidFill>
              <a:schemeClr val="bg2"/>
            </a:solidFill>
            <a:prstDash val="solid"/>
          </a:ln>
        </p:spPr>
      </p:sp>
      <p:sp>
        <p:nvSpPr>
          <p:cNvPr id="34" name="text-192"/>
          <p:cNvSpPr txBox="1"/>
          <p:nvPr/>
        </p:nvSpPr>
        <p:spPr>
          <a:xfrm>
            <a:off x="6848856" y="3191256"/>
            <a:ext cx="1783080" cy="256032"/>
          </a:xfrm>
          <a:prstGeom prst="rect">
            <a:avLst/>
          </a:prstGeom>
          <a:noFill/>
          <a:ln/>
        </p:spPr>
        <p:txBody>
          <a:bodyPr wrap="square" lIns="0" tIns="0" rIns="0" bIns="0" rtlCol="0" anchor="t"/>
          <a:lstStyle/>
          <a:p>
            <a:pPr indent="0" marL="0">
              <a:buNone/>
            </a:pPr>
            <a:r>
              <a:rPr lang="en-US" sz="1150" b="1" dirty="0">
                <a:solidFill>
                  <a:schemeClr val="tx2"/>
                </a:solidFill>
              </a:rPr>
              <a:t>Python 3.11 · confluent-kafka</a:t>
            </a:r>
            <a:endParaRPr lang="en-US" sz="1150" dirty="0"/>
          </a:p>
        </p:txBody>
      </p:sp>
      <p:sp>
        <p:nvSpPr>
          <p:cNvPr id="35" name="text-193"/>
          <p:cNvSpPr txBox="1"/>
          <p:nvPr/>
        </p:nvSpPr>
        <p:spPr>
          <a:xfrm>
            <a:off x="6848856" y="3447288"/>
            <a:ext cx="1783080" cy="228600"/>
          </a:xfrm>
          <a:prstGeom prst="rect">
            <a:avLst/>
          </a:prstGeom>
          <a:noFill/>
          <a:ln/>
        </p:spPr>
        <p:txBody>
          <a:bodyPr wrap="square" lIns="0" tIns="0" rIns="0" bIns="0" rtlCol="0" anchor="t"/>
          <a:lstStyle/>
          <a:p>
            <a:pPr indent="0" marL="0">
              <a:buNone/>
            </a:pPr>
            <a:r>
              <a:rPr lang="en-US" sz="1050" dirty="0">
                <a:solidFill>
                  <a:schemeClr val="accent5"/>
                </a:solidFill>
              </a:rPr>
              <a:t>Stream engine</a:t>
            </a:r>
            <a:endParaRPr lang="en-US" sz="1050" dirty="0"/>
          </a:p>
        </p:txBody>
      </p:sp>
      <p:sp>
        <p:nvSpPr>
          <p:cNvPr id="36" name="card-194"/>
          <p:cNvSpPr/>
          <p:nvPr/>
        </p:nvSpPr>
        <p:spPr>
          <a:xfrm>
            <a:off x="457200" y="3840480"/>
            <a:ext cx="1956816" cy="603504"/>
          </a:xfrm>
          <a:prstGeom prst="roundRect">
            <a:avLst>
              <a:gd name="adj" fmla="val 12121"/>
            </a:avLst>
          </a:prstGeom>
          <a:solidFill>
            <a:schemeClr val="bg2"/>
          </a:solidFill>
          <a:ln w="12700">
            <a:solidFill>
              <a:schemeClr val="bg2"/>
            </a:solidFill>
            <a:prstDash val="solid"/>
          </a:ln>
        </p:spPr>
      </p:sp>
      <p:sp>
        <p:nvSpPr>
          <p:cNvPr id="37" name="text-195"/>
          <p:cNvSpPr txBox="1"/>
          <p:nvPr/>
        </p:nvSpPr>
        <p:spPr>
          <a:xfrm>
            <a:off x="566928" y="3904488"/>
            <a:ext cx="1783080" cy="256032"/>
          </a:xfrm>
          <a:prstGeom prst="rect">
            <a:avLst/>
          </a:prstGeom>
          <a:noFill/>
          <a:ln/>
        </p:spPr>
        <p:txBody>
          <a:bodyPr wrap="square" lIns="0" tIns="0" rIns="0" bIns="0" rtlCol="0" anchor="t"/>
          <a:lstStyle/>
          <a:p>
            <a:pPr indent="0" marL="0">
              <a:buNone/>
            </a:pPr>
            <a:r>
              <a:rPr lang="en-US" sz="1150" b="1" dirty="0">
                <a:solidFill>
                  <a:schemeClr val="tx2"/>
                </a:solidFill>
              </a:rPr>
              <a:t>Next.js 16 + React 19</a:t>
            </a:r>
            <a:endParaRPr lang="en-US" sz="1150" dirty="0"/>
          </a:p>
        </p:txBody>
      </p:sp>
      <p:sp>
        <p:nvSpPr>
          <p:cNvPr id="38" name="text-196"/>
          <p:cNvSpPr txBox="1"/>
          <p:nvPr/>
        </p:nvSpPr>
        <p:spPr>
          <a:xfrm>
            <a:off x="566928" y="4160520"/>
            <a:ext cx="1783080" cy="228600"/>
          </a:xfrm>
          <a:prstGeom prst="rect">
            <a:avLst/>
          </a:prstGeom>
          <a:noFill/>
          <a:ln/>
        </p:spPr>
        <p:txBody>
          <a:bodyPr wrap="square" lIns="0" tIns="0" rIns="0" bIns="0" rtlCol="0" anchor="t"/>
          <a:lstStyle/>
          <a:p>
            <a:pPr indent="0" marL="0">
              <a:buNone/>
            </a:pPr>
            <a:r>
              <a:rPr lang="en-US" sz="1050" dirty="0">
                <a:solidFill>
                  <a:schemeClr val="accent5"/>
                </a:solidFill>
              </a:rPr>
              <a:t>Web console</a:t>
            </a:r>
            <a:endParaRPr lang="en-US" sz="1050" dirty="0"/>
          </a:p>
        </p:txBody>
      </p:sp>
      <p:sp>
        <p:nvSpPr>
          <p:cNvPr id="39" name="card-197"/>
          <p:cNvSpPr/>
          <p:nvPr/>
        </p:nvSpPr>
        <p:spPr>
          <a:xfrm>
            <a:off x="2551176" y="3840480"/>
            <a:ext cx="1956816" cy="603504"/>
          </a:xfrm>
          <a:prstGeom prst="roundRect">
            <a:avLst>
              <a:gd name="adj" fmla="val 12121"/>
            </a:avLst>
          </a:prstGeom>
          <a:solidFill>
            <a:schemeClr val="bg2"/>
          </a:solidFill>
          <a:ln w="12700">
            <a:solidFill>
              <a:schemeClr val="bg2"/>
            </a:solidFill>
            <a:prstDash val="solid"/>
          </a:ln>
        </p:spPr>
      </p:sp>
      <p:sp>
        <p:nvSpPr>
          <p:cNvPr id="40" name="text-198"/>
          <p:cNvSpPr txBox="1"/>
          <p:nvPr/>
        </p:nvSpPr>
        <p:spPr>
          <a:xfrm>
            <a:off x="2660904" y="3904488"/>
            <a:ext cx="1783080" cy="256032"/>
          </a:xfrm>
          <a:prstGeom prst="rect">
            <a:avLst/>
          </a:prstGeom>
          <a:noFill/>
          <a:ln/>
        </p:spPr>
        <p:txBody>
          <a:bodyPr wrap="square" lIns="0" tIns="0" rIns="0" bIns="0" rtlCol="0" anchor="t"/>
          <a:lstStyle/>
          <a:p>
            <a:pPr indent="0" marL="0">
              <a:buNone/>
            </a:pPr>
            <a:r>
              <a:rPr lang="en-US" sz="1150" b="1" dirty="0">
                <a:solidFill>
                  <a:schemeClr val="tx2"/>
                </a:solidFill>
              </a:rPr>
              <a:t>Deck.gl 9 + MapLibre</a:t>
            </a:r>
            <a:endParaRPr lang="en-US" sz="1150" dirty="0"/>
          </a:p>
        </p:txBody>
      </p:sp>
      <p:sp>
        <p:nvSpPr>
          <p:cNvPr id="41" name="text-199"/>
          <p:cNvSpPr txBox="1"/>
          <p:nvPr/>
        </p:nvSpPr>
        <p:spPr>
          <a:xfrm>
            <a:off x="2660904" y="4160520"/>
            <a:ext cx="1783080" cy="228600"/>
          </a:xfrm>
          <a:prstGeom prst="rect">
            <a:avLst/>
          </a:prstGeom>
          <a:noFill/>
          <a:ln/>
        </p:spPr>
        <p:txBody>
          <a:bodyPr wrap="square" lIns="0" tIns="0" rIns="0" bIns="0" rtlCol="0" anchor="t"/>
          <a:lstStyle/>
          <a:p>
            <a:pPr indent="0" marL="0">
              <a:buNone/>
            </a:pPr>
            <a:r>
              <a:rPr lang="en-US" sz="1050" dirty="0">
                <a:solidFill>
                  <a:schemeClr val="accent5"/>
                </a:solidFill>
              </a:rPr>
              <a:t>GPU map</a:t>
            </a:r>
            <a:endParaRPr lang="en-US" sz="1050" dirty="0"/>
          </a:p>
        </p:txBody>
      </p:sp>
      <p:sp>
        <p:nvSpPr>
          <p:cNvPr id="42" name="card-200"/>
          <p:cNvSpPr/>
          <p:nvPr/>
        </p:nvSpPr>
        <p:spPr>
          <a:xfrm>
            <a:off x="4645152" y="3840480"/>
            <a:ext cx="1956816" cy="603504"/>
          </a:xfrm>
          <a:prstGeom prst="roundRect">
            <a:avLst>
              <a:gd name="adj" fmla="val 12121"/>
            </a:avLst>
          </a:prstGeom>
          <a:solidFill>
            <a:schemeClr val="bg2"/>
          </a:solidFill>
          <a:ln w="12700">
            <a:solidFill>
              <a:schemeClr val="bg2"/>
            </a:solidFill>
            <a:prstDash val="solid"/>
          </a:ln>
        </p:spPr>
      </p:sp>
      <p:sp>
        <p:nvSpPr>
          <p:cNvPr id="43" name="text-201"/>
          <p:cNvSpPr txBox="1"/>
          <p:nvPr/>
        </p:nvSpPr>
        <p:spPr>
          <a:xfrm>
            <a:off x="4754880" y="3904488"/>
            <a:ext cx="1783080" cy="256032"/>
          </a:xfrm>
          <a:prstGeom prst="rect">
            <a:avLst/>
          </a:prstGeom>
          <a:noFill/>
          <a:ln/>
        </p:spPr>
        <p:txBody>
          <a:bodyPr wrap="square" lIns="0" tIns="0" rIns="0" bIns="0" rtlCol="0" anchor="t"/>
          <a:lstStyle/>
          <a:p>
            <a:pPr indent="0" marL="0">
              <a:buNone/>
            </a:pPr>
            <a:r>
              <a:rPr lang="en-US" sz="1150" b="1" dirty="0">
                <a:solidFill>
                  <a:schemeClr val="tx2"/>
                </a:solidFill>
              </a:rPr>
              <a:t>Apache ECharts 6</a:t>
            </a:r>
            <a:endParaRPr lang="en-US" sz="1150" dirty="0"/>
          </a:p>
        </p:txBody>
      </p:sp>
      <p:sp>
        <p:nvSpPr>
          <p:cNvPr id="44" name="text-202"/>
          <p:cNvSpPr txBox="1"/>
          <p:nvPr/>
        </p:nvSpPr>
        <p:spPr>
          <a:xfrm>
            <a:off x="4754880" y="4160520"/>
            <a:ext cx="1783080" cy="228600"/>
          </a:xfrm>
          <a:prstGeom prst="rect">
            <a:avLst/>
          </a:prstGeom>
          <a:noFill/>
          <a:ln/>
        </p:spPr>
        <p:txBody>
          <a:bodyPr wrap="square" lIns="0" tIns="0" rIns="0" bIns="0" rtlCol="0" anchor="t"/>
          <a:lstStyle/>
          <a:p>
            <a:pPr indent="0" marL="0">
              <a:buNone/>
            </a:pPr>
            <a:r>
              <a:rPr lang="en-US" sz="1050" dirty="0">
                <a:solidFill>
                  <a:schemeClr val="accent5"/>
                </a:solidFill>
              </a:rPr>
              <a:t>Analytics charts</a:t>
            </a:r>
            <a:endParaRPr lang="en-US" sz="1050" dirty="0"/>
          </a:p>
        </p:txBody>
      </p:sp>
      <p:sp>
        <p:nvSpPr>
          <p:cNvPr id="45" name="card-203"/>
          <p:cNvSpPr/>
          <p:nvPr/>
        </p:nvSpPr>
        <p:spPr>
          <a:xfrm>
            <a:off x="6739128" y="3840480"/>
            <a:ext cx="1956816" cy="603504"/>
          </a:xfrm>
          <a:prstGeom prst="roundRect">
            <a:avLst>
              <a:gd name="adj" fmla="val 12121"/>
            </a:avLst>
          </a:prstGeom>
          <a:solidFill>
            <a:schemeClr val="bg2"/>
          </a:solidFill>
          <a:ln w="12700">
            <a:solidFill>
              <a:schemeClr val="bg2"/>
            </a:solidFill>
            <a:prstDash val="solid"/>
          </a:ln>
        </p:spPr>
      </p:sp>
      <p:sp>
        <p:nvSpPr>
          <p:cNvPr id="46" name="text-204"/>
          <p:cNvSpPr txBox="1"/>
          <p:nvPr/>
        </p:nvSpPr>
        <p:spPr>
          <a:xfrm>
            <a:off x="6848856" y="3904488"/>
            <a:ext cx="1783080" cy="256032"/>
          </a:xfrm>
          <a:prstGeom prst="rect">
            <a:avLst/>
          </a:prstGeom>
          <a:noFill/>
          <a:ln/>
        </p:spPr>
        <p:txBody>
          <a:bodyPr wrap="square" lIns="0" tIns="0" rIns="0" bIns="0" rtlCol="0" anchor="t"/>
          <a:lstStyle/>
          <a:p>
            <a:pPr indent="0" marL="0">
              <a:buNone/>
            </a:pPr>
            <a:r>
              <a:rPr lang="en-US" sz="1150" b="1" dirty="0">
                <a:solidFill>
                  <a:schemeClr val="tx2"/>
                </a:solidFill>
              </a:rPr>
              <a:t>Docker Compose · pytest · CI</a:t>
            </a:r>
            <a:endParaRPr lang="en-US" sz="1150" dirty="0"/>
          </a:p>
        </p:txBody>
      </p:sp>
      <p:sp>
        <p:nvSpPr>
          <p:cNvPr id="47" name="text-205"/>
          <p:cNvSpPr txBox="1"/>
          <p:nvPr/>
        </p:nvSpPr>
        <p:spPr>
          <a:xfrm>
            <a:off x="6848856" y="4160520"/>
            <a:ext cx="1783080" cy="228600"/>
          </a:xfrm>
          <a:prstGeom prst="rect">
            <a:avLst/>
          </a:prstGeom>
          <a:noFill/>
          <a:ln/>
        </p:spPr>
        <p:txBody>
          <a:bodyPr wrap="square" lIns="0" tIns="0" rIns="0" bIns="0" rtlCol="0" anchor="t"/>
          <a:lstStyle/>
          <a:p>
            <a:pPr indent="0" marL="0">
              <a:buNone/>
            </a:pPr>
            <a:r>
              <a:rPr lang="en-US" sz="1050" dirty="0">
                <a:solidFill>
                  <a:schemeClr val="accent5"/>
                </a:solidFill>
              </a:rPr>
              <a:t>Ops &amp; testing</a:t>
            </a:r>
            <a:endParaRPr lang="en-US" sz="1050" dirty="0"/>
          </a:p>
        </p:txBody>
      </p:sp>
      <p:sp>
        <p:nvSpPr>
          <p:cNvPr id="25" name="Slide Number Placeholder 0"/>
          <p:cNvSpPr>
            <a:spLocks noGrp="1"/>
          </p:cNvSpPr>
          <p:nvPr>
            <p:ph type="sldNum" sz="quarter" idx="4294967295"/>
          </p:nvPr>
        </p:nvSpPr>
        <p:spPr>
          <a:xfrm>
            <a:off x="8229600" y="479145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800" b="1" dirty="0">
                <a:solidFill>
                  <a:schemeClr val="tx2"/>
                </a:solidFill>
              </a:rPr>
              <a:t>Why These Tools?</a:t>
            </a:r>
            <a:endParaRPr lang="en-US" sz="2800" dirty="0"/>
          </a:p>
        </p:txBody>
      </p:sp>
      <p:graphicFrame>
        <p:nvGraphicFramePr>
          <p:cNvPr id="10" name="tool-table"/>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1234440"/>
                <a:gridCol w="1417320"/>
                <a:gridCol w="2743200"/>
                <a:gridCol w="2834640"/>
              </a:tblGrid>
              <a:tr h="365760">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Tool</a:t>
                      </a:r>
                      <a:endParaRPr lang="en-US" sz="1200" dirty="0">
                        <a:latin typeface="Calibri" charset="0"/>
                        <a:ea typeface="Calibri" charset="0"/>
                        <a:cs typeface="Calibri" charset="0"/>
                      </a:endParaRPr>
                    </a:p>
                  </a:txBody>
                  <a:tcPr marL="73152" marR="73152" marT="73152" marB="73152"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Pipeline stage</a:t>
                      </a:r>
                      <a:endParaRPr lang="en-US" sz="1200" dirty="0">
                        <a:latin typeface="Calibri" charset="0"/>
                        <a:ea typeface="Calibri" charset="0"/>
                        <a:cs typeface="Calibri" charset="0"/>
                      </a:endParaRPr>
                    </a:p>
                  </a:txBody>
                  <a:tcPr marL="73152" marR="73152" marT="73152" marB="73152"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What it does here</a:t>
                      </a:r>
                      <a:endParaRPr lang="en-US" sz="1200" dirty="0">
                        <a:latin typeface="Calibri" charset="0"/>
                        <a:ea typeface="Calibri" charset="0"/>
                        <a:cs typeface="Calibri" charset="0"/>
                      </a:endParaRPr>
                    </a:p>
                  </a:txBody>
                  <a:tcPr marL="73152" marR="73152" marT="73152" marB="73152"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Why a single / traditional tool struggles</a:t>
                      </a:r>
                      <a:endParaRPr lang="en-US" sz="1200" dirty="0">
                        <a:latin typeface="Calibri" charset="0"/>
                        <a:ea typeface="Calibri" charset="0"/>
                        <a:cs typeface="Calibri" charset="0"/>
                      </a:endParaRPr>
                    </a:p>
                  </a:txBody>
                  <a:tcPr marL="73152" marR="73152" marT="73152" marB="73152"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chemeClr val="tx2"/>
                    </a:solidFill>
                  </a:tcPr>
                </a:tc>
              </a:tr>
              <a:tr h="777240">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Apache Kafka</a:t>
                      </a:r>
                      <a:endParaRPr lang="en-US" sz="1150" dirty="0">
                        <a:latin typeface="Calibri" charset="0"/>
                        <a:ea typeface="Calibri" charset="0"/>
                        <a:cs typeface="Calibri" charset="0"/>
                      </a:endParaRPr>
                    </a:p>
                  </a:txBody>
                  <a:tcPr marL="73152" marR="73152" marT="73152" marB="73152"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Real-time stream buffer</a:t>
                      </a:r>
                      <a:endParaRPr lang="en-US" sz="1150" dirty="0">
                        <a:latin typeface="Calibri" charset="0"/>
                        <a:ea typeface="Calibri" charset="0"/>
                        <a:cs typeface="Calibri" charset="0"/>
                      </a:endParaRPr>
                    </a:p>
                  </a:txBody>
                  <a:tcPr marL="73152" marR="73152" marT="73152" marB="73152"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Ingests AIS pings keyed by MMSI across 6 partitions — strict per-vessel order with 6-way parallelism</a:t>
                      </a:r>
                      <a:endParaRPr lang="en-US" sz="1150" dirty="0">
                        <a:latin typeface="Calibri" charset="0"/>
                        <a:ea typeface="Calibri" charset="0"/>
                        <a:cs typeface="Calibri" charset="0"/>
                      </a:endParaRPr>
                    </a:p>
                  </a:txBody>
                  <a:tcPr marL="73152" marR="73152" marT="73152" marB="73152"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RabbitMQ-style queues lose messages once consumed: no log replay, no offset reset, no per-key partitioning</a:t>
                      </a:r>
                      <a:endParaRPr lang="en-US" sz="1150" dirty="0">
                        <a:latin typeface="Calibri" charset="0"/>
                        <a:ea typeface="Calibri" charset="0"/>
                        <a:cs typeface="Calibri" charset="0"/>
                      </a:endParaRPr>
                    </a:p>
                  </a:txBody>
                  <a:tcPr marL="73152" marR="73152" marT="73152" marB="73152"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chemeClr val="bg1"/>
                    </a:solidFill>
                  </a:tcPr>
                </a:tc>
              </a:tr>
              <a:tr h="685800">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Apache Spark</a:t>
                      </a:r>
                      <a:endParaRPr lang="en-US" sz="1150" dirty="0">
                        <a:latin typeface="Calibri" charset="0"/>
                        <a:ea typeface="Calibri" charset="0"/>
                        <a:cs typeface="Calibri" charset="0"/>
                      </a:endParaRPr>
                    </a:p>
                  </a:txBody>
                  <a:tcPr marL="73152" marR="73152" marT="73152" marB="73152"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Distributed batch ETL</a:t>
                      </a:r>
                      <a:endParaRPr lang="en-US" sz="1150" dirty="0">
                        <a:latin typeface="Calibri" charset="0"/>
                        <a:ea typeface="Calibri" charset="0"/>
                        <a:cs typeface="Calibri" charset="0"/>
                      </a:endParaRPr>
                    </a:p>
                  </a:txBody>
                  <a:tcPr marL="73152" marR="73152" marT="73152" marB="73152"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Lag windows per MMSI and percentile_approx of gaps per H3 cell and class</a:t>
                      </a:r>
                      <a:endParaRPr lang="en-US" sz="1150" dirty="0">
                        <a:latin typeface="Calibri" charset="0"/>
                        <a:ea typeface="Calibri" charset="0"/>
                        <a:cs typeface="Calibri" charset="0"/>
                      </a:endParaRPr>
                    </a:p>
                  </a:txBody>
                  <a:tcPr marL="73152" marR="73152" marT="73152" marB="73152"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Windowed lags + percentiles over 100M+ rows do not fit in one machine's memory</a:t>
                      </a:r>
                      <a:endParaRPr lang="en-US" sz="1150" dirty="0">
                        <a:latin typeface="Calibri" charset="0"/>
                        <a:ea typeface="Calibri" charset="0"/>
                        <a:cs typeface="Calibri" charset="0"/>
                      </a:endParaRPr>
                    </a:p>
                  </a:txBody>
                  <a:tcPr marL="73152" marR="73152" marT="73152" marB="73152"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chemeClr val="bg1"/>
                    </a:solidFill>
                  </a:tcPr>
                </a:tc>
              </a:tr>
              <a:tr h="685800">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Spark MLlib</a:t>
                      </a:r>
                      <a:endParaRPr lang="en-US" sz="1150" dirty="0">
                        <a:latin typeface="Calibri" charset="0"/>
                        <a:ea typeface="Calibri" charset="0"/>
                        <a:cs typeface="Calibri" charset="0"/>
                      </a:endParaRPr>
                    </a:p>
                  </a:txBody>
                  <a:tcPr marL="73152" marR="73152" marT="73152" marB="73152"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Distributed ML</a:t>
                      </a:r>
                      <a:endParaRPr lang="en-US" sz="1150" dirty="0">
                        <a:latin typeface="Calibri" charset="0"/>
                        <a:ea typeface="Calibri" charset="0"/>
                        <a:cs typeface="Calibri" charset="0"/>
                      </a:endParaRPr>
                    </a:p>
                  </a:txBody>
                  <a:tcPr marL="73152" marR="73152" marT="73152" marB="73152"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Pipeline of VectorAssembler → StandardScaler → KMeans over trajectory windows</a:t>
                      </a:r>
                      <a:endParaRPr lang="en-US" sz="1150" dirty="0">
                        <a:latin typeface="Calibri" charset="0"/>
                        <a:ea typeface="Calibri" charset="0"/>
                        <a:cs typeface="Calibri" charset="0"/>
                      </a:endParaRPr>
                    </a:p>
                  </a:txBody>
                  <a:tcPr marL="73152" marR="73152" marT="73152" marB="73152"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scikit-learn is single-node; MLlib distributes scaling and centroid fitting</a:t>
                      </a:r>
                      <a:endParaRPr lang="en-US" sz="1150" dirty="0">
                        <a:latin typeface="Calibri" charset="0"/>
                        <a:ea typeface="Calibri" charset="0"/>
                        <a:cs typeface="Calibri" charset="0"/>
                      </a:endParaRPr>
                    </a:p>
                  </a:txBody>
                  <a:tcPr marL="73152" marR="73152" marT="73152" marB="73152"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chemeClr val="bg1"/>
                    </a:solidFill>
                  </a:tcPr>
                </a:tc>
              </a:tr>
            </a:tbl>
          </a:graphicData>
        </a:graphic>
      </p:graphicFrame>
      <p:sp>
        <p:nvSpPr>
          <p:cNvPr id="5" name="card-206"/>
          <p:cNvSpPr/>
          <p:nvPr/>
        </p:nvSpPr>
        <p:spPr>
          <a:xfrm>
            <a:off x="457200" y="3749040"/>
            <a:ext cx="8229600" cy="731520"/>
          </a:xfrm>
          <a:prstGeom prst="roundRect">
            <a:avLst>
              <a:gd name="adj" fmla="val 10000"/>
            </a:avLst>
          </a:prstGeom>
          <a:solidFill>
            <a:schemeClr val="bg2"/>
          </a:solidFill>
          <a:ln w="12700">
            <a:solidFill>
              <a:schemeClr val="bg2"/>
            </a:solidFill>
            <a:prstDash val="solid"/>
          </a:ln>
        </p:spPr>
      </p:sp>
      <p:sp>
        <p:nvSpPr>
          <p:cNvPr id="6" name="text-207"/>
          <p:cNvSpPr txBox="1"/>
          <p:nvPr/>
        </p:nvSpPr>
        <p:spPr>
          <a:xfrm>
            <a:off x="640080" y="3749040"/>
            <a:ext cx="7863840" cy="731520"/>
          </a:xfrm>
          <a:prstGeom prst="rect">
            <a:avLst/>
          </a:prstGeom>
          <a:noFill/>
          <a:ln/>
        </p:spPr>
        <p:txBody>
          <a:bodyPr wrap="square" lIns="0" tIns="0" rIns="0" bIns="0" rtlCol="0" anchor="ctr"/>
          <a:lstStyle/>
          <a:p>
            <a:pPr indent="0" marL="0">
              <a:buNone/>
            </a:pPr>
            <a:r>
              <a:rPr lang="en-US" sz="1200" b="1" dirty="0">
                <a:solidFill>
                  <a:schemeClr val="tx2"/>
                </a:solidFill>
              </a:rPr>
              <a:t>Rejected alternatives:  </a:t>
            </a:r>
            <a:pPr indent="0" marL="0">
              <a:buNone/>
            </a:pPr>
            <a:r>
              <a:rPr lang="en-US" sz="1200" dirty="0">
                <a:solidFill>
                  <a:schemeClr val="tx1"/>
                </a:solidFill>
              </a:rPr>
              <a:t>RabbitMQ (no replay) · Flink (thin Python ecosystem) · Pandas-only (won't fit a year of AIS) · Leaflet (stalls past ~2,000 markers) · MongoDB / InfluxDB (weak spatial joins)</a:t>
            </a:r>
            <a:endParaRPr lang="en-US" sz="1200" dirty="0"/>
          </a:p>
        </p:txBody>
      </p:sp>
      <p:sp>
        <p:nvSpPr>
          <p:cNvPr id="25" name="Slide Number Placeholder 0"/>
          <p:cNvSpPr>
            <a:spLocks noGrp="1"/>
          </p:cNvSpPr>
          <p:nvPr>
            <p:ph type="sldNum" sz="quarter" idx="4294967295"/>
          </p:nvPr>
        </p:nvSpPr>
        <p:spPr>
          <a:xfrm>
            <a:off x="8229600" y="479145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800" b="1" dirty="0">
                <a:solidFill>
                  <a:schemeClr val="tx2"/>
                </a:solidFill>
              </a:rPr>
              <a:t>Solution Architecture</a:t>
            </a:r>
            <a:endParaRPr lang="en-US" sz="2800" dirty="0"/>
          </a:p>
        </p:txBody>
      </p:sp>
      <p:sp>
        <p:nvSpPr>
          <p:cNvPr id="4" name="text-208"/>
          <p:cNvSpPr txBox="1"/>
          <p:nvPr/>
        </p:nvSpPr>
        <p:spPr>
          <a:xfrm>
            <a:off x="457200" y="914400"/>
            <a:ext cx="2743200" cy="201168"/>
          </a:xfrm>
          <a:prstGeom prst="rect">
            <a:avLst/>
          </a:prstGeom>
          <a:noFill/>
          <a:ln/>
        </p:spPr>
        <p:txBody>
          <a:bodyPr wrap="square" lIns="0" tIns="0" rIns="0" bIns="0" rtlCol="0" anchor="t"/>
          <a:lstStyle/>
          <a:p>
            <a:pPr indent="0" marL="0">
              <a:buNone/>
            </a:pPr>
            <a:r>
              <a:rPr lang="en-US" sz="1000" b="1" spc="100" kern="0" dirty="0">
                <a:solidFill>
                  <a:schemeClr val="accent2"/>
                </a:solidFill>
              </a:rPr>
              <a:t>BATCH LAYER</a:t>
            </a:r>
            <a:endParaRPr lang="en-US" sz="1000" dirty="0"/>
          </a:p>
        </p:txBody>
      </p:sp>
      <p:sp>
        <p:nvSpPr>
          <p:cNvPr id="5" name="text-209"/>
          <p:cNvSpPr txBox="1"/>
          <p:nvPr/>
        </p:nvSpPr>
        <p:spPr>
          <a:xfrm>
            <a:off x="457200" y="2267712"/>
            <a:ext cx="2743200" cy="201168"/>
          </a:xfrm>
          <a:prstGeom prst="rect">
            <a:avLst/>
          </a:prstGeom>
          <a:noFill/>
          <a:ln/>
        </p:spPr>
        <p:txBody>
          <a:bodyPr wrap="square" lIns="0" tIns="0" rIns="0" bIns="0" rtlCol="0" anchor="t"/>
          <a:lstStyle/>
          <a:p>
            <a:pPr indent="0" marL="0">
              <a:buNone/>
            </a:pPr>
            <a:r>
              <a:rPr lang="en-US" sz="1000" b="1" spc="100" kern="0" dirty="0">
                <a:solidFill>
                  <a:schemeClr val="accent2"/>
                </a:solidFill>
              </a:rPr>
              <a:t>SPEED LAYER</a:t>
            </a:r>
            <a:endParaRPr lang="en-US" sz="1000" dirty="0"/>
          </a:p>
        </p:txBody>
      </p:sp>
      <p:sp>
        <p:nvSpPr>
          <p:cNvPr id="6" name="card-210"/>
          <p:cNvSpPr/>
          <p:nvPr/>
        </p:nvSpPr>
        <p:spPr>
          <a:xfrm>
            <a:off x="457200" y="1143000"/>
            <a:ext cx="1463040" cy="713232"/>
          </a:xfrm>
          <a:prstGeom prst="roundRect">
            <a:avLst>
              <a:gd name="adj" fmla="val 10256"/>
            </a:avLst>
          </a:prstGeom>
          <a:solidFill>
            <a:schemeClr val="bg2"/>
          </a:solidFill>
          <a:ln w="12700">
            <a:solidFill>
              <a:schemeClr val="bg2"/>
            </a:solidFill>
            <a:prstDash val="solid"/>
          </a:ln>
        </p:spPr>
      </p:sp>
      <p:sp>
        <p:nvSpPr>
          <p:cNvPr id="7" name="text-211"/>
          <p:cNvSpPr txBox="1"/>
          <p:nvPr/>
        </p:nvSpPr>
        <p:spPr>
          <a:xfrm>
            <a:off x="530352" y="1143000"/>
            <a:ext cx="1316736" cy="713232"/>
          </a:xfrm>
          <a:prstGeom prst="rect">
            <a:avLst/>
          </a:prstGeom>
          <a:noFill/>
          <a:ln/>
        </p:spPr>
        <p:txBody>
          <a:bodyPr wrap="square" lIns="0" tIns="0" rIns="0" bIns="0" rtlCol="0" anchor="ctr"/>
          <a:lstStyle/>
          <a:p>
            <a:pPr algn="ctr" indent="0" marL="0">
              <a:buNone/>
            </a:pPr>
            <a:r>
              <a:rPr lang="en-US" sz="1200" b="1" dirty="0">
                <a:solidFill>
                  <a:schemeClr val="tx2"/>
                </a:solidFill>
              </a:rPr>
              <a:t>Historical AIS</a:t>
            </a:r>
            <a:endParaRPr lang="en-US" sz="1400" dirty="0"/>
          </a:p>
          <a:p>
            <a:pPr algn="ctr" indent="0" marL="0">
              <a:buNone/>
            </a:pPr>
            <a:r>
              <a:rPr lang="en-US" sz="1000" dirty="0">
                <a:solidFill>
                  <a:schemeClr val="accent5"/>
                </a:solidFill>
              </a:rPr>
              <a:t>NOAA Marine Cadastre CSV</a:t>
            </a:r>
            <a:endParaRPr lang="en-US" sz="1400" dirty="0"/>
          </a:p>
        </p:txBody>
      </p:sp>
      <p:sp>
        <p:nvSpPr>
          <p:cNvPr id="8" name="card-212"/>
          <p:cNvSpPr/>
          <p:nvPr/>
        </p:nvSpPr>
        <p:spPr>
          <a:xfrm>
            <a:off x="2148840" y="1143000"/>
            <a:ext cx="1463040" cy="713232"/>
          </a:xfrm>
          <a:prstGeom prst="roundRect">
            <a:avLst>
              <a:gd name="adj" fmla="val 10256"/>
            </a:avLst>
          </a:prstGeom>
          <a:solidFill>
            <a:schemeClr val="bg2"/>
          </a:solidFill>
          <a:ln w="12700">
            <a:solidFill>
              <a:schemeClr val="bg2"/>
            </a:solidFill>
            <a:prstDash val="solid"/>
          </a:ln>
        </p:spPr>
      </p:sp>
      <p:sp>
        <p:nvSpPr>
          <p:cNvPr id="9" name="text-213"/>
          <p:cNvSpPr txBox="1"/>
          <p:nvPr/>
        </p:nvSpPr>
        <p:spPr>
          <a:xfrm>
            <a:off x="2221992" y="1143000"/>
            <a:ext cx="1316736" cy="713232"/>
          </a:xfrm>
          <a:prstGeom prst="rect">
            <a:avLst/>
          </a:prstGeom>
          <a:noFill/>
          <a:ln/>
        </p:spPr>
        <p:txBody>
          <a:bodyPr wrap="square" lIns="0" tIns="0" rIns="0" bIns="0" rtlCol="0" anchor="ctr"/>
          <a:lstStyle/>
          <a:p>
            <a:pPr algn="ctr" indent="0" marL="0">
              <a:buNone/>
            </a:pPr>
            <a:r>
              <a:rPr lang="en-US" sz="1200" b="1" dirty="0">
                <a:solidFill>
                  <a:schemeClr val="tx2"/>
                </a:solidFill>
              </a:rPr>
              <a:t>Parquet ETL</a:t>
            </a:r>
            <a:endParaRPr lang="en-US" sz="1400" dirty="0"/>
          </a:p>
          <a:p>
            <a:pPr algn="ctr" indent="0" marL="0">
              <a:buNone/>
            </a:pPr>
            <a:r>
              <a:rPr lang="en-US" sz="1000" dirty="0">
                <a:solidFill>
                  <a:schemeClr val="accent5"/>
                </a:solidFill>
              </a:rPr>
              <a:t>validate · date-partitioned</a:t>
            </a:r>
            <a:endParaRPr lang="en-US" sz="1400" dirty="0"/>
          </a:p>
        </p:txBody>
      </p:sp>
      <p:sp>
        <p:nvSpPr>
          <p:cNvPr id="10" name="card-214"/>
          <p:cNvSpPr/>
          <p:nvPr/>
        </p:nvSpPr>
        <p:spPr>
          <a:xfrm>
            <a:off x="3840480" y="1143000"/>
            <a:ext cx="3154680" cy="713232"/>
          </a:xfrm>
          <a:prstGeom prst="roundRect">
            <a:avLst>
              <a:gd name="adj" fmla="val 10256"/>
            </a:avLst>
          </a:prstGeom>
          <a:solidFill>
            <a:schemeClr val="tx2"/>
          </a:solidFill>
          <a:ln w="12700">
            <a:solidFill>
              <a:schemeClr val="tx2"/>
            </a:solidFill>
            <a:prstDash val="solid"/>
          </a:ln>
        </p:spPr>
      </p:sp>
      <p:sp>
        <p:nvSpPr>
          <p:cNvPr id="11" name="text-215"/>
          <p:cNvSpPr txBox="1"/>
          <p:nvPr/>
        </p:nvSpPr>
        <p:spPr>
          <a:xfrm>
            <a:off x="3913632" y="1143000"/>
            <a:ext cx="3008376" cy="713232"/>
          </a:xfrm>
          <a:prstGeom prst="rect">
            <a:avLst/>
          </a:prstGeom>
          <a:noFill/>
          <a:ln/>
        </p:spPr>
        <p:txBody>
          <a:bodyPr wrap="square" lIns="0" tIns="0" rIns="0" bIns="0" rtlCol="0" anchor="ctr"/>
          <a:lstStyle/>
          <a:p>
            <a:pPr algn="ctr" indent="0" marL="0">
              <a:buNone/>
            </a:pPr>
            <a:r>
              <a:rPr lang="en-US" sz="1200" b="1" dirty="0">
                <a:solidFill>
                  <a:schemeClr val="bg1"/>
                </a:solidFill>
              </a:rPr>
              <a:t>Apache Spark + MLlib</a:t>
            </a:r>
            <a:endParaRPr lang="en-US" sz="1400" dirty="0"/>
          </a:p>
          <a:p>
            <a:pPr algn="ctr" indent="0" marL="0">
              <a:buNone/>
            </a:pPr>
            <a:r>
              <a:rPr lang="en-US" sz="1000" dirty="0">
                <a:solidFill>
                  <a:schemeClr val="accent4"/>
                </a:solidFill>
              </a:rPr>
              <a:t>H3 p50/p95/p99 gap prior · KMeans trajectory model</a:t>
            </a:r>
            <a:endParaRPr lang="en-US" sz="1400" dirty="0"/>
          </a:p>
        </p:txBody>
      </p:sp>
      <p:sp>
        <p:nvSpPr>
          <p:cNvPr id="12" name="card-216"/>
          <p:cNvSpPr/>
          <p:nvPr/>
        </p:nvSpPr>
        <p:spPr>
          <a:xfrm>
            <a:off x="457200" y="2496312"/>
            <a:ext cx="1463040" cy="713232"/>
          </a:xfrm>
          <a:prstGeom prst="roundRect">
            <a:avLst>
              <a:gd name="adj" fmla="val 10256"/>
            </a:avLst>
          </a:prstGeom>
          <a:solidFill>
            <a:schemeClr val="bg2"/>
          </a:solidFill>
          <a:ln w="12700">
            <a:solidFill>
              <a:schemeClr val="bg2"/>
            </a:solidFill>
            <a:prstDash val="solid"/>
          </a:ln>
        </p:spPr>
      </p:sp>
      <p:sp>
        <p:nvSpPr>
          <p:cNvPr id="13" name="text-217"/>
          <p:cNvSpPr txBox="1"/>
          <p:nvPr/>
        </p:nvSpPr>
        <p:spPr>
          <a:xfrm>
            <a:off x="530352" y="2496312"/>
            <a:ext cx="1316736" cy="713232"/>
          </a:xfrm>
          <a:prstGeom prst="rect">
            <a:avLst/>
          </a:prstGeom>
          <a:noFill/>
          <a:ln/>
        </p:spPr>
        <p:txBody>
          <a:bodyPr wrap="square" lIns="0" tIns="0" rIns="0" bIns="0" rtlCol="0" anchor="ctr"/>
          <a:lstStyle/>
          <a:p>
            <a:pPr algn="ctr" indent="0" marL="0">
              <a:buNone/>
            </a:pPr>
            <a:r>
              <a:rPr lang="en-US" sz="1200" b="1" dirty="0">
                <a:solidFill>
                  <a:schemeClr val="tx2"/>
                </a:solidFill>
              </a:rPr>
              <a:t>AIS Producer</a:t>
            </a:r>
            <a:endParaRPr lang="en-US" sz="1400" dirty="0"/>
          </a:p>
          <a:p>
            <a:pPr algn="ctr" indent="0" marL="0">
              <a:buNone/>
            </a:pPr>
            <a:r>
              <a:rPr lang="en-US" sz="1000" dirty="0">
                <a:solidFill>
                  <a:schemeClr val="accent5"/>
                </a:solidFill>
              </a:rPr>
              <a:t>NOAA replay · aisstream.io live</a:t>
            </a:r>
            <a:endParaRPr lang="en-US" sz="1400" dirty="0"/>
          </a:p>
        </p:txBody>
      </p:sp>
      <p:sp>
        <p:nvSpPr>
          <p:cNvPr id="14" name="card-218"/>
          <p:cNvSpPr/>
          <p:nvPr/>
        </p:nvSpPr>
        <p:spPr>
          <a:xfrm>
            <a:off x="2148840" y="2496312"/>
            <a:ext cx="1463040" cy="713232"/>
          </a:xfrm>
          <a:prstGeom prst="roundRect">
            <a:avLst>
              <a:gd name="adj" fmla="val 10256"/>
            </a:avLst>
          </a:prstGeom>
          <a:solidFill>
            <a:schemeClr val="tx2"/>
          </a:solidFill>
          <a:ln w="12700">
            <a:solidFill>
              <a:schemeClr val="tx2"/>
            </a:solidFill>
            <a:prstDash val="solid"/>
          </a:ln>
        </p:spPr>
      </p:sp>
      <p:sp>
        <p:nvSpPr>
          <p:cNvPr id="15" name="text-219"/>
          <p:cNvSpPr txBox="1"/>
          <p:nvPr/>
        </p:nvSpPr>
        <p:spPr>
          <a:xfrm>
            <a:off x="2221992" y="2496312"/>
            <a:ext cx="1316736" cy="713232"/>
          </a:xfrm>
          <a:prstGeom prst="rect">
            <a:avLst/>
          </a:prstGeom>
          <a:noFill/>
          <a:ln/>
        </p:spPr>
        <p:txBody>
          <a:bodyPr wrap="square" lIns="0" tIns="0" rIns="0" bIns="0" rtlCol="0" anchor="ctr"/>
          <a:lstStyle/>
          <a:p>
            <a:pPr algn="ctr" indent="0" marL="0">
              <a:buNone/>
            </a:pPr>
            <a:r>
              <a:rPr lang="en-US" sz="1200" b="1" dirty="0">
                <a:solidFill>
                  <a:schemeClr val="bg1"/>
                </a:solidFill>
              </a:rPr>
              <a:t>Apache Kafka</a:t>
            </a:r>
            <a:endParaRPr lang="en-US" sz="1400" dirty="0"/>
          </a:p>
          <a:p>
            <a:pPr algn="ctr" indent="0" marL="0">
              <a:buNone/>
            </a:pPr>
            <a:r>
              <a:rPr lang="en-US" sz="1000" dirty="0">
                <a:solidFill>
                  <a:schemeClr val="accent4"/>
                </a:solidFill>
              </a:rPr>
              <a:t>ais.positions.raw · 6 partitions</a:t>
            </a:r>
            <a:endParaRPr lang="en-US" sz="1400" dirty="0"/>
          </a:p>
        </p:txBody>
      </p:sp>
      <p:sp>
        <p:nvSpPr>
          <p:cNvPr id="16" name="card-220"/>
          <p:cNvSpPr/>
          <p:nvPr/>
        </p:nvSpPr>
        <p:spPr>
          <a:xfrm>
            <a:off x="3840480" y="2496312"/>
            <a:ext cx="1463040" cy="713232"/>
          </a:xfrm>
          <a:prstGeom prst="roundRect">
            <a:avLst>
              <a:gd name="adj" fmla="val 10256"/>
            </a:avLst>
          </a:prstGeom>
          <a:solidFill>
            <a:schemeClr val="bg2"/>
          </a:solidFill>
          <a:ln w="12700">
            <a:solidFill>
              <a:schemeClr val="bg2"/>
            </a:solidFill>
            <a:prstDash val="solid"/>
          </a:ln>
        </p:spPr>
      </p:sp>
      <p:sp>
        <p:nvSpPr>
          <p:cNvPr id="17" name="text-221"/>
          <p:cNvSpPr txBox="1"/>
          <p:nvPr/>
        </p:nvSpPr>
        <p:spPr>
          <a:xfrm>
            <a:off x="3913632" y="2496312"/>
            <a:ext cx="1316736" cy="713232"/>
          </a:xfrm>
          <a:prstGeom prst="rect">
            <a:avLst/>
          </a:prstGeom>
          <a:noFill/>
          <a:ln/>
        </p:spPr>
        <p:txBody>
          <a:bodyPr wrap="square" lIns="0" tIns="0" rIns="0" bIns="0" rtlCol="0" anchor="ctr"/>
          <a:lstStyle/>
          <a:p>
            <a:pPr algn="ctr" indent="0" marL="0">
              <a:buNone/>
            </a:pPr>
            <a:r>
              <a:rPr lang="en-US" sz="1200" b="1" dirty="0">
                <a:solidFill>
                  <a:schemeClr val="tx2"/>
                </a:solidFill>
              </a:rPr>
              <a:t>Stream Consumer</a:t>
            </a:r>
            <a:endParaRPr lang="en-US" sz="1400" dirty="0"/>
          </a:p>
          <a:p>
            <a:pPr algn="ctr" indent="0" marL="0">
              <a:buNone/>
            </a:pPr>
            <a:r>
              <a:rPr lang="en-US" sz="1000" dirty="0">
                <a:solidFill>
                  <a:schemeClr val="accent5"/>
                </a:solidFill>
              </a:rPr>
              <a:t>stateful processor · batched upserts</a:t>
            </a:r>
            <a:endParaRPr lang="en-US" sz="1400" dirty="0"/>
          </a:p>
        </p:txBody>
      </p:sp>
      <p:sp>
        <p:nvSpPr>
          <p:cNvPr id="18" name="card-222"/>
          <p:cNvSpPr/>
          <p:nvPr/>
        </p:nvSpPr>
        <p:spPr>
          <a:xfrm>
            <a:off x="5532120" y="2496312"/>
            <a:ext cx="1463040" cy="713232"/>
          </a:xfrm>
          <a:prstGeom prst="roundRect">
            <a:avLst>
              <a:gd name="adj" fmla="val 10256"/>
            </a:avLst>
          </a:prstGeom>
          <a:solidFill>
            <a:schemeClr val="bg2"/>
          </a:solidFill>
          <a:ln w="12700">
            <a:solidFill>
              <a:schemeClr val="bg2"/>
            </a:solidFill>
            <a:prstDash val="solid"/>
          </a:ln>
        </p:spPr>
      </p:sp>
      <p:sp>
        <p:nvSpPr>
          <p:cNvPr id="19" name="text-223"/>
          <p:cNvSpPr txBox="1"/>
          <p:nvPr/>
        </p:nvSpPr>
        <p:spPr>
          <a:xfrm>
            <a:off x="5605272" y="2496312"/>
            <a:ext cx="1316736" cy="713232"/>
          </a:xfrm>
          <a:prstGeom prst="rect">
            <a:avLst/>
          </a:prstGeom>
          <a:noFill/>
          <a:ln/>
        </p:spPr>
        <p:txBody>
          <a:bodyPr wrap="square" lIns="0" tIns="0" rIns="0" bIns="0" rtlCol="0" anchor="ctr"/>
          <a:lstStyle/>
          <a:p>
            <a:pPr algn="ctr" indent="0" marL="0">
              <a:buNone/>
            </a:pPr>
            <a:r>
              <a:rPr lang="en-US" sz="1200" b="1" dirty="0">
                <a:solidFill>
                  <a:schemeClr val="tx2"/>
                </a:solidFill>
              </a:rPr>
              <a:t>PostgreSQL + PostGIS</a:t>
            </a:r>
            <a:endParaRPr lang="en-US" sz="1400" dirty="0"/>
          </a:p>
          <a:p>
            <a:pPr algn="ctr" indent="0" marL="0">
              <a:buNone/>
            </a:pPr>
            <a:r>
              <a:rPr lang="en-US" sz="1000" dirty="0">
                <a:solidFill>
                  <a:schemeClr val="accent5"/>
                </a:solidFill>
              </a:rPr>
              <a:t>hot state · cold history · alerts</a:t>
            </a:r>
            <a:endParaRPr lang="en-US" sz="1400" dirty="0"/>
          </a:p>
        </p:txBody>
      </p:sp>
      <p:sp>
        <p:nvSpPr>
          <p:cNvPr id="20" name="card-224"/>
          <p:cNvSpPr/>
          <p:nvPr/>
        </p:nvSpPr>
        <p:spPr>
          <a:xfrm>
            <a:off x="7223760" y="2496312"/>
            <a:ext cx="1463040" cy="713232"/>
          </a:xfrm>
          <a:prstGeom prst="roundRect">
            <a:avLst>
              <a:gd name="adj" fmla="val 10256"/>
            </a:avLst>
          </a:prstGeom>
          <a:solidFill>
            <a:schemeClr val="tx2"/>
          </a:solidFill>
          <a:ln w="12700">
            <a:solidFill>
              <a:schemeClr val="tx2"/>
            </a:solidFill>
            <a:prstDash val="solid"/>
          </a:ln>
        </p:spPr>
      </p:sp>
      <p:sp>
        <p:nvSpPr>
          <p:cNvPr id="21" name="text-225"/>
          <p:cNvSpPr txBox="1"/>
          <p:nvPr/>
        </p:nvSpPr>
        <p:spPr>
          <a:xfrm>
            <a:off x="7296912" y="2496312"/>
            <a:ext cx="1316736" cy="713232"/>
          </a:xfrm>
          <a:prstGeom prst="rect">
            <a:avLst/>
          </a:prstGeom>
          <a:noFill/>
          <a:ln/>
        </p:spPr>
        <p:txBody>
          <a:bodyPr wrap="square" lIns="0" tIns="0" rIns="0" bIns="0" rtlCol="0" anchor="ctr"/>
          <a:lstStyle/>
          <a:p>
            <a:pPr algn="ctr" indent="0" marL="0">
              <a:buNone/>
            </a:pPr>
            <a:r>
              <a:rPr lang="en-US" sz="1200" b="1" dirty="0">
                <a:solidFill>
                  <a:schemeClr val="bg1"/>
                </a:solidFill>
              </a:rPr>
              <a:t>Tactical Console</a:t>
            </a:r>
            <a:endParaRPr lang="en-US" sz="1400" dirty="0"/>
          </a:p>
          <a:p>
            <a:pPr algn="ctr" indent="0" marL="0">
              <a:buNone/>
            </a:pPr>
            <a:r>
              <a:rPr lang="en-US" sz="1000" dirty="0">
                <a:solidFill>
                  <a:schemeClr val="accent4"/>
                </a:solidFill>
              </a:rPr>
              <a:t>Next.js · Deck.gl · ECharts</a:t>
            </a:r>
            <a:endParaRPr lang="en-US" sz="1400" dirty="0"/>
          </a:p>
        </p:txBody>
      </p:sp>
      <p:sp>
        <p:nvSpPr>
          <p:cNvPr id="22" name="card-226"/>
          <p:cNvSpPr/>
          <p:nvPr/>
        </p:nvSpPr>
        <p:spPr>
          <a:xfrm>
            <a:off x="2148840" y="3794760"/>
            <a:ext cx="1463040" cy="713232"/>
          </a:xfrm>
          <a:prstGeom prst="roundRect">
            <a:avLst>
              <a:gd name="adj" fmla="val 10256"/>
            </a:avLst>
          </a:prstGeom>
          <a:solidFill>
            <a:schemeClr val="bg2"/>
          </a:solidFill>
          <a:ln w="12700">
            <a:solidFill>
              <a:schemeClr val="bg2"/>
            </a:solidFill>
            <a:prstDash val="solid"/>
          </a:ln>
        </p:spPr>
      </p:sp>
      <p:sp>
        <p:nvSpPr>
          <p:cNvPr id="23" name="text-227"/>
          <p:cNvSpPr txBox="1"/>
          <p:nvPr/>
        </p:nvSpPr>
        <p:spPr>
          <a:xfrm>
            <a:off x="2221992" y="3794760"/>
            <a:ext cx="1316736" cy="713232"/>
          </a:xfrm>
          <a:prstGeom prst="rect">
            <a:avLst/>
          </a:prstGeom>
          <a:noFill/>
          <a:ln/>
        </p:spPr>
        <p:txBody>
          <a:bodyPr wrap="square" lIns="0" tIns="0" rIns="0" bIns="0" rtlCol="0" anchor="ctr"/>
          <a:lstStyle/>
          <a:p>
            <a:pPr algn="ctr" indent="0" marL="0">
              <a:buNone/>
            </a:pPr>
            <a:r>
              <a:rPr lang="en-US" sz="1200" b="1" dirty="0">
                <a:solidFill>
                  <a:schemeClr val="tx2"/>
                </a:solidFill>
              </a:rPr>
              <a:t>Dead-Letter Queue</a:t>
            </a:r>
            <a:endParaRPr lang="en-US" sz="1400" dirty="0"/>
          </a:p>
          <a:p>
            <a:pPr algn="ctr" indent="0" marL="0">
              <a:buNone/>
            </a:pPr>
            <a:r>
              <a:rPr lang="en-US" sz="1000" dirty="0">
                <a:solidFill>
                  <a:schemeClr val="accent5"/>
                </a:solidFill>
              </a:rPr>
              <a:t>ais.positions.dlq</a:t>
            </a:r>
            <a:endParaRPr lang="en-US" sz="1400" dirty="0"/>
          </a:p>
        </p:txBody>
      </p:sp>
      <p:sp>
        <p:nvSpPr>
          <p:cNvPr id="24" name="card-228"/>
          <p:cNvSpPr/>
          <p:nvPr/>
        </p:nvSpPr>
        <p:spPr>
          <a:xfrm>
            <a:off x="3840480" y="3794760"/>
            <a:ext cx="3154680" cy="713232"/>
          </a:xfrm>
          <a:prstGeom prst="roundRect">
            <a:avLst>
              <a:gd name="adj" fmla="val 10256"/>
            </a:avLst>
          </a:prstGeom>
          <a:solidFill>
            <a:schemeClr val="bg2"/>
          </a:solidFill>
          <a:ln w="12700">
            <a:solidFill>
              <a:schemeClr val="bg2"/>
            </a:solidFill>
            <a:prstDash val="solid"/>
          </a:ln>
        </p:spPr>
      </p:sp>
      <p:sp>
        <p:nvSpPr>
          <p:cNvPr id="25" name="text-229"/>
          <p:cNvSpPr txBox="1"/>
          <p:nvPr/>
        </p:nvSpPr>
        <p:spPr>
          <a:xfrm>
            <a:off x="3913632" y="3794760"/>
            <a:ext cx="3008376" cy="713232"/>
          </a:xfrm>
          <a:prstGeom prst="rect">
            <a:avLst/>
          </a:prstGeom>
          <a:noFill/>
          <a:ln/>
        </p:spPr>
        <p:txBody>
          <a:bodyPr wrap="square" lIns="0" tIns="0" rIns="0" bIns="0" rtlCol="0" anchor="ctr"/>
          <a:lstStyle/>
          <a:p>
            <a:pPr algn="ctr" indent="0" marL="0">
              <a:buNone/>
            </a:pPr>
            <a:r>
              <a:rPr lang="en-US" sz="1200" b="1" dirty="0">
                <a:solidFill>
                  <a:schemeClr val="tx2"/>
                </a:solidFill>
              </a:rPr>
              <a:t>Detection Engine</a:t>
            </a:r>
            <a:endParaRPr lang="en-US" sz="1400" dirty="0"/>
          </a:p>
          <a:p>
            <a:pPr algn="ctr" indent="0" marL="0">
              <a:buNone/>
            </a:pPr>
            <a:r>
              <a:rPr lang="en-US" sz="1000" dirty="0">
                <a:solidFill>
                  <a:schemeClr val="accent5"/>
                </a:solidFill>
              </a:rPr>
              <a:t>absence sweeper (60 s) · physics rules · ML scorer</a:t>
            </a:r>
            <a:endParaRPr lang="en-US" sz="1400" dirty="0"/>
          </a:p>
        </p:txBody>
      </p:sp>
      <p:sp>
        <p:nvSpPr>
          <p:cNvPr id="26" name="card-230"/>
          <p:cNvSpPr/>
          <p:nvPr/>
        </p:nvSpPr>
        <p:spPr>
          <a:xfrm>
            <a:off x="7223760" y="3794760"/>
            <a:ext cx="1463040" cy="713232"/>
          </a:xfrm>
          <a:prstGeom prst="roundRect">
            <a:avLst>
              <a:gd name="adj" fmla="val 10256"/>
            </a:avLst>
          </a:prstGeom>
          <a:solidFill>
            <a:schemeClr val="bg2"/>
          </a:solidFill>
          <a:ln w="12700">
            <a:solidFill>
              <a:schemeClr val="bg2"/>
            </a:solidFill>
            <a:prstDash val="solid"/>
          </a:ln>
        </p:spPr>
      </p:sp>
      <p:sp>
        <p:nvSpPr>
          <p:cNvPr id="27" name="text-231"/>
          <p:cNvSpPr txBox="1"/>
          <p:nvPr/>
        </p:nvSpPr>
        <p:spPr>
          <a:xfrm>
            <a:off x="7296912" y="3794760"/>
            <a:ext cx="1316736" cy="713232"/>
          </a:xfrm>
          <a:prstGeom prst="rect">
            <a:avLst/>
          </a:prstGeom>
          <a:noFill/>
          <a:ln/>
        </p:spPr>
        <p:txBody>
          <a:bodyPr wrap="square" lIns="0" tIns="0" rIns="0" bIns="0" rtlCol="0" anchor="ctr"/>
          <a:lstStyle/>
          <a:p>
            <a:pPr algn="ctr" indent="0" marL="0">
              <a:buNone/>
            </a:pPr>
            <a:r>
              <a:rPr lang="en-US" sz="1200" b="1" dirty="0">
                <a:solidFill>
                  <a:schemeClr val="tx2"/>
                </a:solidFill>
              </a:rPr>
              <a:t>Telemetry</a:t>
            </a:r>
            <a:endParaRPr lang="en-US" sz="1400" dirty="0"/>
          </a:p>
          <a:p>
            <a:pPr algn="ctr" indent="0" marL="0">
              <a:buNone/>
            </a:pPr>
            <a:r>
              <a:rPr lang="en-US" sz="1000" dirty="0">
                <a:solidFill>
                  <a:schemeClr val="accent5"/>
                </a:solidFill>
              </a:rPr>
              <a:t>throughput · lag · DLQ rate</a:t>
            </a:r>
            <a:endParaRPr lang="en-US" sz="1400" dirty="0"/>
          </a:p>
        </p:txBody>
      </p:sp>
      <p:sp>
        <p:nvSpPr>
          <p:cNvPr id="28" name="arrow-232"/>
          <p:cNvSpPr/>
          <p:nvPr/>
        </p:nvSpPr>
        <p:spPr>
          <a:xfrm>
            <a:off x="1920240" y="1499616"/>
            <a:ext cx="228600" cy="0"/>
          </a:xfrm>
          <a:prstGeom prst="line">
            <a:avLst/>
          </a:prstGeom>
          <a:noFill/>
          <a:ln w="19050">
            <a:solidFill>
              <a:schemeClr val="accent5"/>
            </a:solidFill>
            <a:prstDash val="solid"/>
            <a:tailEnd type="triangle"/>
          </a:ln>
        </p:spPr>
      </p:sp>
      <p:sp>
        <p:nvSpPr>
          <p:cNvPr id="29" name="arrow-233"/>
          <p:cNvSpPr/>
          <p:nvPr/>
        </p:nvSpPr>
        <p:spPr>
          <a:xfrm>
            <a:off x="3611880" y="1499616"/>
            <a:ext cx="228600" cy="0"/>
          </a:xfrm>
          <a:prstGeom prst="line">
            <a:avLst/>
          </a:prstGeom>
          <a:noFill/>
          <a:ln w="19050">
            <a:solidFill>
              <a:schemeClr val="accent5"/>
            </a:solidFill>
            <a:prstDash val="solid"/>
            <a:tailEnd type="triangle"/>
          </a:ln>
        </p:spPr>
      </p:sp>
      <p:sp>
        <p:nvSpPr>
          <p:cNvPr id="30" name="arrow-234"/>
          <p:cNvSpPr/>
          <p:nvPr/>
        </p:nvSpPr>
        <p:spPr>
          <a:xfrm>
            <a:off x="1920240" y="2852928"/>
            <a:ext cx="228600" cy="0"/>
          </a:xfrm>
          <a:prstGeom prst="line">
            <a:avLst/>
          </a:prstGeom>
          <a:noFill/>
          <a:ln w="19050">
            <a:solidFill>
              <a:schemeClr val="accent5"/>
            </a:solidFill>
            <a:prstDash val="solid"/>
            <a:tailEnd type="triangle"/>
          </a:ln>
        </p:spPr>
      </p:sp>
      <p:sp>
        <p:nvSpPr>
          <p:cNvPr id="31" name="arrow-235"/>
          <p:cNvSpPr/>
          <p:nvPr/>
        </p:nvSpPr>
        <p:spPr>
          <a:xfrm>
            <a:off x="3611880" y="2852928"/>
            <a:ext cx="228600" cy="0"/>
          </a:xfrm>
          <a:prstGeom prst="line">
            <a:avLst/>
          </a:prstGeom>
          <a:noFill/>
          <a:ln w="19050">
            <a:solidFill>
              <a:schemeClr val="accent5"/>
            </a:solidFill>
            <a:prstDash val="solid"/>
            <a:tailEnd type="triangle"/>
          </a:ln>
        </p:spPr>
      </p:sp>
      <p:sp>
        <p:nvSpPr>
          <p:cNvPr id="32" name="arrow-236"/>
          <p:cNvSpPr/>
          <p:nvPr/>
        </p:nvSpPr>
        <p:spPr>
          <a:xfrm>
            <a:off x="5303520" y="2852928"/>
            <a:ext cx="228600" cy="0"/>
          </a:xfrm>
          <a:prstGeom prst="line">
            <a:avLst/>
          </a:prstGeom>
          <a:noFill/>
          <a:ln w="19050">
            <a:solidFill>
              <a:schemeClr val="accent5"/>
            </a:solidFill>
            <a:prstDash val="solid"/>
            <a:tailEnd type="triangle"/>
          </a:ln>
        </p:spPr>
      </p:sp>
      <p:sp>
        <p:nvSpPr>
          <p:cNvPr id="33" name="arrow-237"/>
          <p:cNvSpPr/>
          <p:nvPr/>
        </p:nvSpPr>
        <p:spPr>
          <a:xfrm>
            <a:off x="6995160" y="2852928"/>
            <a:ext cx="228600" cy="0"/>
          </a:xfrm>
          <a:prstGeom prst="line">
            <a:avLst/>
          </a:prstGeom>
          <a:noFill/>
          <a:ln w="19050">
            <a:solidFill>
              <a:schemeClr val="accent5"/>
            </a:solidFill>
            <a:prstDash val="solid"/>
            <a:tailEnd type="triangle"/>
          </a:ln>
        </p:spPr>
      </p:sp>
      <p:sp>
        <p:nvSpPr>
          <p:cNvPr id="34" name="arrow-238"/>
          <p:cNvSpPr/>
          <p:nvPr/>
        </p:nvSpPr>
        <p:spPr>
          <a:xfrm>
            <a:off x="1645920" y="1856232"/>
            <a:ext cx="0" cy="640080"/>
          </a:xfrm>
          <a:prstGeom prst="line">
            <a:avLst/>
          </a:prstGeom>
          <a:noFill/>
          <a:ln w="19050">
            <a:solidFill>
              <a:schemeClr val="accent5"/>
            </a:solidFill>
            <a:prstDash val="solid"/>
            <a:tailEnd type="triangle"/>
          </a:ln>
        </p:spPr>
      </p:sp>
      <p:sp>
        <p:nvSpPr>
          <p:cNvPr id="35" name="arrow-239"/>
          <p:cNvSpPr/>
          <p:nvPr/>
        </p:nvSpPr>
        <p:spPr>
          <a:xfrm>
            <a:off x="6263640" y="1856232"/>
            <a:ext cx="0" cy="640080"/>
          </a:xfrm>
          <a:prstGeom prst="line">
            <a:avLst/>
          </a:prstGeom>
          <a:noFill/>
          <a:ln w="19050">
            <a:solidFill>
              <a:schemeClr val="accent5"/>
            </a:solidFill>
            <a:prstDash val="solid"/>
            <a:tailEnd type="triangle"/>
          </a:ln>
        </p:spPr>
      </p:sp>
      <p:sp>
        <p:nvSpPr>
          <p:cNvPr id="36" name="text-240"/>
          <p:cNvSpPr txBox="1"/>
          <p:nvPr/>
        </p:nvSpPr>
        <p:spPr>
          <a:xfrm>
            <a:off x="6355080" y="1965960"/>
            <a:ext cx="1097280" cy="228600"/>
          </a:xfrm>
          <a:prstGeom prst="rect">
            <a:avLst/>
          </a:prstGeom>
          <a:noFill/>
          <a:ln/>
        </p:spPr>
        <p:txBody>
          <a:bodyPr wrap="square" lIns="0" tIns="0" rIns="0" bIns="0" rtlCol="0" anchor="t"/>
          <a:lstStyle/>
          <a:p>
            <a:pPr indent="0" marL="0">
              <a:buNone/>
            </a:pPr>
            <a:r>
              <a:rPr lang="en-US" sz="950" dirty="0">
                <a:solidFill>
                  <a:schemeClr val="accent5"/>
                </a:solidFill>
              </a:rPr>
              <a:t>prior + model</a:t>
            </a:r>
            <a:endParaRPr lang="en-US" sz="950" dirty="0"/>
          </a:p>
        </p:txBody>
      </p:sp>
      <p:sp>
        <p:nvSpPr>
          <p:cNvPr id="37" name="text-241"/>
          <p:cNvSpPr txBox="1"/>
          <p:nvPr/>
        </p:nvSpPr>
        <p:spPr>
          <a:xfrm>
            <a:off x="1143000" y="1965960"/>
            <a:ext cx="914400" cy="228600"/>
          </a:xfrm>
          <a:prstGeom prst="rect">
            <a:avLst/>
          </a:prstGeom>
          <a:noFill/>
          <a:ln/>
        </p:spPr>
        <p:txBody>
          <a:bodyPr wrap="square" lIns="0" tIns="0" rIns="0" bIns="0" rtlCol="0" anchor="t"/>
          <a:lstStyle/>
          <a:p>
            <a:pPr indent="0" marL="0">
              <a:buNone/>
            </a:pPr>
            <a:r>
              <a:rPr lang="en-US" sz="950" dirty="0">
                <a:solidFill>
                  <a:schemeClr val="accent5"/>
                </a:solidFill>
              </a:rPr>
              <a:t>replay</a:t>
            </a:r>
            <a:endParaRPr lang="en-US" sz="950" dirty="0"/>
          </a:p>
        </p:txBody>
      </p:sp>
      <p:sp>
        <p:nvSpPr>
          <p:cNvPr id="38" name="arrow-242"/>
          <p:cNvSpPr/>
          <p:nvPr/>
        </p:nvSpPr>
        <p:spPr>
          <a:xfrm>
            <a:off x="2880360" y="3209544"/>
            <a:ext cx="0" cy="585216"/>
          </a:xfrm>
          <a:prstGeom prst="line">
            <a:avLst/>
          </a:prstGeom>
          <a:noFill/>
          <a:ln w="19050">
            <a:solidFill>
              <a:schemeClr val="accent5"/>
            </a:solidFill>
            <a:prstDash val="solid"/>
            <a:tailEnd type="triangle"/>
          </a:ln>
        </p:spPr>
      </p:sp>
      <p:sp>
        <p:nvSpPr>
          <p:cNvPr id="39" name="text-243"/>
          <p:cNvSpPr txBox="1"/>
          <p:nvPr/>
        </p:nvSpPr>
        <p:spPr>
          <a:xfrm>
            <a:off x="2971800" y="3319272"/>
            <a:ext cx="914400" cy="228600"/>
          </a:xfrm>
          <a:prstGeom prst="rect">
            <a:avLst/>
          </a:prstGeom>
          <a:noFill/>
          <a:ln/>
        </p:spPr>
        <p:txBody>
          <a:bodyPr wrap="square" lIns="0" tIns="0" rIns="0" bIns="0" rtlCol="0" anchor="t"/>
          <a:lstStyle/>
          <a:p>
            <a:pPr indent="0" marL="0">
              <a:buNone/>
            </a:pPr>
            <a:r>
              <a:rPr lang="en-US" sz="950" dirty="0">
                <a:solidFill>
                  <a:schemeClr val="accent5"/>
                </a:solidFill>
              </a:rPr>
              <a:t>invalid</a:t>
            </a:r>
            <a:endParaRPr lang="en-US" sz="950" dirty="0"/>
          </a:p>
        </p:txBody>
      </p:sp>
      <p:sp>
        <p:nvSpPr>
          <p:cNvPr id="40" name="arrow-244"/>
          <p:cNvSpPr/>
          <p:nvPr/>
        </p:nvSpPr>
        <p:spPr>
          <a:xfrm>
            <a:off x="6263640" y="3209544"/>
            <a:ext cx="0" cy="585216"/>
          </a:xfrm>
          <a:prstGeom prst="line">
            <a:avLst/>
          </a:prstGeom>
          <a:noFill/>
          <a:ln w="19050">
            <a:solidFill>
              <a:schemeClr val="accent5"/>
            </a:solidFill>
            <a:prstDash val="solid"/>
            <a:headEnd type="triangle"/>
            <a:tailEnd type="triangle"/>
          </a:ln>
        </p:spPr>
      </p:sp>
      <p:sp>
        <p:nvSpPr>
          <p:cNvPr id="41" name="text-245"/>
          <p:cNvSpPr txBox="1"/>
          <p:nvPr/>
        </p:nvSpPr>
        <p:spPr>
          <a:xfrm>
            <a:off x="6355080" y="3319272"/>
            <a:ext cx="1005840" cy="228600"/>
          </a:xfrm>
          <a:prstGeom prst="rect">
            <a:avLst/>
          </a:prstGeom>
          <a:noFill/>
          <a:ln/>
        </p:spPr>
        <p:txBody>
          <a:bodyPr wrap="square" lIns="0" tIns="0" rIns="0" bIns="0" rtlCol="0" anchor="t"/>
          <a:lstStyle/>
          <a:p>
            <a:pPr indent="0" marL="0">
              <a:buNone/>
            </a:pPr>
            <a:r>
              <a:rPr lang="en-US" sz="950" dirty="0">
                <a:solidFill>
                  <a:schemeClr val="accent5"/>
                </a:solidFill>
              </a:rPr>
              <a:t>state ⇄ alerts</a:t>
            </a:r>
            <a:endParaRPr lang="en-US" sz="950" dirty="0"/>
          </a:p>
        </p:txBody>
      </p:sp>
      <p:sp>
        <p:nvSpPr>
          <p:cNvPr id="42" name="arrow-246"/>
          <p:cNvSpPr/>
          <p:nvPr/>
        </p:nvSpPr>
        <p:spPr>
          <a:xfrm>
            <a:off x="7955280" y="3794760"/>
            <a:ext cx="0" cy="-585216"/>
          </a:xfrm>
          <a:prstGeom prst="line">
            <a:avLst/>
          </a:prstGeom>
          <a:noFill/>
          <a:ln w="19050">
            <a:solidFill>
              <a:schemeClr val="accent5"/>
            </a:solidFill>
            <a:prstDash val="solid"/>
            <a:tailEnd type="triangle"/>
          </a:ln>
        </p:spPr>
      </p:sp>
      <p:sp>
        <p:nvSpPr>
          <p:cNvPr id="25" name="Slide Number Placeholder 0"/>
          <p:cNvSpPr>
            <a:spLocks noGrp="1"/>
          </p:cNvSpPr>
          <p:nvPr>
            <p:ph type="sldNum" sz="quarter" idx="4294967295"/>
          </p:nvPr>
        </p:nvSpPr>
        <p:spPr>
          <a:xfrm>
            <a:off x="8229600" y="479145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800" b="1" dirty="0">
                <a:solidFill>
                  <a:schemeClr val="tx2"/>
                </a:solidFill>
              </a:rPr>
              <a:t>End-to-End Data Flow</a:t>
            </a:r>
            <a:endParaRPr lang="en-US" sz="2800" dirty="0"/>
          </a:p>
        </p:txBody>
      </p:sp>
      <p:sp>
        <p:nvSpPr>
          <p:cNvPr id="4" name="card-247"/>
          <p:cNvSpPr/>
          <p:nvPr/>
        </p:nvSpPr>
        <p:spPr>
          <a:xfrm>
            <a:off x="457200" y="1097280"/>
            <a:ext cx="1261872" cy="2103120"/>
          </a:xfrm>
          <a:prstGeom prst="roundRect">
            <a:avLst>
              <a:gd name="adj" fmla="val 5797"/>
            </a:avLst>
          </a:prstGeom>
          <a:solidFill>
            <a:schemeClr val="bg2"/>
          </a:solidFill>
          <a:ln w="12700">
            <a:solidFill>
              <a:schemeClr val="bg2"/>
            </a:solidFill>
            <a:prstDash val="solid"/>
          </a:ln>
        </p:spPr>
      </p:sp>
      <p:sp>
        <p:nvSpPr>
          <p:cNvPr id="5" name="num-248"/>
          <p:cNvSpPr/>
          <p:nvPr/>
        </p:nvSpPr>
        <p:spPr>
          <a:xfrm>
            <a:off x="886968" y="1261872"/>
            <a:ext cx="402336" cy="402336"/>
          </a:xfrm>
          <a:prstGeom prst="ellipse">
            <a:avLst/>
          </a:prstGeom>
          <a:solidFill>
            <a:schemeClr val="accent1"/>
          </a:solidFill>
          <a:ln w="12700">
            <a:solidFill>
              <a:schemeClr val="accent1"/>
            </a:solidFill>
            <a:prstDash val="solid"/>
          </a:ln>
        </p:spPr>
      </p:sp>
      <p:sp>
        <p:nvSpPr>
          <p:cNvPr id="6" name="text-249"/>
          <p:cNvSpPr txBox="1"/>
          <p:nvPr/>
        </p:nvSpPr>
        <p:spPr>
          <a:xfrm>
            <a:off x="886968" y="1261872"/>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250"/>
          <p:cNvSpPr txBox="1"/>
          <p:nvPr/>
        </p:nvSpPr>
        <p:spPr>
          <a:xfrm>
            <a:off x="548640" y="1783080"/>
            <a:ext cx="1078992" cy="457200"/>
          </a:xfrm>
          <a:prstGeom prst="rect">
            <a:avLst/>
          </a:prstGeom>
          <a:noFill/>
          <a:ln/>
        </p:spPr>
        <p:txBody>
          <a:bodyPr wrap="square" lIns="0" tIns="0" rIns="0" bIns="0" rtlCol="0" anchor="ctr"/>
          <a:lstStyle/>
          <a:p>
            <a:pPr algn="ctr" indent="0" marL="0">
              <a:buNone/>
            </a:pPr>
            <a:r>
              <a:rPr lang="en-US" sz="1300" b="1" dirty="0">
                <a:solidFill>
                  <a:schemeClr val="tx2"/>
                </a:solidFill>
              </a:rPr>
              <a:t>Ingest &amp; validate</a:t>
            </a:r>
            <a:endParaRPr lang="en-US" sz="1300" dirty="0"/>
          </a:p>
        </p:txBody>
      </p:sp>
      <p:sp>
        <p:nvSpPr>
          <p:cNvPr id="8" name="text-251"/>
          <p:cNvSpPr txBox="1"/>
          <p:nvPr/>
        </p:nvSpPr>
        <p:spPr>
          <a:xfrm>
            <a:off x="548640" y="2286000"/>
            <a:ext cx="1078992" cy="868680"/>
          </a:xfrm>
          <a:prstGeom prst="rect">
            <a:avLst/>
          </a:prstGeom>
          <a:noFill/>
          <a:ln/>
        </p:spPr>
        <p:txBody>
          <a:bodyPr wrap="square" lIns="0" tIns="0" rIns="0" bIns="0" rtlCol="0" anchor="t"/>
          <a:lstStyle/>
          <a:p>
            <a:pPr algn="ctr" indent="0" marL="0">
              <a:buNone/>
            </a:pPr>
            <a:r>
              <a:rPr lang="en-US" sz="1100" dirty="0">
                <a:solidFill>
                  <a:schemeClr val="accent5"/>
                </a:solidFill>
              </a:rPr>
              <a:t>Shared contract, sentinel cleanup, DLQ for rejects</a:t>
            </a:r>
            <a:endParaRPr lang="en-US" sz="1100" dirty="0"/>
          </a:p>
        </p:txBody>
      </p:sp>
      <p:sp>
        <p:nvSpPr>
          <p:cNvPr id="9" name="arrow-252"/>
          <p:cNvSpPr/>
          <p:nvPr/>
        </p:nvSpPr>
        <p:spPr>
          <a:xfrm>
            <a:off x="1719072" y="1463040"/>
            <a:ext cx="137160" cy="0"/>
          </a:xfrm>
          <a:prstGeom prst="line">
            <a:avLst/>
          </a:prstGeom>
          <a:noFill/>
          <a:ln w="19050">
            <a:solidFill>
              <a:schemeClr val="accent5"/>
            </a:solidFill>
            <a:prstDash val="solid"/>
            <a:tailEnd type="triangle"/>
          </a:ln>
        </p:spPr>
      </p:sp>
      <p:sp>
        <p:nvSpPr>
          <p:cNvPr id="10" name="card-253"/>
          <p:cNvSpPr/>
          <p:nvPr/>
        </p:nvSpPr>
        <p:spPr>
          <a:xfrm>
            <a:off x="1856232" y="1097280"/>
            <a:ext cx="1261872" cy="2103120"/>
          </a:xfrm>
          <a:prstGeom prst="roundRect">
            <a:avLst>
              <a:gd name="adj" fmla="val 5797"/>
            </a:avLst>
          </a:prstGeom>
          <a:solidFill>
            <a:schemeClr val="bg2"/>
          </a:solidFill>
          <a:ln w="12700">
            <a:solidFill>
              <a:schemeClr val="bg2"/>
            </a:solidFill>
            <a:prstDash val="solid"/>
          </a:ln>
        </p:spPr>
      </p:sp>
      <p:sp>
        <p:nvSpPr>
          <p:cNvPr id="11" name="num-254"/>
          <p:cNvSpPr/>
          <p:nvPr/>
        </p:nvSpPr>
        <p:spPr>
          <a:xfrm>
            <a:off x="2286000" y="1261872"/>
            <a:ext cx="402336" cy="402336"/>
          </a:xfrm>
          <a:prstGeom prst="ellipse">
            <a:avLst/>
          </a:prstGeom>
          <a:solidFill>
            <a:schemeClr val="accent1"/>
          </a:solidFill>
          <a:ln w="12700">
            <a:solidFill>
              <a:schemeClr val="accent1"/>
            </a:solidFill>
            <a:prstDash val="solid"/>
          </a:ln>
        </p:spPr>
      </p:sp>
      <p:sp>
        <p:nvSpPr>
          <p:cNvPr id="12" name="text-255"/>
          <p:cNvSpPr txBox="1"/>
          <p:nvPr/>
        </p:nvSpPr>
        <p:spPr>
          <a:xfrm>
            <a:off x="2286000" y="1261872"/>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3" name="text-256"/>
          <p:cNvSpPr txBox="1"/>
          <p:nvPr/>
        </p:nvSpPr>
        <p:spPr>
          <a:xfrm>
            <a:off x="1947672" y="1783080"/>
            <a:ext cx="1078992" cy="457200"/>
          </a:xfrm>
          <a:prstGeom prst="rect">
            <a:avLst/>
          </a:prstGeom>
          <a:noFill/>
          <a:ln/>
        </p:spPr>
        <p:txBody>
          <a:bodyPr wrap="square" lIns="0" tIns="0" rIns="0" bIns="0" rtlCol="0" anchor="ctr"/>
          <a:lstStyle/>
          <a:p>
            <a:pPr algn="ctr" indent="0" marL="0">
              <a:buNone/>
            </a:pPr>
            <a:r>
              <a:rPr lang="en-US" sz="1300" b="1" dirty="0">
                <a:solidFill>
                  <a:schemeClr val="tx2"/>
                </a:solidFill>
              </a:rPr>
              <a:t>Stream via Kafka</a:t>
            </a:r>
            <a:endParaRPr lang="en-US" sz="1300" dirty="0"/>
          </a:p>
        </p:txBody>
      </p:sp>
      <p:sp>
        <p:nvSpPr>
          <p:cNvPr id="14" name="text-257"/>
          <p:cNvSpPr txBox="1"/>
          <p:nvPr/>
        </p:nvSpPr>
        <p:spPr>
          <a:xfrm>
            <a:off x="1947672" y="2286000"/>
            <a:ext cx="1078992" cy="868680"/>
          </a:xfrm>
          <a:prstGeom prst="rect">
            <a:avLst/>
          </a:prstGeom>
          <a:noFill/>
          <a:ln/>
        </p:spPr>
        <p:txBody>
          <a:bodyPr wrap="square" lIns="0" tIns="0" rIns="0" bIns="0" rtlCol="0" anchor="t"/>
          <a:lstStyle/>
          <a:p>
            <a:pPr algn="ctr" indent="0" marL="0">
              <a:buNone/>
            </a:pPr>
            <a:r>
              <a:rPr lang="en-US" sz="1100" dirty="0">
                <a:solidFill>
                  <a:schemeClr val="accent5"/>
                </a:solidFill>
              </a:rPr>
              <a:t>MMSI-keyed → per-vessel ordering, replayable offsets</a:t>
            </a:r>
            <a:endParaRPr lang="en-US" sz="1100" dirty="0"/>
          </a:p>
        </p:txBody>
      </p:sp>
      <p:sp>
        <p:nvSpPr>
          <p:cNvPr id="15" name="arrow-258"/>
          <p:cNvSpPr/>
          <p:nvPr/>
        </p:nvSpPr>
        <p:spPr>
          <a:xfrm>
            <a:off x="3118104" y="1463040"/>
            <a:ext cx="137160" cy="0"/>
          </a:xfrm>
          <a:prstGeom prst="line">
            <a:avLst/>
          </a:prstGeom>
          <a:noFill/>
          <a:ln w="19050">
            <a:solidFill>
              <a:schemeClr val="accent5"/>
            </a:solidFill>
            <a:prstDash val="solid"/>
            <a:tailEnd type="triangle"/>
          </a:ln>
        </p:spPr>
      </p:sp>
      <p:sp>
        <p:nvSpPr>
          <p:cNvPr id="16" name="card-259"/>
          <p:cNvSpPr/>
          <p:nvPr/>
        </p:nvSpPr>
        <p:spPr>
          <a:xfrm>
            <a:off x="3255264" y="1097280"/>
            <a:ext cx="1261872" cy="2103120"/>
          </a:xfrm>
          <a:prstGeom prst="roundRect">
            <a:avLst>
              <a:gd name="adj" fmla="val 5797"/>
            </a:avLst>
          </a:prstGeom>
          <a:solidFill>
            <a:schemeClr val="bg2"/>
          </a:solidFill>
          <a:ln w="12700">
            <a:solidFill>
              <a:schemeClr val="bg2"/>
            </a:solidFill>
            <a:prstDash val="solid"/>
          </a:ln>
        </p:spPr>
      </p:sp>
      <p:sp>
        <p:nvSpPr>
          <p:cNvPr id="17" name="num-260"/>
          <p:cNvSpPr/>
          <p:nvPr/>
        </p:nvSpPr>
        <p:spPr>
          <a:xfrm>
            <a:off x="3685032" y="1261872"/>
            <a:ext cx="402336" cy="402336"/>
          </a:xfrm>
          <a:prstGeom prst="ellipse">
            <a:avLst/>
          </a:prstGeom>
          <a:solidFill>
            <a:schemeClr val="accent1"/>
          </a:solidFill>
          <a:ln w="12700">
            <a:solidFill>
              <a:schemeClr val="accent1"/>
            </a:solidFill>
            <a:prstDash val="solid"/>
          </a:ln>
        </p:spPr>
      </p:sp>
      <p:sp>
        <p:nvSpPr>
          <p:cNvPr id="18" name="text-261"/>
          <p:cNvSpPr txBox="1"/>
          <p:nvPr/>
        </p:nvSpPr>
        <p:spPr>
          <a:xfrm>
            <a:off x="3685032" y="1261872"/>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9" name="text-262"/>
          <p:cNvSpPr txBox="1"/>
          <p:nvPr/>
        </p:nvSpPr>
        <p:spPr>
          <a:xfrm>
            <a:off x="3346704" y="1783080"/>
            <a:ext cx="1078992" cy="457200"/>
          </a:xfrm>
          <a:prstGeom prst="rect">
            <a:avLst/>
          </a:prstGeom>
          <a:noFill/>
          <a:ln/>
        </p:spPr>
        <p:txBody>
          <a:bodyPr wrap="square" lIns="0" tIns="0" rIns="0" bIns="0" rtlCol="0" anchor="ctr"/>
          <a:lstStyle/>
          <a:p>
            <a:pPr algn="ctr" indent="0" marL="0">
              <a:buNone/>
            </a:pPr>
            <a:r>
              <a:rPr lang="en-US" sz="1300" b="1" dirty="0">
                <a:solidFill>
                  <a:schemeClr val="tx2"/>
                </a:solidFill>
              </a:rPr>
              <a:t>Stateful processing</a:t>
            </a:r>
            <a:endParaRPr lang="en-US" sz="1300" dirty="0"/>
          </a:p>
        </p:txBody>
      </p:sp>
      <p:sp>
        <p:nvSpPr>
          <p:cNvPr id="20" name="text-263"/>
          <p:cNvSpPr txBox="1"/>
          <p:nvPr/>
        </p:nvSpPr>
        <p:spPr>
          <a:xfrm>
            <a:off x="3346704" y="2286000"/>
            <a:ext cx="1078992" cy="868680"/>
          </a:xfrm>
          <a:prstGeom prst="rect">
            <a:avLst/>
          </a:prstGeom>
          <a:noFill/>
          <a:ln/>
        </p:spPr>
        <p:txBody>
          <a:bodyPr wrap="square" lIns="0" tIns="0" rIns="0" bIns="0" rtlCol="0" anchor="t"/>
          <a:lstStyle/>
          <a:p>
            <a:pPr algn="ctr" indent="0" marL="0">
              <a:buNone/>
            </a:pPr>
            <a:r>
              <a:rPr lang="en-US" sz="1100" dirty="0">
                <a:solidFill>
                  <a:schemeClr val="accent5"/>
                </a:solidFill>
              </a:rPr>
              <a:t>Per-MMSI state: last seen, position, speed, class</a:t>
            </a:r>
            <a:endParaRPr lang="en-US" sz="1100" dirty="0"/>
          </a:p>
        </p:txBody>
      </p:sp>
      <p:sp>
        <p:nvSpPr>
          <p:cNvPr id="21" name="arrow-264"/>
          <p:cNvSpPr/>
          <p:nvPr/>
        </p:nvSpPr>
        <p:spPr>
          <a:xfrm>
            <a:off x="4517136" y="1463040"/>
            <a:ext cx="137160" cy="0"/>
          </a:xfrm>
          <a:prstGeom prst="line">
            <a:avLst/>
          </a:prstGeom>
          <a:noFill/>
          <a:ln w="19050">
            <a:solidFill>
              <a:schemeClr val="accent5"/>
            </a:solidFill>
            <a:prstDash val="solid"/>
            <a:tailEnd type="triangle"/>
          </a:ln>
        </p:spPr>
      </p:sp>
      <p:sp>
        <p:nvSpPr>
          <p:cNvPr id="22" name="card-265"/>
          <p:cNvSpPr/>
          <p:nvPr/>
        </p:nvSpPr>
        <p:spPr>
          <a:xfrm>
            <a:off x="4654296" y="1097280"/>
            <a:ext cx="1261872" cy="2103120"/>
          </a:xfrm>
          <a:prstGeom prst="roundRect">
            <a:avLst>
              <a:gd name="adj" fmla="val 5797"/>
            </a:avLst>
          </a:prstGeom>
          <a:solidFill>
            <a:schemeClr val="bg2"/>
          </a:solidFill>
          <a:ln w="12700">
            <a:solidFill>
              <a:schemeClr val="bg2"/>
            </a:solidFill>
            <a:prstDash val="solid"/>
          </a:ln>
        </p:spPr>
      </p:sp>
      <p:sp>
        <p:nvSpPr>
          <p:cNvPr id="23" name="num-266"/>
          <p:cNvSpPr/>
          <p:nvPr/>
        </p:nvSpPr>
        <p:spPr>
          <a:xfrm>
            <a:off x="5084064" y="1261872"/>
            <a:ext cx="402336" cy="402336"/>
          </a:xfrm>
          <a:prstGeom prst="ellipse">
            <a:avLst/>
          </a:prstGeom>
          <a:solidFill>
            <a:schemeClr val="accent1"/>
          </a:solidFill>
          <a:ln w="12700">
            <a:solidFill>
              <a:schemeClr val="accent1"/>
            </a:solidFill>
            <a:prstDash val="solid"/>
          </a:ln>
        </p:spPr>
      </p:sp>
      <p:sp>
        <p:nvSpPr>
          <p:cNvPr id="24" name="text-267"/>
          <p:cNvSpPr txBox="1"/>
          <p:nvPr/>
        </p:nvSpPr>
        <p:spPr>
          <a:xfrm>
            <a:off x="5084064" y="1261872"/>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5" name="text-268"/>
          <p:cNvSpPr txBox="1"/>
          <p:nvPr/>
        </p:nvSpPr>
        <p:spPr>
          <a:xfrm>
            <a:off x="4745736" y="1783080"/>
            <a:ext cx="1078992" cy="457200"/>
          </a:xfrm>
          <a:prstGeom prst="rect">
            <a:avLst/>
          </a:prstGeom>
          <a:noFill/>
          <a:ln/>
        </p:spPr>
        <p:txBody>
          <a:bodyPr wrap="square" lIns="0" tIns="0" rIns="0" bIns="0" rtlCol="0" anchor="ctr"/>
          <a:lstStyle/>
          <a:p>
            <a:pPr algn="ctr" indent="0" marL="0">
              <a:buNone/>
            </a:pPr>
            <a:r>
              <a:rPr lang="en-US" sz="1300" b="1" dirty="0">
                <a:solidFill>
                  <a:schemeClr val="tx2"/>
                </a:solidFill>
              </a:rPr>
              <a:t>Persist</a:t>
            </a:r>
            <a:endParaRPr lang="en-US" sz="1300" dirty="0"/>
          </a:p>
        </p:txBody>
      </p:sp>
      <p:sp>
        <p:nvSpPr>
          <p:cNvPr id="26" name="text-269"/>
          <p:cNvSpPr txBox="1"/>
          <p:nvPr/>
        </p:nvSpPr>
        <p:spPr>
          <a:xfrm>
            <a:off x="4745736" y="2286000"/>
            <a:ext cx="1078992" cy="868680"/>
          </a:xfrm>
          <a:prstGeom prst="rect">
            <a:avLst/>
          </a:prstGeom>
          <a:noFill/>
          <a:ln/>
        </p:spPr>
        <p:txBody>
          <a:bodyPr wrap="square" lIns="0" tIns="0" rIns="0" bIns="0" rtlCol="0" anchor="t"/>
          <a:lstStyle/>
          <a:p>
            <a:pPr algn="ctr" indent="0" marL="0">
              <a:buNone/>
            </a:pPr>
            <a:r>
              <a:rPr lang="en-US" sz="1100" dirty="0">
                <a:solidFill>
                  <a:schemeClr val="accent5"/>
                </a:solidFill>
              </a:rPr>
              <a:t>Batched inserts + hot-state upsert in one transaction</a:t>
            </a:r>
            <a:endParaRPr lang="en-US" sz="1100" dirty="0"/>
          </a:p>
        </p:txBody>
      </p:sp>
      <p:sp>
        <p:nvSpPr>
          <p:cNvPr id="27" name="arrow-270"/>
          <p:cNvSpPr/>
          <p:nvPr/>
        </p:nvSpPr>
        <p:spPr>
          <a:xfrm>
            <a:off x="5916168" y="1463040"/>
            <a:ext cx="137160" cy="0"/>
          </a:xfrm>
          <a:prstGeom prst="line">
            <a:avLst/>
          </a:prstGeom>
          <a:noFill/>
          <a:ln w="19050">
            <a:solidFill>
              <a:schemeClr val="accent5"/>
            </a:solidFill>
            <a:prstDash val="solid"/>
            <a:tailEnd type="triangle"/>
          </a:ln>
        </p:spPr>
      </p:sp>
      <p:sp>
        <p:nvSpPr>
          <p:cNvPr id="28" name="card-271"/>
          <p:cNvSpPr/>
          <p:nvPr/>
        </p:nvSpPr>
        <p:spPr>
          <a:xfrm>
            <a:off x="6053328" y="1097280"/>
            <a:ext cx="1261872" cy="2103120"/>
          </a:xfrm>
          <a:prstGeom prst="roundRect">
            <a:avLst>
              <a:gd name="adj" fmla="val 5797"/>
            </a:avLst>
          </a:prstGeom>
          <a:solidFill>
            <a:schemeClr val="bg2"/>
          </a:solidFill>
          <a:ln w="12700">
            <a:solidFill>
              <a:schemeClr val="bg2"/>
            </a:solidFill>
            <a:prstDash val="solid"/>
          </a:ln>
        </p:spPr>
      </p:sp>
      <p:sp>
        <p:nvSpPr>
          <p:cNvPr id="29" name="num-272"/>
          <p:cNvSpPr/>
          <p:nvPr/>
        </p:nvSpPr>
        <p:spPr>
          <a:xfrm>
            <a:off x="6483096" y="1261872"/>
            <a:ext cx="402336" cy="402336"/>
          </a:xfrm>
          <a:prstGeom prst="ellipse">
            <a:avLst/>
          </a:prstGeom>
          <a:solidFill>
            <a:schemeClr val="accent3"/>
          </a:solidFill>
          <a:ln w="12700">
            <a:solidFill>
              <a:schemeClr val="accent3"/>
            </a:solidFill>
            <a:prstDash val="solid"/>
          </a:ln>
        </p:spPr>
      </p:sp>
      <p:sp>
        <p:nvSpPr>
          <p:cNvPr id="30" name="text-273"/>
          <p:cNvSpPr txBox="1"/>
          <p:nvPr/>
        </p:nvSpPr>
        <p:spPr>
          <a:xfrm>
            <a:off x="6483096" y="1261872"/>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1" name="text-274"/>
          <p:cNvSpPr txBox="1"/>
          <p:nvPr/>
        </p:nvSpPr>
        <p:spPr>
          <a:xfrm>
            <a:off x="6144768" y="1783080"/>
            <a:ext cx="1078992" cy="457200"/>
          </a:xfrm>
          <a:prstGeom prst="rect">
            <a:avLst/>
          </a:prstGeom>
          <a:noFill/>
          <a:ln/>
        </p:spPr>
        <p:txBody>
          <a:bodyPr wrap="square" lIns="0" tIns="0" rIns="0" bIns="0" rtlCol="0" anchor="ctr"/>
          <a:lstStyle/>
          <a:p>
            <a:pPr algn="ctr" indent="0" marL="0">
              <a:buNone/>
            </a:pPr>
            <a:r>
              <a:rPr lang="en-US" sz="1300" b="1" dirty="0">
                <a:solidFill>
                  <a:schemeClr val="tx2"/>
                </a:solidFill>
              </a:rPr>
              <a:t>Detect</a:t>
            </a:r>
            <a:endParaRPr lang="en-US" sz="1300" dirty="0"/>
          </a:p>
        </p:txBody>
      </p:sp>
      <p:sp>
        <p:nvSpPr>
          <p:cNvPr id="32" name="text-275"/>
          <p:cNvSpPr txBox="1"/>
          <p:nvPr/>
        </p:nvSpPr>
        <p:spPr>
          <a:xfrm>
            <a:off x="6144768" y="2286000"/>
            <a:ext cx="1078992" cy="868680"/>
          </a:xfrm>
          <a:prstGeom prst="rect">
            <a:avLst/>
          </a:prstGeom>
          <a:noFill/>
          <a:ln/>
        </p:spPr>
        <p:txBody>
          <a:bodyPr wrap="square" lIns="0" tIns="0" rIns="0" bIns="0" rtlCol="0" anchor="t"/>
          <a:lstStyle/>
          <a:p>
            <a:pPr algn="ctr" indent="0" marL="0">
              <a:buNone/>
            </a:pPr>
            <a:r>
              <a:rPr lang="en-US" sz="1100" dirty="0">
                <a:solidFill>
                  <a:schemeClr val="accent5"/>
                </a:solidFill>
              </a:rPr>
              <a:t>Sweeper, physics rules and ML scorer write alerts</a:t>
            </a:r>
            <a:endParaRPr lang="en-US" sz="1100" dirty="0"/>
          </a:p>
        </p:txBody>
      </p:sp>
      <p:sp>
        <p:nvSpPr>
          <p:cNvPr id="33" name="arrow-276"/>
          <p:cNvSpPr/>
          <p:nvPr/>
        </p:nvSpPr>
        <p:spPr>
          <a:xfrm>
            <a:off x="7315200" y="1463040"/>
            <a:ext cx="137160" cy="0"/>
          </a:xfrm>
          <a:prstGeom prst="line">
            <a:avLst/>
          </a:prstGeom>
          <a:noFill/>
          <a:ln w="19050">
            <a:solidFill>
              <a:schemeClr val="accent5"/>
            </a:solidFill>
            <a:prstDash val="solid"/>
            <a:tailEnd type="triangle"/>
          </a:ln>
        </p:spPr>
      </p:sp>
      <p:sp>
        <p:nvSpPr>
          <p:cNvPr id="34" name="card-277"/>
          <p:cNvSpPr/>
          <p:nvPr/>
        </p:nvSpPr>
        <p:spPr>
          <a:xfrm>
            <a:off x="7452360" y="1097280"/>
            <a:ext cx="1261872" cy="2103120"/>
          </a:xfrm>
          <a:prstGeom prst="roundRect">
            <a:avLst>
              <a:gd name="adj" fmla="val 5797"/>
            </a:avLst>
          </a:prstGeom>
          <a:solidFill>
            <a:schemeClr val="bg2"/>
          </a:solidFill>
          <a:ln w="12700">
            <a:solidFill>
              <a:schemeClr val="bg2"/>
            </a:solidFill>
            <a:prstDash val="solid"/>
          </a:ln>
        </p:spPr>
      </p:sp>
      <p:sp>
        <p:nvSpPr>
          <p:cNvPr id="35" name="num-278"/>
          <p:cNvSpPr/>
          <p:nvPr/>
        </p:nvSpPr>
        <p:spPr>
          <a:xfrm>
            <a:off x="7882128" y="1261872"/>
            <a:ext cx="402336" cy="402336"/>
          </a:xfrm>
          <a:prstGeom prst="ellipse">
            <a:avLst/>
          </a:prstGeom>
          <a:solidFill>
            <a:schemeClr val="accent1"/>
          </a:solidFill>
          <a:ln w="12700">
            <a:solidFill>
              <a:schemeClr val="accent1"/>
            </a:solidFill>
            <a:prstDash val="solid"/>
          </a:ln>
        </p:spPr>
      </p:sp>
      <p:sp>
        <p:nvSpPr>
          <p:cNvPr id="36" name="text-279"/>
          <p:cNvSpPr txBox="1"/>
          <p:nvPr/>
        </p:nvSpPr>
        <p:spPr>
          <a:xfrm>
            <a:off x="7882128" y="1261872"/>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37" name="text-280"/>
          <p:cNvSpPr txBox="1"/>
          <p:nvPr/>
        </p:nvSpPr>
        <p:spPr>
          <a:xfrm>
            <a:off x="7543800" y="1783080"/>
            <a:ext cx="1078992" cy="457200"/>
          </a:xfrm>
          <a:prstGeom prst="rect">
            <a:avLst/>
          </a:prstGeom>
          <a:noFill/>
          <a:ln/>
        </p:spPr>
        <p:txBody>
          <a:bodyPr wrap="square" lIns="0" tIns="0" rIns="0" bIns="0" rtlCol="0" anchor="ctr"/>
          <a:lstStyle/>
          <a:p>
            <a:pPr algn="ctr" indent="0" marL="0">
              <a:buNone/>
            </a:pPr>
            <a:r>
              <a:rPr lang="en-US" sz="1300" b="1" dirty="0">
                <a:solidFill>
                  <a:schemeClr val="tx2"/>
                </a:solidFill>
              </a:rPr>
              <a:t>Visualise</a:t>
            </a:r>
            <a:endParaRPr lang="en-US" sz="1300" dirty="0"/>
          </a:p>
        </p:txBody>
      </p:sp>
      <p:sp>
        <p:nvSpPr>
          <p:cNvPr id="38" name="text-281"/>
          <p:cNvSpPr txBox="1"/>
          <p:nvPr/>
        </p:nvSpPr>
        <p:spPr>
          <a:xfrm>
            <a:off x="7543800" y="2286000"/>
            <a:ext cx="1078992" cy="868680"/>
          </a:xfrm>
          <a:prstGeom prst="rect">
            <a:avLst/>
          </a:prstGeom>
          <a:noFill/>
          <a:ln/>
        </p:spPr>
        <p:txBody>
          <a:bodyPr wrap="square" lIns="0" tIns="0" rIns="0" bIns="0" rtlCol="0" anchor="t"/>
          <a:lstStyle/>
          <a:p>
            <a:pPr algn="ctr" indent="0" marL="0">
              <a:buNone/>
            </a:pPr>
            <a:r>
              <a:rPr lang="en-US" sz="1100" dirty="0">
                <a:solidFill>
                  <a:schemeClr val="accent5"/>
                </a:solidFill>
              </a:rPr>
              <a:t>Live map, ranked alert feed with evidence</a:t>
            </a:r>
            <a:endParaRPr lang="en-US" sz="1100" dirty="0"/>
          </a:p>
        </p:txBody>
      </p:sp>
      <p:sp>
        <p:nvSpPr>
          <p:cNvPr id="39" name="circle-282"/>
          <p:cNvSpPr/>
          <p:nvPr/>
        </p:nvSpPr>
        <p:spPr>
          <a:xfrm>
            <a:off x="457200" y="3520440"/>
            <a:ext cx="384048" cy="384048"/>
          </a:xfrm>
          <a:prstGeom prst="ellipse">
            <a:avLst/>
          </a:prstGeom>
          <a:solidFill>
            <a:schemeClr val="accent2"/>
          </a:solidFill>
          <a:ln w="12700">
            <a:solidFill>
              <a:schemeClr val="accent2"/>
            </a:solidFill>
            <a:prstDash val="solid"/>
          </a:ln>
        </p:spPr>
      </p:sp>
      <p:pic>
        <p:nvPicPr>
          <p:cNvPr id="40" name="icon-283" descr="preencoded.png">    </p:cNvPr>
          <p:cNvPicPr>
            <a:picLocks noChangeAspect="1"/>
          </p:cNvPicPr>
          <p:nvPr/>
        </p:nvPicPr>
        <p:blipFill>
          <a:blip r:embed="rId1"/>
          <a:stretch>
            <a:fillRect/>
          </a:stretch>
        </p:blipFill>
        <p:spPr>
          <a:xfrm>
            <a:off x="557052" y="3620292"/>
            <a:ext cx="184343" cy="184343"/>
          </a:xfrm>
          <a:prstGeom prst="rect">
            <a:avLst/>
          </a:prstGeom>
        </p:spPr>
      </p:pic>
      <p:sp>
        <p:nvSpPr>
          <p:cNvPr id="41" name="text-284"/>
          <p:cNvSpPr txBox="1"/>
          <p:nvPr/>
        </p:nvSpPr>
        <p:spPr>
          <a:xfrm>
            <a:off x="960120" y="3474720"/>
            <a:ext cx="2194560" cy="274320"/>
          </a:xfrm>
          <a:prstGeom prst="rect">
            <a:avLst/>
          </a:prstGeom>
          <a:noFill/>
          <a:ln/>
        </p:spPr>
        <p:txBody>
          <a:bodyPr wrap="square" lIns="0" tIns="0" rIns="0" bIns="0" rtlCol="0" anchor="t"/>
          <a:lstStyle/>
          <a:p>
            <a:pPr indent="0" marL="0">
              <a:buNone/>
            </a:pPr>
            <a:r>
              <a:rPr lang="en-US" sz="1300" b="1" dirty="0">
                <a:solidFill>
                  <a:schemeClr val="tx2"/>
                </a:solidFill>
              </a:rPr>
              <a:t>Exactly-once style</a:t>
            </a:r>
            <a:endParaRPr lang="en-US" sz="1300" dirty="0"/>
          </a:p>
        </p:txBody>
      </p:sp>
      <p:sp>
        <p:nvSpPr>
          <p:cNvPr id="42" name="text-285"/>
          <p:cNvSpPr txBox="1"/>
          <p:nvPr/>
        </p:nvSpPr>
        <p:spPr>
          <a:xfrm>
            <a:off x="960120" y="3749040"/>
            <a:ext cx="2194560" cy="548640"/>
          </a:xfrm>
          <a:prstGeom prst="rect">
            <a:avLst/>
          </a:prstGeom>
          <a:noFill/>
          <a:ln/>
        </p:spPr>
        <p:txBody>
          <a:bodyPr wrap="square" lIns="0" tIns="0" rIns="0" bIns="0" rtlCol="0" anchor="t"/>
          <a:lstStyle/>
          <a:p>
            <a:pPr indent="0" marL="0">
              <a:buNone/>
            </a:pPr>
            <a:r>
              <a:rPr lang="en-US" sz="1150" dirty="0">
                <a:solidFill>
                  <a:schemeClr val="accent5"/>
                </a:solidFill>
              </a:rPr>
              <a:t>Offsets committed only after the DB transaction succeeds</a:t>
            </a:r>
            <a:endParaRPr lang="en-US" sz="1150" dirty="0"/>
          </a:p>
        </p:txBody>
      </p:sp>
      <p:sp>
        <p:nvSpPr>
          <p:cNvPr id="43" name="circle-286"/>
          <p:cNvSpPr/>
          <p:nvPr/>
        </p:nvSpPr>
        <p:spPr>
          <a:xfrm>
            <a:off x="3273552" y="3520440"/>
            <a:ext cx="384048" cy="384048"/>
          </a:xfrm>
          <a:prstGeom prst="ellipse">
            <a:avLst/>
          </a:prstGeom>
          <a:solidFill>
            <a:schemeClr val="accent2"/>
          </a:solidFill>
          <a:ln w="12700">
            <a:solidFill>
              <a:schemeClr val="accent2"/>
            </a:solidFill>
            <a:prstDash val="solid"/>
          </a:ln>
        </p:spPr>
      </p:sp>
      <p:pic>
        <p:nvPicPr>
          <p:cNvPr id="44" name="icon-287" descr="preencoded.png">    </p:cNvPr>
          <p:cNvPicPr>
            <a:picLocks noChangeAspect="1"/>
          </p:cNvPicPr>
          <p:nvPr/>
        </p:nvPicPr>
        <p:blipFill>
          <a:blip r:embed="rId2"/>
          <a:stretch>
            <a:fillRect/>
          </a:stretch>
        </p:blipFill>
        <p:spPr>
          <a:xfrm>
            <a:off x="3373404" y="3620292"/>
            <a:ext cx="184343" cy="184343"/>
          </a:xfrm>
          <a:prstGeom prst="rect">
            <a:avLst/>
          </a:prstGeom>
        </p:spPr>
      </p:pic>
      <p:sp>
        <p:nvSpPr>
          <p:cNvPr id="45" name="text-288"/>
          <p:cNvSpPr txBox="1"/>
          <p:nvPr/>
        </p:nvSpPr>
        <p:spPr>
          <a:xfrm>
            <a:off x="3776472" y="3474720"/>
            <a:ext cx="2194560" cy="274320"/>
          </a:xfrm>
          <a:prstGeom prst="rect">
            <a:avLst/>
          </a:prstGeom>
          <a:noFill/>
          <a:ln/>
        </p:spPr>
        <p:txBody>
          <a:bodyPr wrap="square" lIns="0" tIns="0" rIns="0" bIns="0" rtlCol="0" anchor="t"/>
          <a:lstStyle/>
          <a:p>
            <a:pPr indent="0" marL="0">
              <a:buNone/>
            </a:pPr>
            <a:r>
              <a:rPr lang="en-US" sz="1300" b="1" dirty="0">
                <a:solidFill>
                  <a:schemeClr val="tx2"/>
                </a:solidFill>
              </a:rPr>
              <a:t>Idempotent</a:t>
            </a:r>
            <a:endParaRPr lang="en-US" sz="1300" dirty="0"/>
          </a:p>
        </p:txBody>
      </p:sp>
      <p:sp>
        <p:nvSpPr>
          <p:cNvPr id="46" name="text-289"/>
          <p:cNvSpPr txBox="1"/>
          <p:nvPr/>
        </p:nvSpPr>
        <p:spPr>
          <a:xfrm>
            <a:off x="3776472" y="3749040"/>
            <a:ext cx="2194560" cy="548640"/>
          </a:xfrm>
          <a:prstGeom prst="rect">
            <a:avLst/>
          </a:prstGeom>
          <a:noFill/>
          <a:ln/>
        </p:spPr>
        <p:txBody>
          <a:bodyPr wrap="square" lIns="0" tIns="0" rIns="0" bIns="0" rtlCol="0" anchor="t"/>
          <a:lstStyle/>
          <a:p>
            <a:pPr indent="0" marL="0">
              <a:buNone/>
            </a:pPr>
            <a:r>
              <a:rPr lang="en-US" sz="1150" dirty="0">
                <a:solidFill>
                  <a:schemeClr val="accent5"/>
                </a:solidFill>
              </a:rPr>
              <a:t>Position inserts unique on (mmsi, ts)</a:t>
            </a:r>
            <a:endParaRPr lang="en-US" sz="1150" dirty="0"/>
          </a:p>
        </p:txBody>
      </p:sp>
      <p:sp>
        <p:nvSpPr>
          <p:cNvPr id="47" name="circle-290"/>
          <p:cNvSpPr/>
          <p:nvPr/>
        </p:nvSpPr>
        <p:spPr>
          <a:xfrm>
            <a:off x="6089904" y="3520440"/>
            <a:ext cx="384048" cy="384048"/>
          </a:xfrm>
          <a:prstGeom prst="ellipse">
            <a:avLst/>
          </a:prstGeom>
          <a:solidFill>
            <a:schemeClr val="accent2"/>
          </a:solidFill>
          <a:ln w="12700">
            <a:solidFill>
              <a:schemeClr val="accent2"/>
            </a:solidFill>
            <a:prstDash val="solid"/>
          </a:ln>
        </p:spPr>
      </p:sp>
      <p:pic>
        <p:nvPicPr>
          <p:cNvPr id="48" name="icon-291" descr="preencoded.png">    </p:cNvPr>
          <p:cNvPicPr>
            <a:picLocks noChangeAspect="1"/>
          </p:cNvPicPr>
          <p:nvPr/>
        </p:nvPicPr>
        <p:blipFill>
          <a:blip r:embed="rId3"/>
          <a:stretch>
            <a:fillRect/>
          </a:stretch>
        </p:blipFill>
        <p:spPr>
          <a:xfrm>
            <a:off x="6189756" y="3620292"/>
            <a:ext cx="184343" cy="184343"/>
          </a:xfrm>
          <a:prstGeom prst="rect">
            <a:avLst/>
          </a:prstGeom>
        </p:spPr>
      </p:pic>
      <p:sp>
        <p:nvSpPr>
          <p:cNvPr id="49" name="text-292"/>
          <p:cNvSpPr txBox="1"/>
          <p:nvPr/>
        </p:nvSpPr>
        <p:spPr>
          <a:xfrm>
            <a:off x="6592824" y="3474720"/>
            <a:ext cx="2194560" cy="274320"/>
          </a:xfrm>
          <a:prstGeom prst="rect">
            <a:avLst/>
          </a:prstGeom>
          <a:noFill/>
          <a:ln/>
        </p:spPr>
        <p:txBody>
          <a:bodyPr wrap="square" lIns="0" tIns="0" rIns="0" bIns="0" rtlCol="0" anchor="t"/>
          <a:lstStyle/>
          <a:p>
            <a:pPr indent="0" marL="0">
              <a:buNone/>
            </a:pPr>
            <a:r>
              <a:rPr lang="en-US" sz="1300" b="1" dirty="0">
                <a:solidFill>
                  <a:schemeClr val="tx2"/>
                </a:solidFill>
              </a:rPr>
              <a:t>Deterministic</a:t>
            </a:r>
            <a:endParaRPr lang="en-US" sz="1300" dirty="0"/>
          </a:p>
        </p:txBody>
      </p:sp>
      <p:sp>
        <p:nvSpPr>
          <p:cNvPr id="50" name="text-293"/>
          <p:cNvSpPr txBox="1"/>
          <p:nvPr/>
        </p:nvSpPr>
        <p:spPr>
          <a:xfrm>
            <a:off x="6592824" y="3749040"/>
            <a:ext cx="2194560" cy="548640"/>
          </a:xfrm>
          <a:prstGeom prst="rect">
            <a:avLst/>
          </a:prstGeom>
          <a:noFill/>
          <a:ln/>
        </p:spPr>
        <p:txBody>
          <a:bodyPr wrap="square" lIns="0" tIns="0" rIns="0" bIns="0" rtlCol="0" anchor="t"/>
          <a:lstStyle/>
          <a:p>
            <a:pPr indent="0" marL="0">
              <a:buNone/>
            </a:pPr>
            <a:r>
              <a:rPr lang="en-US" sz="1150" dirty="0">
                <a:solidFill>
                  <a:schemeClr val="accent5"/>
                </a:solidFill>
              </a:rPr>
              <a:t>Seeded replay → identical alerts for a demo</a:t>
            </a:r>
            <a:endParaRPr lang="en-US" sz="1150" dirty="0"/>
          </a:p>
        </p:txBody>
      </p:sp>
      <p:sp>
        <p:nvSpPr>
          <p:cNvPr id="25" name="Slide Number Placeholder 0"/>
          <p:cNvSpPr>
            <a:spLocks noGrp="1"/>
          </p:cNvSpPr>
          <p:nvPr>
            <p:ph type="sldNum" sz="quarter" idx="4294967295"/>
          </p:nvPr>
        </p:nvSpPr>
        <p:spPr>
          <a:xfrm>
            <a:off x="8229600" y="479145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800" b="1" dirty="0">
                <a:solidFill>
                  <a:schemeClr val="tx2"/>
                </a:solidFill>
              </a:rPr>
              <a:t>Storage Design: Hot / Cold Partitioning</a:t>
            </a:r>
            <a:endParaRPr lang="en-US" sz="2800" dirty="0"/>
          </a:p>
        </p:txBody>
      </p:sp>
      <p:sp>
        <p:nvSpPr>
          <p:cNvPr id="4" name="card-294"/>
          <p:cNvSpPr/>
          <p:nvPr/>
        </p:nvSpPr>
        <p:spPr>
          <a:xfrm>
            <a:off x="457200" y="1005840"/>
            <a:ext cx="2606040" cy="3474720"/>
          </a:xfrm>
          <a:prstGeom prst="roundRect">
            <a:avLst>
              <a:gd name="adj" fmla="val 2807"/>
            </a:avLst>
          </a:prstGeom>
          <a:solidFill>
            <a:schemeClr val="bg2"/>
          </a:solidFill>
          <a:ln w="12700">
            <a:solidFill>
              <a:schemeClr val="bg2"/>
            </a:solidFill>
            <a:prstDash val="solid"/>
          </a:ln>
        </p:spPr>
      </p:sp>
      <p:sp>
        <p:nvSpPr>
          <p:cNvPr id="5" name="circle-295"/>
          <p:cNvSpPr/>
          <p:nvPr/>
        </p:nvSpPr>
        <p:spPr>
          <a:xfrm>
            <a:off x="640080" y="1143000"/>
            <a:ext cx="420624" cy="420624"/>
          </a:xfrm>
          <a:prstGeom prst="ellipse">
            <a:avLst/>
          </a:prstGeom>
          <a:solidFill>
            <a:schemeClr val="accent3"/>
          </a:solidFill>
          <a:ln w="12700">
            <a:solidFill>
              <a:schemeClr val="accent3"/>
            </a:solidFill>
            <a:prstDash val="solid"/>
          </a:ln>
        </p:spPr>
      </p:sp>
      <p:pic>
        <p:nvPicPr>
          <p:cNvPr id="6" name="icon-296" descr="preencoded.png">    </p:cNvPr>
          <p:cNvPicPr>
            <a:picLocks noChangeAspect="1"/>
          </p:cNvPicPr>
          <p:nvPr/>
        </p:nvPicPr>
        <p:blipFill>
          <a:blip r:embed="rId1"/>
          <a:stretch>
            <a:fillRect/>
          </a:stretch>
        </p:blipFill>
        <p:spPr>
          <a:xfrm>
            <a:off x="749442" y="1252362"/>
            <a:ext cx="201900" cy="201900"/>
          </a:xfrm>
          <a:prstGeom prst="rect">
            <a:avLst/>
          </a:prstGeom>
        </p:spPr>
      </p:pic>
      <p:sp>
        <p:nvSpPr>
          <p:cNvPr id="7" name="text-297"/>
          <p:cNvSpPr txBox="1"/>
          <p:nvPr/>
        </p:nvSpPr>
        <p:spPr>
          <a:xfrm>
            <a:off x="1188720" y="1143000"/>
            <a:ext cx="1737360" cy="420624"/>
          </a:xfrm>
          <a:prstGeom prst="rect">
            <a:avLst/>
          </a:prstGeom>
          <a:noFill/>
          <a:ln/>
        </p:spPr>
        <p:txBody>
          <a:bodyPr wrap="square" lIns="0" tIns="0" rIns="0" bIns="0" rtlCol="0" anchor="ctr"/>
          <a:lstStyle/>
          <a:p>
            <a:pPr indent="0" marL="0">
              <a:buNone/>
            </a:pPr>
            <a:r>
              <a:rPr lang="en-US" sz="1600" b="1" dirty="0">
                <a:solidFill>
                  <a:schemeClr val="tx2"/>
                </a:solidFill>
              </a:rPr>
              <a:t>HOT</a:t>
            </a:r>
            <a:endParaRPr lang="en-US" sz="1600" dirty="0"/>
          </a:p>
        </p:txBody>
      </p:sp>
      <p:sp>
        <p:nvSpPr>
          <p:cNvPr id="8" name="text-298"/>
          <p:cNvSpPr txBox="1"/>
          <p:nvPr/>
        </p:nvSpPr>
        <p:spPr>
          <a:xfrm>
            <a:off x="640080" y="1645920"/>
            <a:ext cx="2286000" cy="411480"/>
          </a:xfrm>
          <a:prstGeom prst="rect">
            <a:avLst/>
          </a:prstGeom>
          <a:noFill/>
          <a:ln/>
        </p:spPr>
        <p:txBody>
          <a:bodyPr wrap="square" lIns="0" tIns="0" rIns="0" bIns="0" rtlCol="0" anchor="t"/>
          <a:lstStyle/>
          <a:p>
            <a:pPr indent="0" marL="0">
              <a:buNone/>
            </a:pPr>
            <a:r>
              <a:rPr lang="en-US" sz="1100" i="1" dirty="0">
                <a:solidFill>
                  <a:schemeClr val="accent5"/>
                </a:solidFill>
              </a:rPr>
              <a:t>Small, heavily updated — read by dashboard &amp; sweeper</a:t>
            </a:r>
            <a:endParaRPr lang="en-US" sz="1100" dirty="0"/>
          </a:p>
        </p:txBody>
      </p:sp>
      <p:sp>
        <p:nvSpPr>
          <p:cNvPr id="9" name="text-299"/>
          <p:cNvSpPr txBox="1"/>
          <p:nvPr/>
        </p:nvSpPr>
        <p:spPr>
          <a:xfrm>
            <a:off x="640080" y="2148840"/>
            <a:ext cx="2286000" cy="228600"/>
          </a:xfrm>
          <a:prstGeom prst="rect">
            <a:avLst/>
          </a:prstGeom>
          <a:noFill/>
          <a:ln/>
        </p:spPr>
        <p:txBody>
          <a:bodyPr wrap="square" lIns="0" tIns="0" rIns="0" bIns="0" rtlCol="0" anchor="t"/>
          <a:lstStyle/>
          <a:p>
            <a:pPr indent="0" marL="0">
              <a:buNone/>
            </a:pPr>
            <a:r>
              <a:rPr lang="en-US" sz="1150" b="1" dirty="0">
                <a:solidFill>
                  <a:schemeClr val="tx2"/>
                </a:solidFill>
                <a:latin typeface="Courier New" pitchFamily="34" charset="0"/>
                <a:ea typeface="Courier New" pitchFamily="34" charset="-122"/>
                <a:cs typeface="Courier New" pitchFamily="34" charset="-120"/>
              </a:rPr>
              <a:t>vessel_latest_state</a:t>
            </a:r>
            <a:endParaRPr lang="en-US" sz="1150" dirty="0"/>
          </a:p>
        </p:txBody>
      </p:sp>
      <p:sp>
        <p:nvSpPr>
          <p:cNvPr id="10" name="text-300"/>
          <p:cNvSpPr txBox="1"/>
          <p:nvPr/>
        </p:nvSpPr>
        <p:spPr>
          <a:xfrm>
            <a:off x="640080" y="2377440"/>
            <a:ext cx="2286000" cy="292608"/>
          </a:xfrm>
          <a:prstGeom prst="rect">
            <a:avLst/>
          </a:prstGeom>
          <a:noFill/>
          <a:ln/>
        </p:spPr>
        <p:txBody>
          <a:bodyPr wrap="square" lIns="0" tIns="0" rIns="0" bIns="0" rtlCol="0" anchor="t"/>
          <a:lstStyle/>
          <a:p>
            <a:pPr indent="0" marL="0">
              <a:buNone/>
            </a:pPr>
            <a:r>
              <a:rPr lang="en-US" sz="1100" dirty="0">
                <a:solidFill>
                  <a:schemeClr val="tx1"/>
                </a:solidFill>
              </a:rPr>
              <a:t>one row per MMSI: position, speed, status</a:t>
            </a:r>
            <a:endParaRPr lang="en-US" sz="1100" dirty="0"/>
          </a:p>
        </p:txBody>
      </p:sp>
      <p:sp>
        <p:nvSpPr>
          <p:cNvPr id="11" name="text-301"/>
          <p:cNvSpPr txBox="1"/>
          <p:nvPr/>
        </p:nvSpPr>
        <p:spPr>
          <a:xfrm>
            <a:off x="640080" y="2926080"/>
            <a:ext cx="2286000" cy="228600"/>
          </a:xfrm>
          <a:prstGeom prst="rect">
            <a:avLst/>
          </a:prstGeom>
          <a:noFill/>
          <a:ln/>
        </p:spPr>
        <p:txBody>
          <a:bodyPr wrap="square" lIns="0" tIns="0" rIns="0" bIns="0" rtlCol="0" anchor="t"/>
          <a:lstStyle/>
          <a:p>
            <a:pPr indent="0" marL="0">
              <a:buNone/>
            </a:pPr>
            <a:r>
              <a:rPr lang="en-US" sz="1150" b="1" dirty="0">
                <a:solidFill>
                  <a:schemeClr val="tx2"/>
                </a:solidFill>
                <a:latin typeface="Courier New" pitchFamily="34" charset="0"/>
                <a:ea typeface="Courier New" pitchFamily="34" charset="-122"/>
                <a:cs typeface="Courier New" pitchFamily="34" charset="-120"/>
              </a:rPr>
              <a:t>alerts</a:t>
            </a:r>
            <a:endParaRPr lang="en-US" sz="1150" dirty="0"/>
          </a:p>
        </p:txBody>
      </p:sp>
      <p:sp>
        <p:nvSpPr>
          <p:cNvPr id="12" name="text-302"/>
          <p:cNvSpPr txBox="1"/>
          <p:nvPr/>
        </p:nvSpPr>
        <p:spPr>
          <a:xfrm>
            <a:off x="640080" y="3154680"/>
            <a:ext cx="2286000" cy="292608"/>
          </a:xfrm>
          <a:prstGeom prst="rect">
            <a:avLst/>
          </a:prstGeom>
          <a:noFill/>
          <a:ln/>
        </p:spPr>
        <p:txBody>
          <a:bodyPr wrap="square" lIns="0" tIns="0" rIns="0" bIns="0" rtlCol="0" anchor="t"/>
          <a:lstStyle/>
          <a:p>
            <a:pPr indent="0" marL="0">
              <a:buNone/>
            </a:pPr>
            <a:r>
              <a:rPr lang="en-US" sz="1100" dirty="0">
                <a:solidFill>
                  <a:schemeClr val="tx1"/>
                </a:solidFill>
              </a:rPr>
              <a:t>typed alerts, JSON evidence, dedup index</a:t>
            </a:r>
            <a:endParaRPr lang="en-US" sz="1100" dirty="0"/>
          </a:p>
        </p:txBody>
      </p:sp>
      <p:sp>
        <p:nvSpPr>
          <p:cNvPr id="13" name="card-303"/>
          <p:cNvSpPr/>
          <p:nvPr/>
        </p:nvSpPr>
        <p:spPr>
          <a:xfrm>
            <a:off x="3273552" y="1005840"/>
            <a:ext cx="2606040" cy="3474720"/>
          </a:xfrm>
          <a:prstGeom prst="roundRect">
            <a:avLst>
              <a:gd name="adj" fmla="val 2807"/>
            </a:avLst>
          </a:prstGeom>
          <a:solidFill>
            <a:schemeClr val="bg2"/>
          </a:solidFill>
          <a:ln w="12700">
            <a:solidFill>
              <a:schemeClr val="bg2"/>
            </a:solidFill>
            <a:prstDash val="solid"/>
          </a:ln>
        </p:spPr>
      </p:sp>
      <p:sp>
        <p:nvSpPr>
          <p:cNvPr id="14" name="circle-304"/>
          <p:cNvSpPr/>
          <p:nvPr/>
        </p:nvSpPr>
        <p:spPr>
          <a:xfrm>
            <a:off x="3456432" y="1143000"/>
            <a:ext cx="420624" cy="420624"/>
          </a:xfrm>
          <a:prstGeom prst="ellipse">
            <a:avLst/>
          </a:prstGeom>
          <a:solidFill>
            <a:schemeClr val="accent1"/>
          </a:solidFill>
          <a:ln w="12700">
            <a:solidFill>
              <a:schemeClr val="accent1"/>
            </a:solidFill>
            <a:prstDash val="solid"/>
          </a:ln>
        </p:spPr>
      </p:sp>
      <p:pic>
        <p:nvPicPr>
          <p:cNvPr id="15" name="icon-305" descr="preencoded.png">    </p:cNvPr>
          <p:cNvPicPr>
            <a:picLocks noChangeAspect="1"/>
          </p:cNvPicPr>
          <p:nvPr/>
        </p:nvPicPr>
        <p:blipFill>
          <a:blip r:embed="rId2"/>
          <a:stretch>
            <a:fillRect/>
          </a:stretch>
        </p:blipFill>
        <p:spPr>
          <a:xfrm>
            <a:off x="3565794" y="1252362"/>
            <a:ext cx="201900" cy="201900"/>
          </a:xfrm>
          <a:prstGeom prst="rect">
            <a:avLst/>
          </a:prstGeom>
        </p:spPr>
      </p:pic>
      <p:sp>
        <p:nvSpPr>
          <p:cNvPr id="16" name="text-306"/>
          <p:cNvSpPr txBox="1"/>
          <p:nvPr/>
        </p:nvSpPr>
        <p:spPr>
          <a:xfrm>
            <a:off x="4005072" y="1143000"/>
            <a:ext cx="1737360" cy="420624"/>
          </a:xfrm>
          <a:prstGeom prst="rect">
            <a:avLst/>
          </a:prstGeom>
          <a:noFill/>
          <a:ln/>
        </p:spPr>
        <p:txBody>
          <a:bodyPr wrap="square" lIns="0" tIns="0" rIns="0" bIns="0" rtlCol="0" anchor="ctr"/>
          <a:lstStyle/>
          <a:p>
            <a:pPr indent="0" marL="0">
              <a:buNone/>
            </a:pPr>
            <a:r>
              <a:rPr lang="en-US" sz="1600" b="1" dirty="0">
                <a:solidFill>
                  <a:schemeClr val="tx2"/>
                </a:solidFill>
              </a:rPr>
              <a:t>COLD</a:t>
            </a:r>
            <a:endParaRPr lang="en-US" sz="1600" dirty="0"/>
          </a:p>
        </p:txBody>
      </p:sp>
      <p:sp>
        <p:nvSpPr>
          <p:cNvPr id="17" name="text-307"/>
          <p:cNvSpPr txBox="1"/>
          <p:nvPr/>
        </p:nvSpPr>
        <p:spPr>
          <a:xfrm>
            <a:off x="3456432" y="1645920"/>
            <a:ext cx="2286000" cy="411480"/>
          </a:xfrm>
          <a:prstGeom prst="rect">
            <a:avLst/>
          </a:prstGeom>
          <a:noFill/>
          <a:ln/>
        </p:spPr>
        <p:txBody>
          <a:bodyPr wrap="square" lIns="0" tIns="0" rIns="0" bIns="0" rtlCol="0" anchor="t"/>
          <a:lstStyle/>
          <a:p>
            <a:pPr indent="0" marL="0">
              <a:buNone/>
            </a:pPr>
            <a:r>
              <a:rPr lang="en-US" sz="1100" i="1" dirty="0">
                <a:solidFill>
                  <a:schemeClr val="accent5"/>
                </a:solidFill>
              </a:rPr>
              <a:t>Append-only history</a:t>
            </a:r>
            <a:endParaRPr lang="en-US" sz="1100" dirty="0"/>
          </a:p>
        </p:txBody>
      </p:sp>
      <p:sp>
        <p:nvSpPr>
          <p:cNvPr id="18" name="text-308"/>
          <p:cNvSpPr txBox="1"/>
          <p:nvPr/>
        </p:nvSpPr>
        <p:spPr>
          <a:xfrm>
            <a:off x="3456432" y="2148840"/>
            <a:ext cx="2286000" cy="228600"/>
          </a:xfrm>
          <a:prstGeom prst="rect">
            <a:avLst/>
          </a:prstGeom>
          <a:noFill/>
          <a:ln/>
        </p:spPr>
        <p:txBody>
          <a:bodyPr wrap="square" lIns="0" tIns="0" rIns="0" bIns="0" rtlCol="0" anchor="t"/>
          <a:lstStyle/>
          <a:p>
            <a:pPr indent="0" marL="0">
              <a:buNone/>
            </a:pPr>
            <a:r>
              <a:rPr lang="en-US" sz="1150" b="1" dirty="0">
                <a:solidFill>
                  <a:schemeClr val="tx2"/>
                </a:solidFill>
                <a:latin typeface="Courier New" pitchFamily="34" charset="0"/>
                <a:ea typeface="Courier New" pitchFamily="34" charset="-122"/>
                <a:cs typeface="Courier New" pitchFamily="34" charset="-120"/>
              </a:rPr>
              <a:t>vessel_positions</a:t>
            </a:r>
            <a:endParaRPr lang="en-US" sz="1150" dirty="0"/>
          </a:p>
        </p:txBody>
      </p:sp>
      <p:sp>
        <p:nvSpPr>
          <p:cNvPr id="19" name="text-309"/>
          <p:cNvSpPr txBox="1"/>
          <p:nvPr/>
        </p:nvSpPr>
        <p:spPr>
          <a:xfrm>
            <a:off x="3456432" y="2377440"/>
            <a:ext cx="2286000" cy="292608"/>
          </a:xfrm>
          <a:prstGeom prst="rect">
            <a:avLst/>
          </a:prstGeom>
          <a:noFill/>
          <a:ln/>
        </p:spPr>
        <p:txBody>
          <a:bodyPr wrap="square" lIns="0" tIns="0" rIns="0" bIns="0" rtlCol="0" anchor="t"/>
          <a:lstStyle/>
          <a:p>
            <a:pPr indent="0" marL="0">
              <a:buNone/>
            </a:pPr>
            <a:r>
              <a:rPr lang="en-US" sz="1100" dirty="0">
                <a:solidFill>
                  <a:schemeClr val="tx1"/>
                </a:solidFill>
              </a:rPr>
              <a:t>range-partitioned by month</a:t>
            </a:r>
            <a:endParaRPr lang="en-US" sz="1100" dirty="0"/>
          </a:p>
        </p:txBody>
      </p:sp>
      <p:sp>
        <p:nvSpPr>
          <p:cNvPr id="20" name="text-310"/>
          <p:cNvSpPr txBox="1"/>
          <p:nvPr/>
        </p:nvSpPr>
        <p:spPr>
          <a:xfrm>
            <a:off x="3456432" y="2752344"/>
            <a:ext cx="2286000" cy="228600"/>
          </a:xfrm>
          <a:prstGeom prst="rect">
            <a:avLst/>
          </a:prstGeom>
          <a:noFill/>
          <a:ln/>
        </p:spPr>
        <p:txBody>
          <a:bodyPr wrap="square" lIns="0" tIns="0" rIns="0" bIns="0" rtlCol="0" anchor="t"/>
          <a:lstStyle/>
          <a:p>
            <a:pPr indent="0" marL="0">
              <a:buNone/>
            </a:pPr>
            <a:r>
              <a:rPr lang="en-US" sz="1150" b="1" dirty="0">
                <a:solidFill>
                  <a:schemeClr val="tx2"/>
                </a:solidFill>
                <a:latin typeface="Courier New" pitchFamily="34" charset="0"/>
                <a:ea typeface="Courier New" pitchFamily="34" charset="-122"/>
                <a:cs typeface="Courier New" pitchFamily="34" charset="-120"/>
              </a:rPr>
              <a:t>Indexes</a:t>
            </a:r>
            <a:endParaRPr lang="en-US" sz="1150" dirty="0"/>
          </a:p>
        </p:txBody>
      </p:sp>
      <p:sp>
        <p:nvSpPr>
          <p:cNvPr id="21" name="text-311"/>
          <p:cNvSpPr txBox="1"/>
          <p:nvPr/>
        </p:nvSpPr>
        <p:spPr>
          <a:xfrm>
            <a:off x="3456432" y="2980944"/>
            <a:ext cx="2286000" cy="292608"/>
          </a:xfrm>
          <a:prstGeom prst="rect">
            <a:avLst/>
          </a:prstGeom>
          <a:noFill/>
          <a:ln/>
        </p:spPr>
        <p:txBody>
          <a:bodyPr wrap="square" lIns="0" tIns="0" rIns="0" bIns="0" rtlCol="0" anchor="t"/>
          <a:lstStyle/>
          <a:p>
            <a:pPr indent="0" marL="0">
              <a:buNone/>
            </a:pPr>
            <a:r>
              <a:rPr lang="en-US" sz="1100" dirty="0">
                <a:solidFill>
                  <a:schemeClr val="tx1"/>
                </a:solidFill>
              </a:rPr>
              <a:t>BRIN on ts · GIST on geom</a:t>
            </a:r>
            <a:endParaRPr lang="en-US" sz="1100" dirty="0"/>
          </a:p>
        </p:txBody>
      </p:sp>
      <p:sp>
        <p:nvSpPr>
          <p:cNvPr id="22" name="card-312"/>
          <p:cNvSpPr/>
          <p:nvPr/>
        </p:nvSpPr>
        <p:spPr>
          <a:xfrm>
            <a:off x="6089904" y="1005840"/>
            <a:ext cx="2606040" cy="3474720"/>
          </a:xfrm>
          <a:prstGeom prst="roundRect">
            <a:avLst>
              <a:gd name="adj" fmla="val 2807"/>
            </a:avLst>
          </a:prstGeom>
          <a:solidFill>
            <a:schemeClr val="bg2"/>
          </a:solidFill>
          <a:ln w="12700">
            <a:solidFill>
              <a:schemeClr val="bg2"/>
            </a:solidFill>
            <a:prstDash val="solid"/>
          </a:ln>
        </p:spPr>
      </p:sp>
      <p:sp>
        <p:nvSpPr>
          <p:cNvPr id="23" name="circle-313"/>
          <p:cNvSpPr/>
          <p:nvPr/>
        </p:nvSpPr>
        <p:spPr>
          <a:xfrm>
            <a:off x="6272784" y="1143000"/>
            <a:ext cx="420624" cy="420624"/>
          </a:xfrm>
          <a:prstGeom prst="ellipse">
            <a:avLst/>
          </a:prstGeom>
          <a:solidFill>
            <a:schemeClr val="accent2"/>
          </a:solidFill>
          <a:ln w="12700">
            <a:solidFill>
              <a:schemeClr val="accent2"/>
            </a:solidFill>
            <a:prstDash val="solid"/>
          </a:ln>
        </p:spPr>
      </p:sp>
      <p:pic>
        <p:nvPicPr>
          <p:cNvPr id="24" name="icon-314" descr="preencoded.png">    </p:cNvPr>
          <p:cNvPicPr>
            <a:picLocks noChangeAspect="1"/>
          </p:cNvPicPr>
          <p:nvPr/>
        </p:nvPicPr>
        <p:blipFill>
          <a:blip r:embed="rId3"/>
          <a:stretch>
            <a:fillRect/>
          </a:stretch>
        </p:blipFill>
        <p:spPr>
          <a:xfrm>
            <a:off x="6382146" y="1252362"/>
            <a:ext cx="201900" cy="201900"/>
          </a:xfrm>
          <a:prstGeom prst="rect">
            <a:avLst/>
          </a:prstGeom>
        </p:spPr>
      </p:pic>
      <p:sp>
        <p:nvSpPr>
          <p:cNvPr id="25" name="text-315"/>
          <p:cNvSpPr txBox="1"/>
          <p:nvPr/>
        </p:nvSpPr>
        <p:spPr>
          <a:xfrm>
            <a:off x="6821424" y="1143000"/>
            <a:ext cx="1737360" cy="420624"/>
          </a:xfrm>
          <a:prstGeom prst="rect">
            <a:avLst/>
          </a:prstGeom>
          <a:noFill/>
          <a:ln/>
        </p:spPr>
        <p:txBody>
          <a:bodyPr wrap="square" lIns="0" tIns="0" rIns="0" bIns="0" rtlCol="0" anchor="ctr"/>
          <a:lstStyle/>
          <a:p>
            <a:pPr indent="0" marL="0">
              <a:buNone/>
            </a:pPr>
            <a:r>
              <a:rPr lang="en-US" sz="1600" b="1" dirty="0">
                <a:solidFill>
                  <a:schemeClr val="tx2"/>
                </a:solidFill>
              </a:rPr>
              <a:t>REFERENCE</a:t>
            </a:r>
            <a:endParaRPr lang="en-US" sz="1600" dirty="0"/>
          </a:p>
        </p:txBody>
      </p:sp>
      <p:sp>
        <p:nvSpPr>
          <p:cNvPr id="26" name="text-316"/>
          <p:cNvSpPr txBox="1"/>
          <p:nvPr/>
        </p:nvSpPr>
        <p:spPr>
          <a:xfrm>
            <a:off x="6272784" y="1645920"/>
            <a:ext cx="2286000" cy="411480"/>
          </a:xfrm>
          <a:prstGeom prst="rect">
            <a:avLst/>
          </a:prstGeom>
          <a:noFill/>
          <a:ln/>
        </p:spPr>
        <p:txBody>
          <a:bodyPr wrap="square" lIns="0" tIns="0" rIns="0" bIns="0" rtlCol="0" anchor="t"/>
          <a:lstStyle/>
          <a:p>
            <a:pPr indent="0" marL="0">
              <a:buNone/>
            </a:pPr>
            <a:r>
              <a:rPr lang="en-US" sz="1100" i="1" dirty="0">
                <a:solidFill>
                  <a:schemeClr val="accent5"/>
                </a:solidFill>
              </a:rPr>
              <a:t>Context for detection &amp; evaluation</a:t>
            </a:r>
            <a:endParaRPr lang="en-US" sz="1100" dirty="0"/>
          </a:p>
        </p:txBody>
      </p:sp>
      <p:sp>
        <p:nvSpPr>
          <p:cNvPr id="27" name="text-317"/>
          <p:cNvSpPr txBox="1"/>
          <p:nvPr/>
        </p:nvSpPr>
        <p:spPr>
          <a:xfrm>
            <a:off x="6272784" y="2148840"/>
            <a:ext cx="2286000" cy="228600"/>
          </a:xfrm>
          <a:prstGeom prst="rect">
            <a:avLst/>
          </a:prstGeom>
          <a:noFill/>
          <a:ln/>
        </p:spPr>
        <p:txBody>
          <a:bodyPr wrap="square" lIns="0" tIns="0" rIns="0" bIns="0" rtlCol="0" anchor="t"/>
          <a:lstStyle/>
          <a:p>
            <a:pPr indent="0" marL="0">
              <a:buNone/>
            </a:pPr>
            <a:r>
              <a:rPr lang="en-US" sz="1150" b="1" dirty="0">
                <a:solidFill>
                  <a:schemeClr val="tx2"/>
                </a:solidFill>
                <a:latin typeface="Courier New" pitchFamily="34" charset="0"/>
                <a:ea typeface="Courier New" pitchFamily="34" charset="-122"/>
                <a:cs typeface="Courier New" pitchFamily="34" charset="-120"/>
              </a:rPr>
              <a:t>geofences</a:t>
            </a:r>
            <a:endParaRPr lang="en-US" sz="1150" dirty="0"/>
          </a:p>
        </p:txBody>
      </p:sp>
      <p:sp>
        <p:nvSpPr>
          <p:cNvPr id="28" name="text-318"/>
          <p:cNvSpPr txBox="1"/>
          <p:nvPr/>
        </p:nvSpPr>
        <p:spPr>
          <a:xfrm>
            <a:off x="6272784" y="2377440"/>
            <a:ext cx="2286000" cy="292608"/>
          </a:xfrm>
          <a:prstGeom prst="rect">
            <a:avLst/>
          </a:prstGeom>
          <a:noFill/>
          <a:ln/>
        </p:spPr>
        <p:txBody>
          <a:bodyPr wrap="square" lIns="0" tIns="0" rIns="0" bIns="0" rtlCol="0" anchor="t"/>
          <a:lstStyle/>
          <a:p>
            <a:pPr indent="0" marL="0">
              <a:buNone/>
            </a:pPr>
            <a:r>
              <a:rPr lang="en-US" sz="1100" dirty="0">
                <a:solidFill>
                  <a:schemeClr val="tx1"/>
                </a:solidFill>
              </a:rPr>
              <a:t>EEZ · MPA · port polygons</a:t>
            </a:r>
            <a:endParaRPr lang="en-US" sz="1100" dirty="0"/>
          </a:p>
        </p:txBody>
      </p:sp>
      <p:sp>
        <p:nvSpPr>
          <p:cNvPr id="29" name="text-319"/>
          <p:cNvSpPr txBox="1"/>
          <p:nvPr/>
        </p:nvSpPr>
        <p:spPr>
          <a:xfrm>
            <a:off x="6272784" y="2752344"/>
            <a:ext cx="2286000" cy="228600"/>
          </a:xfrm>
          <a:prstGeom prst="rect">
            <a:avLst/>
          </a:prstGeom>
          <a:noFill/>
          <a:ln/>
        </p:spPr>
        <p:txBody>
          <a:bodyPr wrap="square" lIns="0" tIns="0" rIns="0" bIns="0" rtlCol="0" anchor="t"/>
          <a:lstStyle/>
          <a:p>
            <a:pPr indent="0" marL="0">
              <a:buNone/>
            </a:pPr>
            <a:r>
              <a:rPr lang="en-US" sz="1150" b="1" dirty="0">
                <a:solidFill>
                  <a:schemeClr val="tx2"/>
                </a:solidFill>
                <a:latin typeface="Courier New" pitchFamily="34" charset="0"/>
                <a:ea typeface="Courier New" pitchFamily="34" charset="-122"/>
                <a:cs typeface="Courier New" pitchFamily="34" charset="-120"/>
              </a:rPr>
              <a:t>coverage_prior</a:t>
            </a:r>
            <a:endParaRPr lang="en-US" sz="1150" dirty="0"/>
          </a:p>
        </p:txBody>
      </p:sp>
      <p:sp>
        <p:nvSpPr>
          <p:cNvPr id="30" name="text-320"/>
          <p:cNvSpPr txBox="1"/>
          <p:nvPr/>
        </p:nvSpPr>
        <p:spPr>
          <a:xfrm>
            <a:off x="6272784" y="2980944"/>
            <a:ext cx="2286000" cy="292608"/>
          </a:xfrm>
          <a:prstGeom prst="rect">
            <a:avLst/>
          </a:prstGeom>
          <a:noFill/>
          <a:ln/>
        </p:spPr>
        <p:txBody>
          <a:bodyPr wrap="square" lIns="0" tIns="0" rIns="0" bIns="0" rtlCol="0" anchor="t"/>
          <a:lstStyle/>
          <a:p>
            <a:pPr indent="0" marL="0">
              <a:buNone/>
            </a:pPr>
            <a:r>
              <a:rPr lang="en-US" sz="1100" dirty="0">
                <a:solidFill>
                  <a:schemeClr val="tx1"/>
                </a:solidFill>
              </a:rPr>
              <a:t>H3 cell × class gap percentiles</a:t>
            </a:r>
            <a:endParaRPr lang="en-US" sz="1100" dirty="0"/>
          </a:p>
        </p:txBody>
      </p:sp>
      <p:sp>
        <p:nvSpPr>
          <p:cNvPr id="31" name="text-321"/>
          <p:cNvSpPr txBox="1"/>
          <p:nvPr/>
        </p:nvSpPr>
        <p:spPr>
          <a:xfrm>
            <a:off x="6272784" y="3355848"/>
            <a:ext cx="2286000" cy="228600"/>
          </a:xfrm>
          <a:prstGeom prst="rect">
            <a:avLst/>
          </a:prstGeom>
          <a:noFill/>
          <a:ln/>
        </p:spPr>
        <p:txBody>
          <a:bodyPr wrap="square" lIns="0" tIns="0" rIns="0" bIns="0" rtlCol="0" anchor="t"/>
          <a:lstStyle/>
          <a:p>
            <a:pPr indent="0" marL="0">
              <a:buNone/>
            </a:pPr>
            <a:r>
              <a:rPr lang="en-US" sz="1150" b="1" dirty="0">
                <a:solidFill>
                  <a:schemeClr val="tx2"/>
                </a:solidFill>
                <a:latin typeface="Courier New" pitchFamily="34" charset="0"/>
                <a:ea typeface="Courier New" pitchFamily="34" charset="-122"/>
                <a:cs typeface="Courier New" pitchFamily="34" charset="-120"/>
              </a:rPr>
              <a:t>ground_truth</a:t>
            </a:r>
            <a:endParaRPr lang="en-US" sz="1150" dirty="0"/>
          </a:p>
        </p:txBody>
      </p:sp>
      <p:sp>
        <p:nvSpPr>
          <p:cNvPr id="32" name="text-322"/>
          <p:cNvSpPr txBox="1"/>
          <p:nvPr/>
        </p:nvSpPr>
        <p:spPr>
          <a:xfrm>
            <a:off x="6272784" y="3584448"/>
            <a:ext cx="2286000" cy="292608"/>
          </a:xfrm>
          <a:prstGeom prst="rect">
            <a:avLst/>
          </a:prstGeom>
          <a:noFill/>
          <a:ln/>
        </p:spPr>
        <p:txBody>
          <a:bodyPr wrap="square" lIns="0" tIns="0" rIns="0" bIns="0" rtlCol="0" anchor="t"/>
          <a:lstStyle/>
          <a:p>
            <a:pPr indent="0" marL="0">
              <a:buNone/>
            </a:pPr>
            <a:r>
              <a:rPr lang="en-US" sz="1100" dirty="0">
                <a:solidFill>
                  <a:schemeClr val="tx1"/>
                </a:solidFill>
              </a:rPr>
              <a:t>labelled injected anomalies</a:t>
            </a:r>
            <a:endParaRPr lang="en-US" sz="1100" dirty="0"/>
          </a:p>
        </p:txBody>
      </p:sp>
      <p:sp>
        <p:nvSpPr>
          <p:cNvPr id="33" name="text-323"/>
          <p:cNvSpPr txBox="1"/>
          <p:nvPr/>
        </p:nvSpPr>
        <p:spPr>
          <a:xfrm>
            <a:off x="6272784" y="3959352"/>
            <a:ext cx="2286000" cy="228600"/>
          </a:xfrm>
          <a:prstGeom prst="rect">
            <a:avLst/>
          </a:prstGeom>
          <a:noFill/>
          <a:ln/>
        </p:spPr>
        <p:txBody>
          <a:bodyPr wrap="square" lIns="0" tIns="0" rIns="0" bIns="0" rtlCol="0" anchor="t"/>
          <a:lstStyle/>
          <a:p>
            <a:pPr indent="0" marL="0">
              <a:buNone/>
            </a:pPr>
            <a:r>
              <a:rPr lang="en-US" sz="1150" b="1" dirty="0">
                <a:solidFill>
                  <a:schemeClr val="tx2"/>
                </a:solidFill>
                <a:latin typeface="Courier New" pitchFamily="34" charset="0"/>
                <a:ea typeface="Courier New" pitchFamily="34" charset="-122"/>
                <a:cs typeface="Courier New" pitchFamily="34" charset="-120"/>
              </a:rPr>
              <a:t>pipeline_metrics</a:t>
            </a:r>
            <a:endParaRPr lang="en-US" sz="1150" dirty="0"/>
          </a:p>
        </p:txBody>
      </p:sp>
      <p:sp>
        <p:nvSpPr>
          <p:cNvPr id="34" name="text-324"/>
          <p:cNvSpPr txBox="1"/>
          <p:nvPr/>
        </p:nvSpPr>
        <p:spPr>
          <a:xfrm>
            <a:off x="6272784" y="4187952"/>
            <a:ext cx="2286000" cy="292608"/>
          </a:xfrm>
          <a:prstGeom prst="rect">
            <a:avLst/>
          </a:prstGeom>
          <a:noFill/>
          <a:ln/>
        </p:spPr>
        <p:txBody>
          <a:bodyPr wrap="square" lIns="0" tIns="0" rIns="0" bIns="0" rtlCol="0" anchor="t"/>
          <a:lstStyle/>
          <a:p>
            <a:pPr indent="0" marL="0">
              <a:buNone/>
            </a:pPr>
            <a:r>
              <a:rPr lang="en-US" sz="1100" dirty="0">
                <a:solidFill>
                  <a:schemeClr val="tx1"/>
                </a:solidFill>
              </a:rPr>
              <a:t>telemetry snapshots</a:t>
            </a:r>
            <a:endParaRPr lang="en-US" sz="1100" dirty="0"/>
          </a:p>
        </p:txBody>
      </p:sp>
      <p:sp>
        <p:nvSpPr>
          <p:cNvPr id="25" name="Slide Number Placeholder 0"/>
          <p:cNvSpPr>
            <a:spLocks noGrp="1"/>
          </p:cNvSpPr>
          <p:nvPr>
            <p:ph type="sldNum" sz="quarter" idx="4294967295"/>
          </p:nvPr>
        </p:nvSpPr>
        <p:spPr>
          <a:xfrm>
            <a:off x="8229600" y="479145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800" b="1" dirty="0">
                <a:solidFill>
                  <a:schemeClr val="tx2"/>
                </a:solidFill>
              </a:rPr>
              <a:t>Detection Engine: Six Anomaly Classes</a:t>
            </a:r>
            <a:endParaRPr lang="en-US" sz="2800" dirty="0"/>
          </a:p>
        </p:txBody>
      </p:sp>
      <p:sp>
        <p:nvSpPr>
          <p:cNvPr id="4" name="card-325"/>
          <p:cNvSpPr/>
          <p:nvPr/>
        </p:nvSpPr>
        <p:spPr>
          <a:xfrm>
            <a:off x="457200" y="1005840"/>
            <a:ext cx="2606040" cy="1298448"/>
          </a:xfrm>
          <a:prstGeom prst="roundRect">
            <a:avLst>
              <a:gd name="adj" fmla="val 5634"/>
            </a:avLst>
          </a:prstGeom>
          <a:solidFill>
            <a:schemeClr val="bg2"/>
          </a:solidFill>
          <a:ln w="12700">
            <a:solidFill>
              <a:schemeClr val="bg2"/>
            </a:solidFill>
            <a:prstDash val="solid"/>
          </a:ln>
        </p:spPr>
      </p:sp>
      <p:sp>
        <p:nvSpPr>
          <p:cNvPr id="5" name="circle-326"/>
          <p:cNvSpPr/>
          <p:nvPr/>
        </p:nvSpPr>
        <p:spPr>
          <a:xfrm>
            <a:off x="621792" y="1170432"/>
            <a:ext cx="420624" cy="420624"/>
          </a:xfrm>
          <a:prstGeom prst="ellipse">
            <a:avLst/>
          </a:prstGeom>
          <a:solidFill>
            <a:schemeClr val="accent3"/>
          </a:solidFill>
          <a:ln w="12700">
            <a:solidFill>
              <a:schemeClr val="accent3"/>
            </a:solidFill>
            <a:prstDash val="solid"/>
          </a:ln>
        </p:spPr>
      </p:sp>
      <p:pic>
        <p:nvPicPr>
          <p:cNvPr id="6" name="icon-327" descr="preencoded.png">    </p:cNvPr>
          <p:cNvPicPr>
            <a:picLocks noChangeAspect="1"/>
          </p:cNvPicPr>
          <p:nvPr/>
        </p:nvPicPr>
        <p:blipFill>
          <a:blip r:embed="rId1"/>
          <a:stretch>
            <a:fillRect/>
          </a:stretch>
        </p:blipFill>
        <p:spPr>
          <a:xfrm>
            <a:off x="731154" y="1279794"/>
            <a:ext cx="201900" cy="201900"/>
          </a:xfrm>
          <a:prstGeom prst="rect">
            <a:avLst/>
          </a:prstGeom>
        </p:spPr>
      </p:pic>
      <p:sp>
        <p:nvSpPr>
          <p:cNvPr id="7" name="text-328"/>
          <p:cNvSpPr txBox="1"/>
          <p:nvPr/>
        </p:nvSpPr>
        <p:spPr>
          <a:xfrm>
            <a:off x="1152144" y="1170432"/>
            <a:ext cx="1828800" cy="420624"/>
          </a:xfrm>
          <a:prstGeom prst="rect">
            <a:avLst/>
          </a:prstGeom>
          <a:noFill/>
          <a:ln/>
        </p:spPr>
        <p:txBody>
          <a:bodyPr wrap="square" lIns="0" tIns="0" rIns="0" bIns="0" rtlCol="0" anchor="ctr"/>
          <a:lstStyle/>
          <a:p>
            <a:pPr indent="0" marL="0">
              <a:buNone/>
            </a:pPr>
            <a:r>
              <a:rPr lang="en-US" sz="1400" b="1" dirty="0">
                <a:solidFill>
                  <a:schemeClr val="tx2"/>
                </a:solidFill>
              </a:rPr>
              <a:t>Dark vessel</a:t>
            </a:r>
            <a:endParaRPr lang="en-US" sz="1400" dirty="0"/>
          </a:p>
        </p:txBody>
      </p:sp>
      <p:sp>
        <p:nvSpPr>
          <p:cNvPr id="8" name="text-329"/>
          <p:cNvSpPr txBox="1"/>
          <p:nvPr/>
        </p:nvSpPr>
        <p:spPr>
          <a:xfrm>
            <a:off x="621792" y="1682496"/>
            <a:ext cx="2331720" cy="594360"/>
          </a:xfrm>
          <a:prstGeom prst="rect">
            <a:avLst/>
          </a:prstGeom>
          <a:noFill/>
          <a:ln/>
        </p:spPr>
        <p:txBody>
          <a:bodyPr wrap="square" lIns="0" tIns="0" rIns="0" bIns="0" rtlCol="0" anchor="t"/>
          <a:lstStyle/>
          <a:p>
            <a:pPr indent="0" marL="0">
              <a:buNone/>
            </a:pPr>
            <a:r>
              <a:rPr lang="en-US" sz="1150" dirty="0">
                <a:solidFill>
                  <a:schemeClr val="tx1"/>
                </a:solidFill>
              </a:rPr>
              <a:t>Silence ÷ cell p99 gap; low-confidence cells suppressed; periodic 60 s sweep</a:t>
            </a:r>
            <a:endParaRPr lang="en-US" sz="1150" dirty="0"/>
          </a:p>
        </p:txBody>
      </p:sp>
      <p:sp>
        <p:nvSpPr>
          <p:cNvPr id="9" name="card-330"/>
          <p:cNvSpPr/>
          <p:nvPr/>
        </p:nvSpPr>
        <p:spPr>
          <a:xfrm>
            <a:off x="3273552" y="1005840"/>
            <a:ext cx="2606040" cy="1298448"/>
          </a:xfrm>
          <a:prstGeom prst="roundRect">
            <a:avLst>
              <a:gd name="adj" fmla="val 5634"/>
            </a:avLst>
          </a:prstGeom>
          <a:solidFill>
            <a:schemeClr val="bg2"/>
          </a:solidFill>
          <a:ln w="12700">
            <a:solidFill>
              <a:schemeClr val="bg2"/>
            </a:solidFill>
            <a:prstDash val="solid"/>
          </a:ln>
        </p:spPr>
      </p:sp>
      <p:sp>
        <p:nvSpPr>
          <p:cNvPr id="10" name="circle-331"/>
          <p:cNvSpPr/>
          <p:nvPr/>
        </p:nvSpPr>
        <p:spPr>
          <a:xfrm>
            <a:off x="3438144" y="1170432"/>
            <a:ext cx="420624" cy="420624"/>
          </a:xfrm>
          <a:prstGeom prst="ellipse">
            <a:avLst/>
          </a:prstGeom>
          <a:solidFill>
            <a:schemeClr val="accent1"/>
          </a:solidFill>
          <a:ln w="12700">
            <a:solidFill>
              <a:schemeClr val="accent1"/>
            </a:solidFill>
            <a:prstDash val="solid"/>
          </a:ln>
        </p:spPr>
      </p:sp>
      <p:pic>
        <p:nvPicPr>
          <p:cNvPr id="11" name="icon-332" descr="preencoded.png">    </p:cNvPr>
          <p:cNvPicPr>
            <a:picLocks noChangeAspect="1"/>
          </p:cNvPicPr>
          <p:nvPr/>
        </p:nvPicPr>
        <p:blipFill>
          <a:blip r:embed="rId2"/>
          <a:stretch>
            <a:fillRect/>
          </a:stretch>
        </p:blipFill>
        <p:spPr>
          <a:xfrm>
            <a:off x="3547506" y="1279794"/>
            <a:ext cx="201900" cy="201900"/>
          </a:xfrm>
          <a:prstGeom prst="rect">
            <a:avLst/>
          </a:prstGeom>
        </p:spPr>
      </p:pic>
      <p:sp>
        <p:nvSpPr>
          <p:cNvPr id="12" name="text-333"/>
          <p:cNvSpPr txBox="1"/>
          <p:nvPr/>
        </p:nvSpPr>
        <p:spPr>
          <a:xfrm>
            <a:off x="3968496" y="1170432"/>
            <a:ext cx="1828800" cy="420624"/>
          </a:xfrm>
          <a:prstGeom prst="rect">
            <a:avLst/>
          </a:prstGeom>
          <a:noFill/>
          <a:ln/>
        </p:spPr>
        <p:txBody>
          <a:bodyPr wrap="square" lIns="0" tIns="0" rIns="0" bIns="0" rtlCol="0" anchor="ctr"/>
          <a:lstStyle/>
          <a:p>
            <a:pPr indent="0" marL="0">
              <a:buNone/>
            </a:pPr>
            <a:r>
              <a:rPr lang="en-US" sz="1400" b="1" dirty="0">
                <a:solidFill>
                  <a:schemeClr val="tx2"/>
                </a:solidFill>
              </a:rPr>
              <a:t>GPS spoofing</a:t>
            </a:r>
            <a:endParaRPr lang="en-US" sz="1400" dirty="0"/>
          </a:p>
        </p:txBody>
      </p:sp>
      <p:sp>
        <p:nvSpPr>
          <p:cNvPr id="13" name="text-334"/>
          <p:cNvSpPr txBox="1"/>
          <p:nvPr/>
        </p:nvSpPr>
        <p:spPr>
          <a:xfrm>
            <a:off x="3438144" y="1682496"/>
            <a:ext cx="2331720" cy="594360"/>
          </a:xfrm>
          <a:prstGeom prst="rect">
            <a:avLst/>
          </a:prstGeom>
          <a:noFill/>
          <a:ln/>
        </p:spPr>
        <p:txBody>
          <a:bodyPr wrap="square" lIns="0" tIns="0" rIns="0" bIns="0" rtlCol="0" anchor="t"/>
          <a:lstStyle/>
          <a:p>
            <a:pPr indent="0" marL="0">
              <a:buNone/>
            </a:pPr>
            <a:r>
              <a:rPr lang="en-US" sz="1150" dirty="0">
                <a:solidFill>
                  <a:schemeClr val="tx1"/>
                </a:solidFill>
              </a:rPr>
              <a:t>Jump-and-return: &gt;50 km at &gt;60 kn, then back on the original track</a:t>
            </a:r>
            <a:endParaRPr lang="en-US" sz="1150" dirty="0"/>
          </a:p>
        </p:txBody>
      </p:sp>
      <p:sp>
        <p:nvSpPr>
          <p:cNvPr id="14" name="card-335"/>
          <p:cNvSpPr/>
          <p:nvPr/>
        </p:nvSpPr>
        <p:spPr>
          <a:xfrm>
            <a:off x="6089904" y="1005840"/>
            <a:ext cx="2606040" cy="1298448"/>
          </a:xfrm>
          <a:prstGeom prst="roundRect">
            <a:avLst>
              <a:gd name="adj" fmla="val 5634"/>
            </a:avLst>
          </a:prstGeom>
          <a:solidFill>
            <a:schemeClr val="bg2"/>
          </a:solidFill>
          <a:ln w="12700">
            <a:solidFill>
              <a:schemeClr val="bg2"/>
            </a:solidFill>
            <a:prstDash val="solid"/>
          </a:ln>
        </p:spPr>
      </p:sp>
      <p:sp>
        <p:nvSpPr>
          <p:cNvPr id="15" name="circle-336"/>
          <p:cNvSpPr/>
          <p:nvPr/>
        </p:nvSpPr>
        <p:spPr>
          <a:xfrm>
            <a:off x="6254496" y="1170432"/>
            <a:ext cx="420624" cy="420624"/>
          </a:xfrm>
          <a:prstGeom prst="ellipse">
            <a:avLst/>
          </a:prstGeom>
          <a:solidFill>
            <a:schemeClr val="accent1"/>
          </a:solidFill>
          <a:ln w="12700">
            <a:solidFill>
              <a:schemeClr val="accent1"/>
            </a:solidFill>
            <a:prstDash val="solid"/>
          </a:ln>
        </p:spPr>
      </p:sp>
      <p:pic>
        <p:nvPicPr>
          <p:cNvPr id="16" name="icon-337" descr="preencoded.png">    </p:cNvPr>
          <p:cNvPicPr>
            <a:picLocks noChangeAspect="1"/>
          </p:cNvPicPr>
          <p:nvPr/>
        </p:nvPicPr>
        <p:blipFill>
          <a:blip r:embed="rId3"/>
          <a:stretch>
            <a:fillRect/>
          </a:stretch>
        </p:blipFill>
        <p:spPr>
          <a:xfrm>
            <a:off x="6363858" y="1279794"/>
            <a:ext cx="201900" cy="201900"/>
          </a:xfrm>
          <a:prstGeom prst="rect">
            <a:avLst/>
          </a:prstGeom>
        </p:spPr>
      </p:pic>
      <p:sp>
        <p:nvSpPr>
          <p:cNvPr id="17" name="text-338"/>
          <p:cNvSpPr txBox="1"/>
          <p:nvPr/>
        </p:nvSpPr>
        <p:spPr>
          <a:xfrm>
            <a:off x="6784848" y="1170432"/>
            <a:ext cx="1828800" cy="420624"/>
          </a:xfrm>
          <a:prstGeom prst="rect">
            <a:avLst/>
          </a:prstGeom>
          <a:noFill/>
          <a:ln/>
        </p:spPr>
        <p:txBody>
          <a:bodyPr wrap="square" lIns="0" tIns="0" rIns="0" bIns="0" rtlCol="0" anchor="ctr"/>
          <a:lstStyle/>
          <a:p>
            <a:pPr indent="0" marL="0">
              <a:buNone/>
            </a:pPr>
            <a:r>
              <a:rPr lang="en-US" sz="1400" b="1" dirty="0">
                <a:solidFill>
                  <a:schemeClr val="tx2"/>
                </a:solidFill>
              </a:rPr>
              <a:t>MMSI collision</a:t>
            </a:r>
            <a:endParaRPr lang="en-US" sz="1400" dirty="0"/>
          </a:p>
        </p:txBody>
      </p:sp>
      <p:sp>
        <p:nvSpPr>
          <p:cNvPr id="18" name="text-339"/>
          <p:cNvSpPr txBox="1"/>
          <p:nvPr/>
        </p:nvSpPr>
        <p:spPr>
          <a:xfrm>
            <a:off x="6254496" y="1682496"/>
            <a:ext cx="2331720" cy="594360"/>
          </a:xfrm>
          <a:prstGeom prst="rect">
            <a:avLst/>
          </a:prstGeom>
          <a:noFill/>
          <a:ln/>
        </p:spPr>
        <p:txBody>
          <a:bodyPr wrap="square" lIns="0" tIns="0" rIns="0" bIns="0" rtlCol="0" anchor="t"/>
          <a:lstStyle/>
          <a:p>
            <a:pPr indent="0" marL="0">
              <a:buNone/>
            </a:pPr>
            <a:r>
              <a:rPr lang="en-US" sz="1150" dirty="0">
                <a:solidFill>
                  <a:schemeClr val="tx1"/>
                </a:solidFill>
              </a:rPr>
              <a:t>Same MMSI, positions &gt;50 km apart within ≤120 s</a:t>
            </a:r>
            <a:endParaRPr lang="en-US" sz="1150" dirty="0"/>
          </a:p>
        </p:txBody>
      </p:sp>
      <p:sp>
        <p:nvSpPr>
          <p:cNvPr id="19" name="card-340"/>
          <p:cNvSpPr/>
          <p:nvPr/>
        </p:nvSpPr>
        <p:spPr>
          <a:xfrm>
            <a:off x="457200" y="2450592"/>
            <a:ext cx="2606040" cy="1298448"/>
          </a:xfrm>
          <a:prstGeom prst="roundRect">
            <a:avLst>
              <a:gd name="adj" fmla="val 5634"/>
            </a:avLst>
          </a:prstGeom>
          <a:solidFill>
            <a:schemeClr val="bg2"/>
          </a:solidFill>
          <a:ln w="12700">
            <a:solidFill>
              <a:schemeClr val="bg2"/>
            </a:solidFill>
            <a:prstDash val="solid"/>
          </a:ln>
        </p:spPr>
      </p:sp>
      <p:sp>
        <p:nvSpPr>
          <p:cNvPr id="20" name="circle-341"/>
          <p:cNvSpPr/>
          <p:nvPr/>
        </p:nvSpPr>
        <p:spPr>
          <a:xfrm>
            <a:off x="621792" y="2615184"/>
            <a:ext cx="420624" cy="420624"/>
          </a:xfrm>
          <a:prstGeom prst="ellipse">
            <a:avLst/>
          </a:prstGeom>
          <a:solidFill>
            <a:schemeClr val="accent1"/>
          </a:solidFill>
          <a:ln w="12700">
            <a:solidFill>
              <a:schemeClr val="accent1"/>
            </a:solidFill>
            <a:prstDash val="solid"/>
          </a:ln>
        </p:spPr>
      </p:sp>
      <p:pic>
        <p:nvPicPr>
          <p:cNvPr id="21" name="icon-342" descr="preencoded.png">    </p:cNvPr>
          <p:cNvPicPr>
            <a:picLocks noChangeAspect="1"/>
          </p:cNvPicPr>
          <p:nvPr/>
        </p:nvPicPr>
        <p:blipFill>
          <a:blip r:embed="rId4"/>
          <a:stretch>
            <a:fillRect/>
          </a:stretch>
        </p:blipFill>
        <p:spPr>
          <a:xfrm>
            <a:off x="731154" y="2724546"/>
            <a:ext cx="201900" cy="201900"/>
          </a:xfrm>
          <a:prstGeom prst="rect">
            <a:avLst/>
          </a:prstGeom>
        </p:spPr>
      </p:pic>
      <p:sp>
        <p:nvSpPr>
          <p:cNvPr id="22" name="text-343"/>
          <p:cNvSpPr txBox="1"/>
          <p:nvPr/>
        </p:nvSpPr>
        <p:spPr>
          <a:xfrm>
            <a:off x="1152144" y="2615184"/>
            <a:ext cx="1828800" cy="420624"/>
          </a:xfrm>
          <a:prstGeom prst="rect">
            <a:avLst/>
          </a:prstGeom>
          <a:noFill/>
          <a:ln/>
        </p:spPr>
        <p:txBody>
          <a:bodyPr wrap="square" lIns="0" tIns="0" rIns="0" bIns="0" rtlCol="0" anchor="ctr"/>
          <a:lstStyle/>
          <a:p>
            <a:pPr indent="0" marL="0">
              <a:buNone/>
            </a:pPr>
            <a:r>
              <a:rPr lang="en-US" sz="1400" b="1" dirty="0">
                <a:solidFill>
                  <a:schemeClr val="tx2"/>
                </a:solidFill>
              </a:rPr>
              <a:t>MPA loitering</a:t>
            </a:r>
            <a:endParaRPr lang="en-US" sz="1400" dirty="0"/>
          </a:p>
        </p:txBody>
      </p:sp>
      <p:sp>
        <p:nvSpPr>
          <p:cNvPr id="23" name="text-344"/>
          <p:cNvSpPr txBox="1"/>
          <p:nvPr/>
        </p:nvSpPr>
        <p:spPr>
          <a:xfrm>
            <a:off x="621792" y="3127248"/>
            <a:ext cx="2331720" cy="594360"/>
          </a:xfrm>
          <a:prstGeom prst="rect">
            <a:avLst/>
          </a:prstGeom>
          <a:noFill/>
          <a:ln/>
        </p:spPr>
        <p:txBody>
          <a:bodyPr wrap="square" lIns="0" tIns="0" rIns="0" bIns="0" rtlCol="0" anchor="t"/>
          <a:lstStyle/>
          <a:p>
            <a:pPr indent="0" marL="0">
              <a:buNone/>
            </a:pPr>
            <a:r>
              <a:rPr lang="en-US" sz="1150" dirty="0">
                <a:solidFill>
                  <a:schemeClr val="tx1"/>
                </a:solidFill>
              </a:rPr>
              <a:t>SOG &lt; 1.5 kn inside a protected area; ports &amp; at-anchor excluded</a:t>
            </a:r>
            <a:endParaRPr lang="en-US" sz="1150" dirty="0"/>
          </a:p>
        </p:txBody>
      </p:sp>
      <p:sp>
        <p:nvSpPr>
          <p:cNvPr id="24" name="card-345"/>
          <p:cNvSpPr/>
          <p:nvPr/>
        </p:nvSpPr>
        <p:spPr>
          <a:xfrm>
            <a:off x="3273552" y="2450592"/>
            <a:ext cx="2606040" cy="1298448"/>
          </a:xfrm>
          <a:prstGeom prst="roundRect">
            <a:avLst>
              <a:gd name="adj" fmla="val 5634"/>
            </a:avLst>
          </a:prstGeom>
          <a:solidFill>
            <a:schemeClr val="bg2"/>
          </a:solidFill>
          <a:ln w="12700">
            <a:solidFill>
              <a:schemeClr val="bg2"/>
            </a:solidFill>
            <a:prstDash val="solid"/>
          </a:ln>
        </p:spPr>
      </p:sp>
      <p:sp>
        <p:nvSpPr>
          <p:cNvPr id="25" name="circle-346"/>
          <p:cNvSpPr/>
          <p:nvPr/>
        </p:nvSpPr>
        <p:spPr>
          <a:xfrm>
            <a:off x="3438144" y="2615184"/>
            <a:ext cx="420624" cy="420624"/>
          </a:xfrm>
          <a:prstGeom prst="ellipse">
            <a:avLst/>
          </a:prstGeom>
          <a:solidFill>
            <a:schemeClr val="accent1"/>
          </a:solidFill>
          <a:ln w="12700">
            <a:solidFill>
              <a:schemeClr val="accent1"/>
            </a:solidFill>
            <a:prstDash val="solid"/>
          </a:ln>
        </p:spPr>
      </p:sp>
      <p:pic>
        <p:nvPicPr>
          <p:cNvPr id="26" name="icon-347" descr="preencoded.png">    </p:cNvPr>
          <p:cNvPicPr>
            <a:picLocks noChangeAspect="1"/>
          </p:cNvPicPr>
          <p:nvPr/>
        </p:nvPicPr>
        <p:blipFill>
          <a:blip r:embed="rId5"/>
          <a:stretch>
            <a:fillRect/>
          </a:stretch>
        </p:blipFill>
        <p:spPr>
          <a:xfrm>
            <a:off x="3547506" y="2724546"/>
            <a:ext cx="201900" cy="201900"/>
          </a:xfrm>
          <a:prstGeom prst="rect">
            <a:avLst/>
          </a:prstGeom>
        </p:spPr>
      </p:pic>
      <p:sp>
        <p:nvSpPr>
          <p:cNvPr id="27" name="text-348"/>
          <p:cNvSpPr txBox="1"/>
          <p:nvPr/>
        </p:nvSpPr>
        <p:spPr>
          <a:xfrm>
            <a:off x="3968496" y="2615184"/>
            <a:ext cx="1828800" cy="420624"/>
          </a:xfrm>
          <a:prstGeom prst="rect">
            <a:avLst/>
          </a:prstGeom>
          <a:noFill/>
          <a:ln/>
        </p:spPr>
        <p:txBody>
          <a:bodyPr wrap="square" lIns="0" tIns="0" rIns="0" bIns="0" rtlCol="0" anchor="ctr"/>
          <a:lstStyle/>
          <a:p>
            <a:pPr indent="0" marL="0">
              <a:buNone/>
            </a:pPr>
            <a:r>
              <a:rPr lang="en-US" sz="1400" b="1" dirty="0">
                <a:solidFill>
                  <a:schemeClr val="tx2"/>
                </a:solidFill>
              </a:rPr>
              <a:t>Ship-to-ship rendezvous</a:t>
            </a:r>
            <a:endParaRPr lang="en-US" sz="1400" dirty="0"/>
          </a:p>
        </p:txBody>
      </p:sp>
      <p:sp>
        <p:nvSpPr>
          <p:cNvPr id="28" name="text-349"/>
          <p:cNvSpPr txBox="1"/>
          <p:nvPr/>
        </p:nvSpPr>
        <p:spPr>
          <a:xfrm>
            <a:off x="3438144" y="3127248"/>
            <a:ext cx="2331720" cy="594360"/>
          </a:xfrm>
          <a:prstGeom prst="rect">
            <a:avLst/>
          </a:prstGeom>
          <a:noFill/>
          <a:ln/>
        </p:spPr>
        <p:txBody>
          <a:bodyPr wrap="square" lIns="0" tIns="0" rIns="0" bIns="0" rtlCol="0" anchor="t"/>
          <a:lstStyle/>
          <a:p>
            <a:pPr indent="0" marL="0">
              <a:buNone/>
            </a:pPr>
            <a:r>
              <a:rPr lang="en-US" sz="1150" dirty="0">
                <a:solidFill>
                  <a:schemeClr val="tx1"/>
                </a:solidFill>
              </a:rPr>
              <a:t>Two slow vessels (≤3 kn) within 500 m, outside ports</a:t>
            </a:r>
            <a:endParaRPr lang="en-US" sz="1150" dirty="0"/>
          </a:p>
        </p:txBody>
      </p:sp>
      <p:sp>
        <p:nvSpPr>
          <p:cNvPr id="29" name="card-350"/>
          <p:cNvSpPr/>
          <p:nvPr/>
        </p:nvSpPr>
        <p:spPr>
          <a:xfrm>
            <a:off x="6089904" y="2450592"/>
            <a:ext cx="2606040" cy="1298448"/>
          </a:xfrm>
          <a:prstGeom prst="roundRect">
            <a:avLst>
              <a:gd name="adj" fmla="val 5634"/>
            </a:avLst>
          </a:prstGeom>
          <a:solidFill>
            <a:schemeClr val="bg2"/>
          </a:solidFill>
          <a:ln w="12700">
            <a:solidFill>
              <a:schemeClr val="bg2"/>
            </a:solidFill>
            <a:prstDash val="solid"/>
          </a:ln>
        </p:spPr>
      </p:sp>
      <p:sp>
        <p:nvSpPr>
          <p:cNvPr id="30" name="circle-351"/>
          <p:cNvSpPr/>
          <p:nvPr/>
        </p:nvSpPr>
        <p:spPr>
          <a:xfrm>
            <a:off x="6254496" y="2615184"/>
            <a:ext cx="420624" cy="420624"/>
          </a:xfrm>
          <a:prstGeom prst="ellipse">
            <a:avLst/>
          </a:prstGeom>
          <a:solidFill>
            <a:schemeClr val="accent1"/>
          </a:solidFill>
          <a:ln w="12700">
            <a:solidFill>
              <a:schemeClr val="accent1"/>
            </a:solidFill>
            <a:prstDash val="solid"/>
          </a:ln>
        </p:spPr>
      </p:sp>
      <p:pic>
        <p:nvPicPr>
          <p:cNvPr id="31" name="icon-352" descr="preencoded.png">    </p:cNvPr>
          <p:cNvPicPr>
            <a:picLocks noChangeAspect="1"/>
          </p:cNvPicPr>
          <p:nvPr/>
        </p:nvPicPr>
        <p:blipFill>
          <a:blip r:embed="rId6"/>
          <a:stretch>
            <a:fillRect/>
          </a:stretch>
        </p:blipFill>
        <p:spPr>
          <a:xfrm>
            <a:off x="6363858" y="2724546"/>
            <a:ext cx="201900" cy="201900"/>
          </a:xfrm>
          <a:prstGeom prst="rect">
            <a:avLst/>
          </a:prstGeom>
        </p:spPr>
      </p:pic>
      <p:sp>
        <p:nvSpPr>
          <p:cNvPr id="32" name="text-353"/>
          <p:cNvSpPr txBox="1"/>
          <p:nvPr/>
        </p:nvSpPr>
        <p:spPr>
          <a:xfrm>
            <a:off x="6784848" y="2615184"/>
            <a:ext cx="1828800" cy="420624"/>
          </a:xfrm>
          <a:prstGeom prst="rect">
            <a:avLst/>
          </a:prstGeom>
          <a:noFill/>
          <a:ln/>
        </p:spPr>
        <p:txBody>
          <a:bodyPr wrap="square" lIns="0" tIns="0" rIns="0" bIns="0" rtlCol="0" anchor="ctr"/>
          <a:lstStyle/>
          <a:p>
            <a:pPr indent="0" marL="0">
              <a:buNone/>
            </a:pPr>
            <a:r>
              <a:rPr lang="en-US" sz="1400" b="1" dirty="0">
                <a:solidFill>
                  <a:schemeClr val="tx2"/>
                </a:solidFill>
              </a:rPr>
              <a:t>ML trajectory outlier</a:t>
            </a:r>
            <a:endParaRPr lang="en-US" sz="1400" dirty="0"/>
          </a:p>
        </p:txBody>
      </p:sp>
      <p:sp>
        <p:nvSpPr>
          <p:cNvPr id="33" name="text-354"/>
          <p:cNvSpPr txBox="1"/>
          <p:nvPr/>
        </p:nvSpPr>
        <p:spPr>
          <a:xfrm>
            <a:off x="6254496" y="3127248"/>
            <a:ext cx="2331720" cy="594360"/>
          </a:xfrm>
          <a:prstGeom prst="rect">
            <a:avLst/>
          </a:prstGeom>
          <a:noFill/>
          <a:ln/>
        </p:spPr>
        <p:txBody>
          <a:bodyPr wrap="square" lIns="0" tIns="0" rIns="0" bIns="0" rtlCol="0" anchor="t"/>
          <a:lstStyle/>
          <a:p>
            <a:pPr indent="0" marL="0">
              <a:buNone/>
            </a:pPr>
            <a:r>
              <a:rPr lang="en-US" sz="1150" dirty="0">
                <a:solidFill>
                  <a:schemeClr val="tx1"/>
                </a:solidFill>
              </a:rPr>
              <a:t>1-hour window far from every learned cluster centroid (&gt; p99)</a:t>
            </a:r>
            <a:endParaRPr lang="en-US" sz="1150" dirty="0"/>
          </a:p>
        </p:txBody>
      </p:sp>
      <p:sp>
        <p:nvSpPr>
          <p:cNvPr id="34" name="text-355"/>
          <p:cNvSpPr txBox="1"/>
          <p:nvPr/>
        </p:nvSpPr>
        <p:spPr>
          <a:xfrm>
            <a:off x="457200" y="3959352"/>
            <a:ext cx="8229600" cy="502920"/>
          </a:xfrm>
          <a:prstGeom prst="rect">
            <a:avLst/>
          </a:prstGeom>
          <a:noFill/>
          <a:ln/>
        </p:spPr>
        <p:txBody>
          <a:bodyPr wrap="square" lIns="0" tIns="0" rIns="0" bIns="0" rtlCol="0" anchor="t"/>
          <a:lstStyle/>
          <a:p>
            <a:pPr indent="0" marL="0">
              <a:buNone/>
            </a:pPr>
            <a:r>
              <a:rPr lang="en-US" sz="1250" i="1" dirty="0">
                <a:solidFill>
                  <a:schemeClr val="accent5"/>
                </a:solidFill>
              </a:rPr>
              <a:t>Every alert stores structured evidence (observed vs expected gap, zone, coverage confidence) and is de-duplicated to one per vessel, per type, per 6 hours.</a:t>
            </a:r>
            <a:endParaRPr lang="en-US" sz="1250" dirty="0"/>
          </a:p>
        </p:txBody>
      </p:sp>
      <p:sp>
        <p:nvSpPr>
          <p:cNvPr id="25" name="Slide Number Placeholder 0"/>
          <p:cNvSpPr>
            <a:spLocks noGrp="1"/>
          </p:cNvSpPr>
          <p:nvPr>
            <p:ph type="sldNum" sz="quarter" idx="4294967295"/>
          </p:nvPr>
        </p:nvSpPr>
        <p:spPr>
          <a:xfrm>
            <a:off x="8229600" y="479145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800" b="1" dirty="0">
                <a:solidFill>
                  <a:schemeClr val="tx2"/>
                </a:solidFill>
              </a:rPr>
              <a:t>Machine Learning Pipeline (Spark MLlib)</a:t>
            </a:r>
            <a:endParaRPr lang="en-US" sz="2800" dirty="0"/>
          </a:p>
        </p:txBody>
      </p:sp>
      <p:sp>
        <p:nvSpPr>
          <p:cNvPr id="4" name="card-356"/>
          <p:cNvSpPr/>
          <p:nvPr/>
        </p:nvSpPr>
        <p:spPr>
          <a:xfrm>
            <a:off x="457200" y="1051560"/>
            <a:ext cx="1481328" cy="1234440"/>
          </a:xfrm>
          <a:prstGeom prst="roundRect">
            <a:avLst>
              <a:gd name="adj" fmla="val 5926"/>
            </a:avLst>
          </a:prstGeom>
          <a:solidFill>
            <a:schemeClr val="bg2"/>
          </a:solidFill>
          <a:ln w="12700">
            <a:solidFill>
              <a:schemeClr val="bg2"/>
            </a:solidFill>
            <a:prstDash val="solid"/>
          </a:ln>
        </p:spPr>
      </p:sp>
      <p:sp>
        <p:nvSpPr>
          <p:cNvPr id="5" name="text-357"/>
          <p:cNvSpPr txBox="1"/>
          <p:nvPr/>
        </p:nvSpPr>
        <p:spPr>
          <a:xfrm>
            <a:off x="548640" y="1161288"/>
            <a:ext cx="1298448" cy="548640"/>
          </a:xfrm>
          <a:prstGeom prst="rect">
            <a:avLst/>
          </a:prstGeom>
          <a:noFill/>
          <a:ln/>
        </p:spPr>
        <p:txBody>
          <a:bodyPr wrap="square" lIns="0" tIns="0" rIns="0" bIns="0" rtlCol="0" anchor="ctr"/>
          <a:lstStyle/>
          <a:p>
            <a:pPr algn="ctr" indent="0" marL="0">
              <a:buNone/>
            </a:pPr>
            <a:r>
              <a:rPr lang="en-US" sz="1250" b="1" dirty="0">
                <a:solidFill>
                  <a:schemeClr val="tx2"/>
                </a:solidFill>
              </a:rPr>
              <a:t>1-hour windows</a:t>
            </a:r>
            <a:endParaRPr lang="en-US" sz="1250" dirty="0"/>
          </a:p>
        </p:txBody>
      </p:sp>
      <p:sp>
        <p:nvSpPr>
          <p:cNvPr id="6" name="text-358"/>
          <p:cNvSpPr txBox="1"/>
          <p:nvPr/>
        </p:nvSpPr>
        <p:spPr>
          <a:xfrm>
            <a:off x="548640" y="1737360"/>
            <a:ext cx="1298448" cy="502920"/>
          </a:xfrm>
          <a:prstGeom prst="rect">
            <a:avLst/>
          </a:prstGeom>
          <a:noFill/>
          <a:ln/>
        </p:spPr>
        <p:txBody>
          <a:bodyPr wrap="square" lIns="0" tIns="0" rIns="0" bIns="0" rtlCol="0" anchor="t"/>
          <a:lstStyle/>
          <a:p>
            <a:pPr algn="ctr" indent="0" marL="0">
              <a:buNone/>
            </a:pPr>
            <a:r>
              <a:rPr lang="en-US" sz="1050" dirty="0">
                <a:solidFill>
                  <a:schemeClr val="accent5"/>
                </a:solidFill>
              </a:rPr>
              <a:t>Per-vessel tumbling windows, ≥ 8 pings</a:t>
            </a:r>
            <a:endParaRPr lang="en-US" sz="1050" dirty="0"/>
          </a:p>
        </p:txBody>
      </p:sp>
      <p:sp>
        <p:nvSpPr>
          <p:cNvPr id="7" name="arrow-359"/>
          <p:cNvSpPr/>
          <p:nvPr/>
        </p:nvSpPr>
        <p:spPr>
          <a:xfrm>
            <a:off x="1938528" y="1664208"/>
            <a:ext cx="201168" cy="0"/>
          </a:xfrm>
          <a:prstGeom prst="line">
            <a:avLst/>
          </a:prstGeom>
          <a:noFill/>
          <a:ln w="19050">
            <a:solidFill>
              <a:schemeClr val="accent5"/>
            </a:solidFill>
            <a:prstDash val="solid"/>
            <a:tailEnd type="triangle"/>
          </a:ln>
        </p:spPr>
      </p:sp>
      <p:sp>
        <p:nvSpPr>
          <p:cNvPr id="8" name="card-360"/>
          <p:cNvSpPr/>
          <p:nvPr/>
        </p:nvSpPr>
        <p:spPr>
          <a:xfrm>
            <a:off x="2139696" y="1051560"/>
            <a:ext cx="1481328" cy="1234440"/>
          </a:xfrm>
          <a:prstGeom prst="roundRect">
            <a:avLst>
              <a:gd name="adj" fmla="val 5926"/>
            </a:avLst>
          </a:prstGeom>
          <a:solidFill>
            <a:schemeClr val="bg2"/>
          </a:solidFill>
          <a:ln w="12700">
            <a:solidFill>
              <a:schemeClr val="bg2"/>
            </a:solidFill>
            <a:prstDash val="solid"/>
          </a:ln>
        </p:spPr>
      </p:sp>
      <p:sp>
        <p:nvSpPr>
          <p:cNvPr id="9" name="text-361"/>
          <p:cNvSpPr txBox="1"/>
          <p:nvPr/>
        </p:nvSpPr>
        <p:spPr>
          <a:xfrm>
            <a:off x="2231136" y="1161288"/>
            <a:ext cx="1298448" cy="548640"/>
          </a:xfrm>
          <a:prstGeom prst="rect">
            <a:avLst/>
          </a:prstGeom>
          <a:noFill/>
          <a:ln/>
        </p:spPr>
        <p:txBody>
          <a:bodyPr wrap="square" lIns="0" tIns="0" rIns="0" bIns="0" rtlCol="0" anchor="ctr"/>
          <a:lstStyle/>
          <a:p>
            <a:pPr algn="ctr" indent="0" marL="0">
              <a:buNone/>
            </a:pPr>
            <a:r>
              <a:rPr lang="en-US" sz="1250" b="1" dirty="0">
                <a:solidFill>
                  <a:schemeClr val="tx2"/>
                </a:solidFill>
              </a:rPr>
              <a:t>10 features</a:t>
            </a:r>
            <a:endParaRPr lang="en-US" sz="1250" dirty="0"/>
          </a:p>
        </p:txBody>
      </p:sp>
      <p:sp>
        <p:nvSpPr>
          <p:cNvPr id="10" name="text-362"/>
          <p:cNvSpPr txBox="1"/>
          <p:nvPr/>
        </p:nvSpPr>
        <p:spPr>
          <a:xfrm>
            <a:off x="2231136" y="1737360"/>
            <a:ext cx="1298448" cy="502920"/>
          </a:xfrm>
          <a:prstGeom prst="rect">
            <a:avLst/>
          </a:prstGeom>
          <a:noFill/>
          <a:ln/>
        </p:spPr>
        <p:txBody>
          <a:bodyPr wrap="square" lIns="0" tIns="0" rIns="0" bIns="0" rtlCol="0" anchor="t"/>
          <a:lstStyle/>
          <a:p>
            <a:pPr algn="ctr" indent="0" marL="0">
              <a:buNone/>
            </a:pPr>
            <a:r>
              <a:rPr lang="en-US" sz="1050" dirty="0">
                <a:solidFill>
                  <a:schemeClr val="accent5"/>
                </a:solidFill>
              </a:rPr>
              <a:t>Speed, course, tortuosity, gaps</a:t>
            </a:r>
            <a:endParaRPr lang="en-US" sz="1050" dirty="0"/>
          </a:p>
        </p:txBody>
      </p:sp>
      <p:sp>
        <p:nvSpPr>
          <p:cNvPr id="11" name="arrow-363"/>
          <p:cNvSpPr/>
          <p:nvPr/>
        </p:nvSpPr>
        <p:spPr>
          <a:xfrm>
            <a:off x="3621024" y="1664208"/>
            <a:ext cx="201168" cy="0"/>
          </a:xfrm>
          <a:prstGeom prst="line">
            <a:avLst/>
          </a:prstGeom>
          <a:noFill/>
          <a:ln w="19050">
            <a:solidFill>
              <a:schemeClr val="accent5"/>
            </a:solidFill>
            <a:prstDash val="solid"/>
            <a:tailEnd type="triangle"/>
          </a:ln>
        </p:spPr>
      </p:sp>
      <p:sp>
        <p:nvSpPr>
          <p:cNvPr id="12" name="card-364"/>
          <p:cNvSpPr/>
          <p:nvPr/>
        </p:nvSpPr>
        <p:spPr>
          <a:xfrm>
            <a:off x="3822192" y="1051560"/>
            <a:ext cx="1481328" cy="1234440"/>
          </a:xfrm>
          <a:prstGeom prst="roundRect">
            <a:avLst>
              <a:gd name="adj" fmla="val 5926"/>
            </a:avLst>
          </a:prstGeom>
          <a:solidFill>
            <a:schemeClr val="bg2"/>
          </a:solidFill>
          <a:ln w="12700">
            <a:solidFill>
              <a:schemeClr val="bg2"/>
            </a:solidFill>
            <a:prstDash val="solid"/>
          </a:ln>
        </p:spPr>
      </p:sp>
      <p:sp>
        <p:nvSpPr>
          <p:cNvPr id="13" name="text-365"/>
          <p:cNvSpPr txBox="1"/>
          <p:nvPr/>
        </p:nvSpPr>
        <p:spPr>
          <a:xfrm>
            <a:off x="3913632" y="1161288"/>
            <a:ext cx="1298448" cy="548640"/>
          </a:xfrm>
          <a:prstGeom prst="rect">
            <a:avLst/>
          </a:prstGeom>
          <a:noFill/>
          <a:ln/>
        </p:spPr>
        <p:txBody>
          <a:bodyPr wrap="square" lIns="0" tIns="0" rIns="0" bIns="0" rtlCol="0" anchor="ctr"/>
          <a:lstStyle/>
          <a:p>
            <a:pPr algn="ctr" indent="0" marL="0">
              <a:buNone/>
            </a:pPr>
            <a:r>
              <a:rPr lang="en-US" sz="1250" b="1" dirty="0">
                <a:solidFill>
                  <a:schemeClr val="tx2"/>
                </a:solidFill>
              </a:rPr>
              <a:t>VectorAssembler + StandardScaler</a:t>
            </a:r>
            <a:endParaRPr lang="en-US" sz="1250" dirty="0"/>
          </a:p>
        </p:txBody>
      </p:sp>
      <p:sp>
        <p:nvSpPr>
          <p:cNvPr id="14" name="text-366"/>
          <p:cNvSpPr txBox="1"/>
          <p:nvPr/>
        </p:nvSpPr>
        <p:spPr>
          <a:xfrm>
            <a:off x="3913632" y="1737360"/>
            <a:ext cx="1298448" cy="502920"/>
          </a:xfrm>
          <a:prstGeom prst="rect">
            <a:avLst/>
          </a:prstGeom>
          <a:noFill/>
          <a:ln/>
        </p:spPr>
        <p:txBody>
          <a:bodyPr wrap="square" lIns="0" tIns="0" rIns="0" bIns="0" rtlCol="0" anchor="t"/>
          <a:lstStyle/>
          <a:p>
            <a:pPr algn="ctr" indent="0" marL="0">
              <a:buNone/>
            </a:pPr>
            <a:r>
              <a:rPr lang="en-US" sz="1050" dirty="0">
                <a:solidFill>
                  <a:schemeClr val="accent5"/>
                </a:solidFill>
              </a:rPr>
              <a:t>Distributed feature matrix</a:t>
            </a:r>
            <a:endParaRPr lang="en-US" sz="1050" dirty="0"/>
          </a:p>
        </p:txBody>
      </p:sp>
      <p:sp>
        <p:nvSpPr>
          <p:cNvPr id="15" name="arrow-367"/>
          <p:cNvSpPr/>
          <p:nvPr/>
        </p:nvSpPr>
        <p:spPr>
          <a:xfrm>
            <a:off x="5303520" y="1664208"/>
            <a:ext cx="201168" cy="0"/>
          </a:xfrm>
          <a:prstGeom prst="line">
            <a:avLst/>
          </a:prstGeom>
          <a:noFill/>
          <a:ln w="19050">
            <a:solidFill>
              <a:schemeClr val="accent5"/>
            </a:solidFill>
            <a:prstDash val="solid"/>
            <a:tailEnd type="triangle"/>
          </a:ln>
        </p:spPr>
      </p:sp>
      <p:sp>
        <p:nvSpPr>
          <p:cNvPr id="16" name="card-368"/>
          <p:cNvSpPr/>
          <p:nvPr/>
        </p:nvSpPr>
        <p:spPr>
          <a:xfrm>
            <a:off x="5504688" y="1051560"/>
            <a:ext cx="1481328" cy="1234440"/>
          </a:xfrm>
          <a:prstGeom prst="roundRect">
            <a:avLst>
              <a:gd name="adj" fmla="val 5926"/>
            </a:avLst>
          </a:prstGeom>
          <a:solidFill>
            <a:schemeClr val="tx2"/>
          </a:solidFill>
          <a:ln w="12700">
            <a:solidFill>
              <a:schemeClr val="tx2"/>
            </a:solidFill>
            <a:prstDash val="solid"/>
          </a:ln>
        </p:spPr>
      </p:sp>
      <p:sp>
        <p:nvSpPr>
          <p:cNvPr id="17" name="text-369"/>
          <p:cNvSpPr txBox="1"/>
          <p:nvPr/>
        </p:nvSpPr>
        <p:spPr>
          <a:xfrm>
            <a:off x="5596128" y="1161288"/>
            <a:ext cx="1298448" cy="548640"/>
          </a:xfrm>
          <a:prstGeom prst="rect">
            <a:avLst/>
          </a:prstGeom>
          <a:noFill/>
          <a:ln/>
        </p:spPr>
        <p:txBody>
          <a:bodyPr wrap="square" lIns="0" tIns="0" rIns="0" bIns="0" rtlCol="0" anchor="ctr"/>
          <a:lstStyle/>
          <a:p>
            <a:pPr algn="ctr" indent="0" marL="0">
              <a:buNone/>
            </a:pPr>
            <a:r>
              <a:rPr lang="en-US" sz="1250" b="1" dirty="0">
                <a:solidFill>
                  <a:schemeClr val="bg1"/>
                </a:solidFill>
              </a:rPr>
              <a:t>KMeans (k = 5)</a:t>
            </a:r>
            <a:endParaRPr lang="en-US" sz="1250" dirty="0"/>
          </a:p>
        </p:txBody>
      </p:sp>
      <p:sp>
        <p:nvSpPr>
          <p:cNvPr id="18" name="text-370"/>
          <p:cNvSpPr txBox="1"/>
          <p:nvPr/>
        </p:nvSpPr>
        <p:spPr>
          <a:xfrm>
            <a:off x="5596128" y="1737360"/>
            <a:ext cx="1298448" cy="502920"/>
          </a:xfrm>
          <a:prstGeom prst="rect">
            <a:avLst/>
          </a:prstGeom>
          <a:noFill/>
          <a:ln/>
        </p:spPr>
        <p:txBody>
          <a:bodyPr wrap="square" lIns="0" tIns="0" rIns="0" bIns="0" rtlCol="0" anchor="t"/>
          <a:lstStyle/>
          <a:p>
            <a:pPr algn="ctr" indent="0" marL="0">
              <a:buNone/>
            </a:pPr>
            <a:r>
              <a:rPr lang="en-US" sz="1050" dirty="0">
                <a:solidFill>
                  <a:schemeClr val="accent4"/>
                </a:solidFill>
              </a:rPr>
              <a:t>Clusters of normal transit</a:t>
            </a:r>
            <a:endParaRPr lang="en-US" sz="1050" dirty="0"/>
          </a:p>
        </p:txBody>
      </p:sp>
      <p:sp>
        <p:nvSpPr>
          <p:cNvPr id="19" name="arrow-371"/>
          <p:cNvSpPr/>
          <p:nvPr/>
        </p:nvSpPr>
        <p:spPr>
          <a:xfrm>
            <a:off x="6986016" y="1664208"/>
            <a:ext cx="201168" cy="0"/>
          </a:xfrm>
          <a:prstGeom prst="line">
            <a:avLst/>
          </a:prstGeom>
          <a:noFill/>
          <a:ln w="19050">
            <a:solidFill>
              <a:schemeClr val="accent5"/>
            </a:solidFill>
            <a:prstDash val="solid"/>
            <a:tailEnd type="triangle"/>
          </a:ln>
        </p:spPr>
      </p:sp>
      <p:sp>
        <p:nvSpPr>
          <p:cNvPr id="20" name="card-372"/>
          <p:cNvSpPr/>
          <p:nvPr/>
        </p:nvSpPr>
        <p:spPr>
          <a:xfrm>
            <a:off x="7187184" y="1051560"/>
            <a:ext cx="1481328" cy="1234440"/>
          </a:xfrm>
          <a:prstGeom prst="roundRect">
            <a:avLst>
              <a:gd name="adj" fmla="val 5926"/>
            </a:avLst>
          </a:prstGeom>
          <a:solidFill>
            <a:schemeClr val="bg2"/>
          </a:solidFill>
          <a:ln w="12700">
            <a:solidFill>
              <a:schemeClr val="bg2"/>
            </a:solidFill>
            <a:prstDash val="solid"/>
          </a:ln>
        </p:spPr>
      </p:sp>
      <p:sp>
        <p:nvSpPr>
          <p:cNvPr id="21" name="text-373"/>
          <p:cNvSpPr txBox="1"/>
          <p:nvPr/>
        </p:nvSpPr>
        <p:spPr>
          <a:xfrm>
            <a:off x="7278624" y="1161288"/>
            <a:ext cx="1298448" cy="548640"/>
          </a:xfrm>
          <a:prstGeom prst="rect">
            <a:avLst/>
          </a:prstGeom>
          <a:noFill/>
          <a:ln/>
        </p:spPr>
        <p:txBody>
          <a:bodyPr wrap="square" lIns="0" tIns="0" rIns="0" bIns="0" rtlCol="0" anchor="ctr"/>
          <a:lstStyle/>
          <a:p>
            <a:pPr algn="ctr" indent="0" marL="0">
              <a:buNone/>
            </a:pPr>
            <a:r>
              <a:rPr lang="en-US" sz="1250" b="1" dirty="0">
                <a:solidFill>
                  <a:schemeClr val="tx2"/>
                </a:solidFill>
              </a:rPr>
              <a:t>Distance &gt; p99</a:t>
            </a:r>
            <a:endParaRPr lang="en-US" sz="1250" dirty="0"/>
          </a:p>
        </p:txBody>
      </p:sp>
      <p:sp>
        <p:nvSpPr>
          <p:cNvPr id="22" name="text-374"/>
          <p:cNvSpPr txBox="1"/>
          <p:nvPr/>
        </p:nvSpPr>
        <p:spPr>
          <a:xfrm>
            <a:off x="7278624" y="1737360"/>
            <a:ext cx="1298448" cy="502920"/>
          </a:xfrm>
          <a:prstGeom prst="rect">
            <a:avLst/>
          </a:prstGeom>
          <a:noFill/>
          <a:ln/>
        </p:spPr>
        <p:txBody>
          <a:bodyPr wrap="square" lIns="0" tIns="0" rIns="0" bIns="0" rtlCol="0" anchor="t"/>
          <a:lstStyle/>
          <a:p>
            <a:pPr algn="ctr" indent="0" marL="0">
              <a:buNone/>
            </a:pPr>
            <a:r>
              <a:rPr lang="en-US" sz="1050" dirty="0">
                <a:solidFill>
                  <a:schemeClr val="accent5"/>
                </a:solidFill>
              </a:rPr>
              <a:t>ml_anomaly + top features</a:t>
            </a:r>
            <a:endParaRPr lang="en-US" sz="1050" dirty="0"/>
          </a:p>
        </p:txBody>
      </p:sp>
      <p:sp>
        <p:nvSpPr>
          <p:cNvPr id="23" name="text-375"/>
          <p:cNvSpPr txBox="1"/>
          <p:nvPr/>
        </p:nvSpPr>
        <p:spPr>
          <a:xfrm>
            <a:off x="457200" y="2514600"/>
            <a:ext cx="4572000" cy="228600"/>
          </a:xfrm>
          <a:prstGeom prst="rect">
            <a:avLst/>
          </a:prstGeom>
          <a:noFill/>
          <a:ln/>
        </p:spPr>
        <p:txBody>
          <a:bodyPr wrap="square" lIns="0" tIns="0" rIns="0" bIns="0" rtlCol="0" anchor="t"/>
          <a:lstStyle/>
          <a:p>
            <a:pPr indent="0" marL="0">
              <a:buNone/>
            </a:pPr>
            <a:r>
              <a:rPr lang="en-US" sz="1100" b="1" spc="100" kern="0" dirty="0">
                <a:solidFill>
                  <a:schemeClr val="accent5"/>
                </a:solidFill>
              </a:rPr>
              <a:t>TRAJECTORY FEATURES</a:t>
            </a:r>
            <a:endParaRPr lang="en-US" sz="1100" dirty="0"/>
          </a:p>
        </p:txBody>
      </p:sp>
      <p:sp>
        <p:nvSpPr>
          <p:cNvPr id="24" name="card-376"/>
          <p:cNvSpPr/>
          <p:nvPr/>
        </p:nvSpPr>
        <p:spPr>
          <a:xfrm>
            <a:off x="457200" y="2788920"/>
            <a:ext cx="1554480" cy="365760"/>
          </a:xfrm>
          <a:prstGeom prst="roundRect">
            <a:avLst>
              <a:gd name="adj" fmla="val 20000"/>
            </a:avLst>
          </a:prstGeom>
          <a:solidFill>
            <a:schemeClr val="bg2"/>
          </a:solidFill>
          <a:ln w="12700">
            <a:solidFill>
              <a:schemeClr val="bg2"/>
            </a:solidFill>
            <a:prstDash val="solid"/>
          </a:ln>
        </p:spPr>
      </p:sp>
      <p:sp>
        <p:nvSpPr>
          <p:cNvPr id="25" name="text-377"/>
          <p:cNvSpPr txBox="1"/>
          <p:nvPr/>
        </p:nvSpPr>
        <p:spPr>
          <a:xfrm>
            <a:off x="502920" y="2788920"/>
            <a:ext cx="1481328" cy="365760"/>
          </a:xfrm>
          <a:prstGeom prst="rect">
            <a:avLst/>
          </a:prstGeom>
          <a:noFill/>
          <a:ln/>
        </p:spPr>
        <p:txBody>
          <a:bodyPr wrap="square" lIns="0" tIns="0" rIns="0" bIns="0" rtlCol="0" anchor="ctr"/>
          <a:lstStyle/>
          <a:p>
            <a:pPr algn="ctr" indent="0" marL="0">
              <a:buNone/>
            </a:pPr>
            <a:r>
              <a:rPr lang="en-US" sz="1100" dirty="0">
                <a:solidFill>
                  <a:schemeClr val="tx2"/>
                </a:solidFill>
              </a:rPr>
              <a:t>sog_mean</a:t>
            </a:r>
            <a:endParaRPr lang="en-US" sz="1100" dirty="0"/>
          </a:p>
        </p:txBody>
      </p:sp>
      <p:sp>
        <p:nvSpPr>
          <p:cNvPr id="26" name="card-378"/>
          <p:cNvSpPr/>
          <p:nvPr/>
        </p:nvSpPr>
        <p:spPr>
          <a:xfrm>
            <a:off x="2139696" y="2788920"/>
            <a:ext cx="1554480" cy="365760"/>
          </a:xfrm>
          <a:prstGeom prst="roundRect">
            <a:avLst>
              <a:gd name="adj" fmla="val 20000"/>
            </a:avLst>
          </a:prstGeom>
          <a:solidFill>
            <a:schemeClr val="bg2"/>
          </a:solidFill>
          <a:ln w="12700">
            <a:solidFill>
              <a:schemeClr val="bg2"/>
            </a:solidFill>
            <a:prstDash val="solid"/>
          </a:ln>
        </p:spPr>
      </p:sp>
      <p:sp>
        <p:nvSpPr>
          <p:cNvPr id="27" name="text-379"/>
          <p:cNvSpPr txBox="1"/>
          <p:nvPr/>
        </p:nvSpPr>
        <p:spPr>
          <a:xfrm>
            <a:off x="2185416" y="2788920"/>
            <a:ext cx="1481328" cy="365760"/>
          </a:xfrm>
          <a:prstGeom prst="rect">
            <a:avLst/>
          </a:prstGeom>
          <a:noFill/>
          <a:ln/>
        </p:spPr>
        <p:txBody>
          <a:bodyPr wrap="square" lIns="0" tIns="0" rIns="0" bIns="0" rtlCol="0" anchor="ctr"/>
          <a:lstStyle/>
          <a:p>
            <a:pPr algn="ctr" indent="0" marL="0">
              <a:buNone/>
            </a:pPr>
            <a:r>
              <a:rPr lang="en-US" sz="1100" dirty="0">
                <a:solidFill>
                  <a:schemeClr val="tx2"/>
                </a:solidFill>
              </a:rPr>
              <a:t>sog_std</a:t>
            </a:r>
            <a:endParaRPr lang="en-US" sz="1100" dirty="0"/>
          </a:p>
        </p:txBody>
      </p:sp>
      <p:sp>
        <p:nvSpPr>
          <p:cNvPr id="28" name="card-380"/>
          <p:cNvSpPr/>
          <p:nvPr/>
        </p:nvSpPr>
        <p:spPr>
          <a:xfrm>
            <a:off x="3822192" y="2788920"/>
            <a:ext cx="1554480" cy="365760"/>
          </a:xfrm>
          <a:prstGeom prst="roundRect">
            <a:avLst>
              <a:gd name="adj" fmla="val 20000"/>
            </a:avLst>
          </a:prstGeom>
          <a:solidFill>
            <a:schemeClr val="bg2"/>
          </a:solidFill>
          <a:ln w="12700">
            <a:solidFill>
              <a:schemeClr val="bg2"/>
            </a:solidFill>
            <a:prstDash val="solid"/>
          </a:ln>
        </p:spPr>
      </p:sp>
      <p:sp>
        <p:nvSpPr>
          <p:cNvPr id="29" name="text-381"/>
          <p:cNvSpPr txBox="1"/>
          <p:nvPr/>
        </p:nvSpPr>
        <p:spPr>
          <a:xfrm>
            <a:off x="3867912" y="2788920"/>
            <a:ext cx="1481328" cy="365760"/>
          </a:xfrm>
          <a:prstGeom prst="rect">
            <a:avLst/>
          </a:prstGeom>
          <a:noFill/>
          <a:ln/>
        </p:spPr>
        <p:txBody>
          <a:bodyPr wrap="square" lIns="0" tIns="0" rIns="0" bIns="0" rtlCol="0" anchor="ctr"/>
          <a:lstStyle/>
          <a:p>
            <a:pPr algn="ctr" indent="0" marL="0">
              <a:buNone/>
            </a:pPr>
            <a:r>
              <a:rPr lang="en-US" sz="1100" dirty="0">
                <a:solidFill>
                  <a:schemeClr val="tx2"/>
                </a:solidFill>
              </a:rPr>
              <a:t>sog_max</a:t>
            </a:r>
            <a:endParaRPr lang="en-US" sz="1100" dirty="0"/>
          </a:p>
        </p:txBody>
      </p:sp>
      <p:sp>
        <p:nvSpPr>
          <p:cNvPr id="30" name="card-382"/>
          <p:cNvSpPr/>
          <p:nvPr/>
        </p:nvSpPr>
        <p:spPr>
          <a:xfrm>
            <a:off x="5504688" y="2788920"/>
            <a:ext cx="1554480" cy="365760"/>
          </a:xfrm>
          <a:prstGeom prst="roundRect">
            <a:avLst>
              <a:gd name="adj" fmla="val 20000"/>
            </a:avLst>
          </a:prstGeom>
          <a:solidFill>
            <a:schemeClr val="bg2"/>
          </a:solidFill>
          <a:ln w="12700">
            <a:solidFill>
              <a:schemeClr val="bg2"/>
            </a:solidFill>
            <a:prstDash val="solid"/>
          </a:ln>
        </p:spPr>
      </p:sp>
      <p:sp>
        <p:nvSpPr>
          <p:cNvPr id="31" name="text-383"/>
          <p:cNvSpPr txBox="1"/>
          <p:nvPr/>
        </p:nvSpPr>
        <p:spPr>
          <a:xfrm>
            <a:off x="5550408" y="2788920"/>
            <a:ext cx="1481328" cy="365760"/>
          </a:xfrm>
          <a:prstGeom prst="rect">
            <a:avLst/>
          </a:prstGeom>
          <a:noFill/>
          <a:ln/>
        </p:spPr>
        <p:txBody>
          <a:bodyPr wrap="square" lIns="0" tIns="0" rIns="0" bIns="0" rtlCol="0" anchor="ctr"/>
          <a:lstStyle/>
          <a:p>
            <a:pPr algn="ctr" indent="0" marL="0">
              <a:buNone/>
            </a:pPr>
            <a:r>
              <a:rPr lang="en-US" sz="1100" dirty="0">
                <a:solidFill>
                  <a:schemeClr val="tx2"/>
                </a:solidFill>
              </a:rPr>
              <a:t>cog_circular_std</a:t>
            </a:r>
            <a:endParaRPr lang="en-US" sz="1100" dirty="0"/>
          </a:p>
        </p:txBody>
      </p:sp>
      <p:sp>
        <p:nvSpPr>
          <p:cNvPr id="32" name="card-384"/>
          <p:cNvSpPr/>
          <p:nvPr/>
        </p:nvSpPr>
        <p:spPr>
          <a:xfrm>
            <a:off x="7187184" y="2788920"/>
            <a:ext cx="1554480" cy="365760"/>
          </a:xfrm>
          <a:prstGeom prst="roundRect">
            <a:avLst>
              <a:gd name="adj" fmla="val 20000"/>
            </a:avLst>
          </a:prstGeom>
          <a:solidFill>
            <a:schemeClr val="bg2"/>
          </a:solidFill>
          <a:ln w="12700">
            <a:solidFill>
              <a:schemeClr val="bg2"/>
            </a:solidFill>
            <a:prstDash val="solid"/>
          </a:ln>
        </p:spPr>
      </p:sp>
      <p:sp>
        <p:nvSpPr>
          <p:cNvPr id="33" name="text-385"/>
          <p:cNvSpPr txBox="1"/>
          <p:nvPr/>
        </p:nvSpPr>
        <p:spPr>
          <a:xfrm>
            <a:off x="7232904" y="2788920"/>
            <a:ext cx="1481328" cy="365760"/>
          </a:xfrm>
          <a:prstGeom prst="rect">
            <a:avLst/>
          </a:prstGeom>
          <a:noFill/>
          <a:ln/>
        </p:spPr>
        <p:txBody>
          <a:bodyPr wrap="square" lIns="0" tIns="0" rIns="0" bIns="0" rtlCol="0" anchor="ctr"/>
          <a:lstStyle/>
          <a:p>
            <a:pPr algn="ctr" indent="0" marL="0">
              <a:buNone/>
            </a:pPr>
            <a:r>
              <a:rPr lang="en-US" sz="1100" dirty="0">
                <a:solidFill>
                  <a:schemeClr val="tx2"/>
                </a:solidFill>
              </a:rPr>
              <a:t>heading_cog_diff_mean</a:t>
            </a:r>
            <a:endParaRPr lang="en-US" sz="1100" dirty="0"/>
          </a:p>
        </p:txBody>
      </p:sp>
      <p:sp>
        <p:nvSpPr>
          <p:cNvPr id="34" name="card-386"/>
          <p:cNvSpPr/>
          <p:nvPr/>
        </p:nvSpPr>
        <p:spPr>
          <a:xfrm>
            <a:off x="457200" y="3246120"/>
            <a:ext cx="1554480" cy="365760"/>
          </a:xfrm>
          <a:prstGeom prst="roundRect">
            <a:avLst>
              <a:gd name="adj" fmla="val 20000"/>
            </a:avLst>
          </a:prstGeom>
          <a:solidFill>
            <a:schemeClr val="bg2"/>
          </a:solidFill>
          <a:ln w="12700">
            <a:solidFill>
              <a:schemeClr val="bg2"/>
            </a:solidFill>
            <a:prstDash val="solid"/>
          </a:ln>
        </p:spPr>
      </p:sp>
      <p:sp>
        <p:nvSpPr>
          <p:cNvPr id="35" name="text-387"/>
          <p:cNvSpPr txBox="1"/>
          <p:nvPr/>
        </p:nvSpPr>
        <p:spPr>
          <a:xfrm>
            <a:off x="502920" y="3246120"/>
            <a:ext cx="1481328" cy="365760"/>
          </a:xfrm>
          <a:prstGeom prst="rect">
            <a:avLst/>
          </a:prstGeom>
          <a:noFill/>
          <a:ln/>
        </p:spPr>
        <p:txBody>
          <a:bodyPr wrap="square" lIns="0" tIns="0" rIns="0" bIns="0" rtlCol="0" anchor="ctr"/>
          <a:lstStyle/>
          <a:p>
            <a:pPr algn="ctr" indent="0" marL="0">
              <a:buNone/>
            </a:pPr>
            <a:r>
              <a:rPr lang="en-US" sz="1100" dirty="0">
                <a:solidFill>
                  <a:schemeClr val="tx2"/>
                </a:solidFill>
              </a:rPr>
              <a:t>path_tortuosity</a:t>
            </a:r>
            <a:endParaRPr lang="en-US" sz="1100" dirty="0"/>
          </a:p>
        </p:txBody>
      </p:sp>
      <p:sp>
        <p:nvSpPr>
          <p:cNvPr id="36" name="card-388"/>
          <p:cNvSpPr/>
          <p:nvPr/>
        </p:nvSpPr>
        <p:spPr>
          <a:xfrm>
            <a:off x="2139696" y="3246120"/>
            <a:ext cx="1554480" cy="365760"/>
          </a:xfrm>
          <a:prstGeom prst="roundRect">
            <a:avLst>
              <a:gd name="adj" fmla="val 20000"/>
            </a:avLst>
          </a:prstGeom>
          <a:solidFill>
            <a:schemeClr val="bg2"/>
          </a:solidFill>
          <a:ln w="12700">
            <a:solidFill>
              <a:schemeClr val="bg2"/>
            </a:solidFill>
            <a:prstDash val="solid"/>
          </a:ln>
        </p:spPr>
      </p:sp>
      <p:sp>
        <p:nvSpPr>
          <p:cNvPr id="37" name="text-389"/>
          <p:cNvSpPr txBox="1"/>
          <p:nvPr/>
        </p:nvSpPr>
        <p:spPr>
          <a:xfrm>
            <a:off x="2185416" y="3246120"/>
            <a:ext cx="1481328" cy="365760"/>
          </a:xfrm>
          <a:prstGeom prst="rect">
            <a:avLst/>
          </a:prstGeom>
          <a:noFill/>
          <a:ln/>
        </p:spPr>
        <p:txBody>
          <a:bodyPr wrap="square" lIns="0" tIns="0" rIns="0" bIns="0" rtlCol="0" anchor="ctr"/>
          <a:lstStyle/>
          <a:p>
            <a:pPr algn="ctr" indent="0" marL="0">
              <a:buNone/>
            </a:pPr>
            <a:r>
              <a:rPr lang="en-US" sz="1100" dirty="0">
                <a:solidFill>
                  <a:schemeClr val="tx2"/>
                </a:solidFill>
              </a:rPr>
              <a:t>total_path_km</a:t>
            </a:r>
            <a:endParaRPr lang="en-US" sz="1100" dirty="0"/>
          </a:p>
        </p:txBody>
      </p:sp>
      <p:sp>
        <p:nvSpPr>
          <p:cNvPr id="38" name="card-390"/>
          <p:cNvSpPr/>
          <p:nvPr/>
        </p:nvSpPr>
        <p:spPr>
          <a:xfrm>
            <a:off x="3822192" y="3246120"/>
            <a:ext cx="1554480" cy="365760"/>
          </a:xfrm>
          <a:prstGeom prst="roundRect">
            <a:avLst>
              <a:gd name="adj" fmla="val 20000"/>
            </a:avLst>
          </a:prstGeom>
          <a:solidFill>
            <a:schemeClr val="bg2"/>
          </a:solidFill>
          <a:ln w="12700">
            <a:solidFill>
              <a:schemeClr val="bg2"/>
            </a:solidFill>
            <a:prstDash val="solid"/>
          </a:ln>
        </p:spPr>
      </p:sp>
      <p:sp>
        <p:nvSpPr>
          <p:cNvPr id="39" name="text-391"/>
          <p:cNvSpPr txBox="1"/>
          <p:nvPr/>
        </p:nvSpPr>
        <p:spPr>
          <a:xfrm>
            <a:off x="3867912" y="3246120"/>
            <a:ext cx="1481328" cy="365760"/>
          </a:xfrm>
          <a:prstGeom prst="rect">
            <a:avLst/>
          </a:prstGeom>
          <a:noFill/>
          <a:ln/>
        </p:spPr>
        <p:txBody>
          <a:bodyPr wrap="square" lIns="0" tIns="0" rIns="0" bIns="0" rtlCol="0" anchor="ctr"/>
          <a:lstStyle/>
          <a:p>
            <a:pPr algn="ctr" indent="0" marL="0">
              <a:buNone/>
            </a:pPr>
            <a:r>
              <a:rPr lang="en-US" sz="1100" dirty="0">
                <a:solidFill>
                  <a:schemeClr val="tx2"/>
                </a:solidFill>
              </a:rPr>
              <a:t>max_gap_s</a:t>
            </a:r>
            <a:endParaRPr lang="en-US" sz="1100" dirty="0"/>
          </a:p>
        </p:txBody>
      </p:sp>
      <p:sp>
        <p:nvSpPr>
          <p:cNvPr id="40" name="card-392"/>
          <p:cNvSpPr/>
          <p:nvPr/>
        </p:nvSpPr>
        <p:spPr>
          <a:xfrm>
            <a:off x="5504688" y="3246120"/>
            <a:ext cx="1554480" cy="365760"/>
          </a:xfrm>
          <a:prstGeom prst="roundRect">
            <a:avLst>
              <a:gd name="adj" fmla="val 20000"/>
            </a:avLst>
          </a:prstGeom>
          <a:solidFill>
            <a:schemeClr val="bg2"/>
          </a:solidFill>
          <a:ln w="12700">
            <a:solidFill>
              <a:schemeClr val="bg2"/>
            </a:solidFill>
            <a:prstDash val="solid"/>
          </a:ln>
        </p:spPr>
      </p:sp>
      <p:sp>
        <p:nvSpPr>
          <p:cNvPr id="41" name="text-393"/>
          <p:cNvSpPr txBox="1"/>
          <p:nvPr/>
        </p:nvSpPr>
        <p:spPr>
          <a:xfrm>
            <a:off x="5550408" y="3246120"/>
            <a:ext cx="1481328" cy="365760"/>
          </a:xfrm>
          <a:prstGeom prst="rect">
            <a:avLst/>
          </a:prstGeom>
          <a:noFill/>
          <a:ln/>
        </p:spPr>
        <p:txBody>
          <a:bodyPr wrap="square" lIns="0" tIns="0" rIns="0" bIns="0" rtlCol="0" anchor="ctr"/>
          <a:lstStyle/>
          <a:p>
            <a:pPr algn="ctr" indent="0" marL="0">
              <a:buNone/>
            </a:pPr>
            <a:r>
              <a:rPr lang="en-US" sz="1100" dirty="0">
                <a:solidFill>
                  <a:schemeClr val="tx2"/>
                </a:solidFill>
              </a:rPr>
              <a:t>gap_count_gt_5m</a:t>
            </a:r>
            <a:endParaRPr lang="en-US" sz="1100" dirty="0"/>
          </a:p>
        </p:txBody>
      </p:sp>
      <p:sp>
        <p:nvSpPr>
          <p:cNvPr id="42" name="card-394"/>
          <p:cNvSpPr/>
          <p:nvPr/>
        </p:nvSpPr>
        <p:spPr>
          <a:xfrm>
            <a:off x="7187184" y="3246120"/>
            <a:ext cx="1554480" cy="365760"/>
          </a:xfrm>
          <a:prstGeom prst="roundRect">
            <a:avLst>
              <a:gd name="adj" fmla="val 20000"/>
            </a:avLst>
          </a:prstGeom>
          <a:solidFill>
            <a:schemeClr val="bg2"/>
          </a:solidFill>
          <a:ln w="12700">
            <a:solidFill>
              <a:schemeClr val="bg2"/>
            </a:solidFill>
            <a:prstDash val="solid"/>
          </a:ln>
        </p:spPr>
      </p:sp>
      <p:sp>
        <p:nvSpPr>
          <p:cNvPr id="43" name="text-395"/>
          <p:cNvSpPr txBox="1"/>
          <p:nvPr/>
        </p:nvSpPr>
        <p:spPr>
          <a:xfrm>
            <a:off x="7232904" y="3246120"/>
            <a:ext cx="1481328" cy="365760"/>
          </a:xfrm>
          <a:prstGeom prst="rect">
            <a:avLst/>
          </a:prstGeom>
          <a:noFill/>
          <a:ln/>
        </p:spPr>
        <p:txBody>
          <a:bodyPr wrap="square" lIns="0" tIns="0" rIns="0" bIns="0" rtlCol="0" anchor="ctr"/>
          <a:lstStyle/>
          <a:p>
            <a:pPr algn="ctr" indent="0" marL="0">
              <a:buNone/>
            </a:pPr>
            <a:r>
              <a:rPr lang="en-US" sz="1100" dirty="0">
                <a:solidFill>
                  <a:schemeClr val="tx2"/>
                </a:solidFill>
              </a:rPr>
              <a:t>ping_count</a:t>
            </a:r>
            <a:endParaRPr lang="en-US" sz="1100" dirty="0"/>
          </a:p>
        </p:txBody>
      </p:sp>
      <p:sp>
        <p:nvSpPr>
          <p:cNvPr id="44" name="text-396"/>
          <p:cNvSpPr txBox="1"/>
          <p:nvPr/>
        </p:nvSpPr>
        <p:spPr>
          <a:xfrm>
            <a:off x="457200" y="3794760"/>
            <a:ext cx="8229600" cy="731520"/>
          </a:xfrm>
          <a:prstGeom prst="rect">
            <a:avLst/>
          </a:prstGeom>
          <a:noFill/>
          <a:ln/>
        </p:spPr>
        <p:txBody>
          <a:bodyPr wrap="square" lIns="0" tIns="0" rIns="0" bIns="0" rtlCol="0" anchor="t"/>
          <a:lstStyle/>
          <a:p>
            <a:pPr indent="0" marL="0">
              <a:buNone/>
            </a:pPr>
            <a:r>
              <a:rPr lang="en-US" sz="1200" b="1" dirty="0">
                <a:solidFill>
                  <a:schemeClr val="tx2"/>
                </a:solidFill>
              </a:rPr>
              <a:t>Why unsupervised?  </a:t>
            </a:r>
            <a:pPr indent="0" marL="0">
              <a:buNone/>
            </a:pPr>
            <a:r>
              <a:rPr lang="en-US" sz="1200" dirty="0">
                <a:solidFill>
                  <a:schemeClr val="tx1"/>
                </a:solidFill>
              </a:rPr>
              <a:t>Real AIS has no labels; a classifier trained on our synthetic injections would only learn the injection function. Circular statistics stop 359° vs 1° from looking like a 180° turn. A scikit-learn Isolation Forest engine is kept as a single-node fallback.</a:t>
            </a:r>
            <a:endParaRPr lang="en-US" sz="1200" dirty="0"/>
          </a:p>
        </p:txBody>
      </p:sp>
      <p:sp>
        <p:nvSpPr>
          <p:cNvPr id="25" name="Slide Number Placeholder 0"/>
          <p:cNvSpPr>
            <a:spLocks noGrp="1"/>
          </p:cNvSpPr>
          <p:nvPr>
            <p:ph type="sldNum" sz="quarter" idx="4294967295"/>
          </p:nvPr>
        </p:nvSpPr>
        <p:spPr>
          <a:xfrm>
            <a:off x="8229600" y="479145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800" b="1" dirty="0">
                <a:solidFill>
                  <a:schemeClr val="tx2"/>
                </a:solidFill>
              </a:rPr>
              <a:t>Key Features of the Tactical Console</a:t>
            </a:r>
            <a:endParaRPr lang="en-US" sz="2800" dirty="0"/>
          </a:p>
        </p:txBody>
      </p:sp>
      <p:sp>
        <p:nvSpPr>
          <p:cNvPr id="4" name="circle-397"/>
          <p:cNvSpPr/>
          <p:nvPr/>
        </p:nvSpPr>
        <p:spPr>
          <a:xfrm>
            <a:off x="457200" y="1051560"/>
            <a:ext cx="457200" cy="457200"/>
          </a:xfrm>
          <a:prstGeom prst="ellipse">
            <a:avLst/>
          </a:prstGeom>
          <a:solidFill>
            <a:schemeClr val="accent1"/>
          </a:solidFill>
          <a:ln w="12700">
            <a:solidFill>
              <a:schemeClr val="accent1"/>
            </a:solidFill>
            <a:prstDash val="solid"/>
          </a:ln>
        </p:spPr>
      </p:sp>
      <p:pic>
        <p:nvPicPr>
          <p:cNvPr id="5" name="icon-398" descr="preencoded.png">    </p:cNvPr>
          <p:cNvPicPr>
            <a:picLocks noChangeAspect="1"/>
          </p:cNvPicPr>
          <p:nvPr/>
        </p:nvPicPr>
        <p:blipFill>
          <a:blip r:embed="rId1"/>
          <a:stretch>
            <a:fillRect/>
          </a:stretch>
        </p:blipFill>
        <p:spPr>
          <a:xfrm>
            <a:off x="576072" y="1170432"/>
            <a:ext cx="219456" cy="219456"/>
          </a:xfrm>
          <a:prstGeom prst="rect">
            <a:avLst/>
          </a:prstGeom>
        </p:spPr>
      </p:pic>
      <p:sp>
        <p:nvSpPr>
          <p:cNvPr id="6" name="text-399"/>
          <p:cNvSpPr txBox="1"/>
          <p:nvPr/>
        </p:nvSpPr>
        <p:spPr>
          <a:xfrm>
            <a:off x="1078992" y="1005840"/>
            <a:ext cx="3383280" cy="274320"/>
          </a:xfrm>
          <a:prstGeom prst="rect">
            <a:avLst/>
          </a:prstGeom>
          <a:noFill/>
          <a:ln/>
        </p:spPr>
        <p:txBody>
          <a:bodyPr wrap="square" lIns="0" tIns="0" rIns="0" bIns="0" rtlCol="0" anchor="t"/>
          <a:lstStyle/>
          <a:p>
            <a:pPr indent="0" marL="0">
              <a:buNone/>
            </a:pPr>
            <a:r>
              <a:rPr lang="en-US" sz="1400" b="1" dirty="0">
                <a:solidFill>
                  <a:schemeClr val="tx2"/>
                </a:solidFill>
              </a:rPr>
              <a:t>Live GPU map</a:t>
            </a:r>
            <a:endParaRPr lang="en-US" sz="1400" dirty="0"/>
          </a:p>
        </p:txBody>
      </p:sp>
      <p:sp>
        <p:nvSpPr>
          <p:cNvPr id="7" name="text-400"/>
          <p:cNvSpPr txBox="1"/>
          <p:nvPr/>
        </p:nvSpPr>
        <p:spPr>
          <a:xfrm>
            <a:off x="1078992" y="1280160"/>
            <a:ext cx="3429000" cy="502920"/>
          </a:xfrm>
          <a:prstGeom prst="rect">
            <a:avLst/>
          </a:prstGeom>
          <a:noFill/>
          <a:ln/>
        </p:spPr>
        <p:txBody>
          <a:bodyPr wrap="square" lIns="0" tIns="0" rIns="0" bIns="0" rtlCol="0" anchor="t"/>
          <a:lstStyle/>
          <a:p>
            <a:pPr indent="0" marL="0">
              <a:buNone/>
            </a:pPr>
            <a:r>
              <a:rPr lang="en-US" sz="1200" dirty="0">
                <a:solidFill>
                  <a:schemeClr val="accent5"/>
                </a:solidFill>
              </a:rPr>
              <a:t>Deck.gl WebGL renders 10,000+ vessels at 60 FPS with geofence overlays</a:t>
            </a:r>
            <a:endParaRPr lang="en-US" sz="1200" dirty="0"/>
          </a:p>
        </p:txBody>
      </p:sp>
      <p:sp>
        <p:nvSpPr>
          <p:cNvPr id="8" name="circle-401"/>
          <p:cNvSpPr/>
          <p:nvPr/>
        </p:nvSpPr>
        <p:spPr>
          <a:xfrm>
            <a:off x="4663440" y="1051560"/>
            <a:ext cx="457200" cy="457200"/>
          </a:xfrm>
          <a:prstGeom prst="ellipse">
            <a:avLst/>
          </a:prstGeom>
          <a:solidFill>
            <a:schemeClr val="accent1"/>
          </a:solidFill>
          <a:ln w="12700">
            <a:solidFill>
              <a:schemeClr val="accent1"/>
            </a:solidFill>
            <a:prstDash val="solid"/>
          </a:ln>
        </p:spPr>
      </p:sp>
      <p:pic>
        <p:nvPicPr>
          <p:cNvPr id="9" name="icon-402" descr="preencoded.png">    </p:cNvPr>
          <p:cNvPicPr>
            <a:picLocks noChangeAspect="1"/>
          </p:cNvPicPr>
          <p:nvPr/>
        </p:nvPicPr>
        <p:blipFill>
          <a:blip r:embed="rId2"/>
          <a:stretch>
            <a:fillRect/>
          </a:stretch>
        </p:blipFill>
        <p:spPr>
          <a:xfrm>
            <a:off x="4782312" y="1170432"/>
            <a:ext cx="219456" cy="219456"/>
          </a:xfrm>
          <a:prstGeom prst="rect">
            <a:avLst/>
          </a:prstGeom>
        </p:spPr>
      </p:pic>
      <p:sp>
        <p:nvSpPr>
          <p:cNvPr id="10" name="text-403"/>
          <p:cNvSpPr txBox="1"/>
          <p:nvPr/>
        </p:nvSpPr>
        <p:spPr>
          <a:xfrm>
            <a:off x="5285232" y="1005840"/>
            <a:ext cx="3383280" cy="274320"/>
          </a:xfrm>
          <a:prstGeom prst="rect">
            <a:avLst/>
          </a:prstGeom>
          <a:noFill/>
          <a:ln/>
        </p:spPr>
        <p:txBody>
          <a:bodyPr wrap="square" lIns="0" tIns="0" rIns="0" bIns="0" rtlCol="0" anchor="t"/>
          <a:lstStyle/>
          <a:p>
            <a:pPr indent="0" marL="0">
              <a:buNone/>
            </a:pPr>
            <a:r>
              <a:rPr lang="en-US" sz="1400" b="1" dirty="0">
                <a:solidFill>
                  <a:schemeClr val="tx2"/>
                </a:solidFill>
              </a:rPr>
              <a:t>Ranked alert feed</a:t>
            </a:r>
            <a:endParaRPr lang="en-US" sz="1400" dirty="0"/>
          </a:p>
        </p:txBody>
      </p:sp>
      <p:sp>
        <p:nvSpPr>
          <p:cNvPr id="11" name="text-404"/>
          <p:cNvSpPr txBox="1"/>
          <p:nvPr/>
        </p:nvSpPr>
        <p:spPr>
          <a:xfrm>
            <a:off x="5285232" y="1280160"/>
            <a:ext cx="3429000" cy="502920"/>
          </a:xfrm>
          <a:prstGeom prst="rect">
            <a:avLst/>
          </a:prstGeom>
          <a:noFill/>
          <a:ln/>
        </p:spPr>
        <p:txBody>
          <a:bodyPr wrap="square" lIns="0" tIns="0" rIns="0" bIns="0" rtlCol="0" anchor="t"/>
          <a:lstStyle/>
          <a:p>
            <a:pPr indent="0" marL="0">
              <a:buNone/>
            </a:pPr>
            <a:r>
              <a:rPr lang="en-US" sz="1200" dirty="0">
                <a:solidFill>
                  <a:schemeClr val="accent5"/>
                </a:solidFill>
              </a:rPr>
              <a:t>Sorted by anomaly score with full evidence for each alert</a:t>
            </a:r>
            <a:endParaRPr lang="en-US" sz="1200" dirty="0"/>
          </a:p>
        </p:txBody>
      </p:sp>
      <p:sp>
        <p:nvSpPr>
          <p:cNvPr id="12" name="circle-405"/>
          <p:cNvSpPr/>
          <p:nvPr/>
        </p:nvSpPr>
        <p:spPr>
          <a:xfrm>
            <a:off x="457200" y="1947672"/>
            <a:ext cx="457200" cy="457200"/>
          </a:xfrm>
          <a:prstGeom prst="ellipse">
            <a:avLst/>
          </a:prstGeom>
          <a:solidFill>
            <a:schemeClr val="accent1"/>
          </a:solidFill>
          <a:ln w="12700">
            <a:solidFill>
              <a:schemeClr val="accent1"/>
            </a:solidFill>
            <a:prstDash val="solid"/>
          </a:ln>
        </p:spPr>
      </p:sp>
      <p:pic>
        <p:nvPicPr>
          <p:cNvPr id="13" name="icon-406" descr="preencoded.png">    </p:cNvPr>
          <p:cNvPicPr>
            <a:picLocks noChangeAspect="1"/>
          </p:cNvPicPr>
          <p:nvPr/>
        </p:nvPicPr>
        <p:blipFill>
          <a:blip r:embed="rId3"/>
          <a:stretch>
            <a:fillRect/>
          </a:stretch>
        </p:blipFill>
        <p:spPr>
          <a:xfrm>
            <a:off x="576072" y="2066544"/>
            <a:ext cx="219456" cy="219456"/>
          </a:xfrm>
          <a:prstGeom prst="rect">
            <a:avLst/>
          </a:prstGeom>
        </p:spPr>
      </p:pic>
      <p:sp>
        <p:nvSpPr>
          <p:cNvPr id="14" name="text-407"/>
          <p:cNvSpPr txBox="1"/>
          <p:nvPr/>
        </p:nvSpPr>
        <p:spPr>
          <a:xfrm>
            <a:off x="1078992" y="1901952"/>
            <a:ext cx="3383280" cy="274320"/>
          </a:xfrm>
          <a:prstGeom prst="rect">
            <a:avLst/>
          </a:prstGeom>
          <a:noFill/>
          <a:ln/>
        </p:spPr>
        <p:txBody>
          <a:bodyPr wrap="square" lIns="0" tIns="0" rIns="0" bIns="0" rtlCol="0" anchor="t"/>
          <a:lstStyle/>
          <a:p>
            <a:pPr indent="0" marL="0">
              <a:buNone/>
            </a:pPr>
            <a:r>
              <a:rPr lang="en-US" sz="1400" b="1" dirty="0">
                <a:solidFill>
                  <a:schemeClr val="tx2"/>
                </a:solidFill>
              </a:rPr>
              <a:t>Vessel inspector</a:t>
            </a:r>
            <a:endParaRPr lang="en-US" sz="1400" dirty="0"/>
          </a:p>
        </p:txBody>
      </p:sp>
      <p:sp>
        <p:nvSpPr>
          <p:cNvPr id="15" name="text-408"/>
          <p:cNvSpPr txBox="1"/>
          <p:nvPr/>
        </p:nvSpPr>
        <p:spPr>
          <a:xfrm>
            <a:off x="1078992" y="2176272"/>
            <a:ext cx="3429000" cy="502920"/>
          </a:xfrm>
          <a:prstGeom prst="rect">
            <a:avLst/>
          </a:prstGeom>
          <a:noFill/>
          <a:ln/>
        </p:spPr>
        <p:txBody>
          <a:bodyPr wrap="square" lIns="0" tIns="0" rIns="0" bIns="0" rtlCol="0" anchor="t"/>
          <a:lstStyle/>
          <a:p>
            <a:pPr indent="0" marL="0">
              <a:buNone/>
            </a:pPr>
            <a:r>
              <a:rPr lang="en-US" sz="1200" dirty="0">
                <a:solidFill>
                  <a:schemeClr val="accent5"/>
                </a:solidFill>
              </a:rPr>
              <a:t>Recent track, voyage timeline, nav status, flag and photos</a:t>
            </a:r>
            <a:endParaRPr lang="en-US" sz="1200" dirty="0"/>
          </a:p>
        </p:txBody>
      </p:sp>
      <p:sp>
        <p:nvSpPr>
          <p:cNvPr id="16" name="circle-409"/>
          <p:cNvSpPr/>
          <p:nvPr/>
        </p:nvSpPr>
        <p:spPr>
          <a:xfrm>
            <a:off x="4663440" y="1947672"/>
            <a:ext cx="457200" cy="457200"/>
          </a:xfrm>
          <a:prstGeom prst="ellipse">
            <a:avLst/>
          </a:prstGeom>
          <a:solidFill>
            <a:schemeClr val="accent1"/>
          </a:solidFill>
          <a:ln w="12700">
            <a:solidFill>
              <a:schemeClr val="accent1"/>
            </a:solidFill>
            <a:prstDash val="solid"/>
          </a:ln>
        </p:spPr>
      </p:sp>
      <p:pic>
        <p:nvPicPr>
          <p:cNvPr id="17" name="icon-410" descr="preencoded.png">    </p:cNvPr>
          <p:cNvPicPr>
            <a:picLocks noChangeAspect="1"/>
          </p:cNvPicPr>
          <p:nvPr/>
        </p:nvPicPr>
        <p:blipFill>
          <a:blip r:embed="rId4"/>
          <a:stretch>
            <a:fillRect/>
          </a:stretch>
        </p:blipFill>
        <p:spPr>
          <a:xfrm>
            <a:off x="4782312" y="2066544"/>
            <a:ext cx="219456" cy="219456"/>
          </a:xfrm>
          <a:prstGeom prst="rect">
            <a:avLst/>
          </a:prstGeom>
        </p:spPr>
      </p:pic>
      <p:sp>
        <p:nvSpPr>
          <p:cNvPr id="18" name="text-411"/>
          <p:cNvSpPr txBox="1"/>
          <p:nvPr/>
        </p:nvSpPr>
        <p:spPr>
          <a:xfrm>
            <a:off x="5285232" y="1901952"/>
            <a:ext cx="3383280" cy="274320"/>
          </a:xfrm>
          <a:prstGeom prst="rect">
            <a:avLst/>
          </a:prstGeom>
          <a:noFill/>
          <a:ln/>
        </p:spPr>
        <p:txBody>
          <a:bodyPr wrap="square" lIns="0" tIns="0" rIns="0" bIns="0" rtlCol="0" anchor="t"/>
          <a:lstStyle/>
          <a:p>
            <a:pPr indent="0" marL="0">
              <a:buNone/>
            </a:pPr>
            <a:r>
              <a:rPr lang="en-US" sz="1400" b="1" dirty="0">
                <a:solidFill>
                  <a:schemeClr val="tx2"/>
                </a:solidFill>
              </a:rPr>
              <a:t>Analytics dashboard</a:t>
            </a:r>
            <a:endParaRPr lang="en-US" sz="1400" dirty="0"/>
          </a:p>
        </p:txBody>
      </p:sp>
      <p:sp>
        <p:nvSpPr>
          <p:cNvPr id="19" name="text-412"/>
          <p:cNvSpPr txBox="1"/>
          <p:nvPr/>
        </p:nvSpPr>
        <p:spPr>
          <a:xfrm>
            <a:off x="5285232" y="2176272"/>
            <a:ext cx="3429000" cy="502920"/>
          </a:xfrm>
          <a:prstGeom prst="rect">
            <a:avLst/>
          </a:prstGeom>
          <a:noFill/>
          <a:ln/>
        </p:spPr>
        <p:txBody>
          <a:bodyPr wrap="square" lIns="0" tIns="0" rIns="0" bIns="0" rtlCol="0" anchor="t"/>
          <a:lstStyle/>
          <a:p>
            <a:pPr indent="0" marL="0">
              <a:buNone/>
            </a:pPr>
            <a:r>
              <a:rPr lang="en-US" sz="1200" dirty="0">
                <a:solidFill>
                  <a:schemeClr val="accent5"/>
                </a:solidFill>
              </a:rPr>
              <a:t>ECharts views of threat vectors, fleet profile and gap vs p99</a:t>
            </a:r>
            <a:endParaRPr lang="en-US" sz="1200" dirty="0"/>
          </a:p>
        </p:txBody>
      </p:sp>
      <p:sp>
        <p:nvSpPr>
          <p:cNvPr id="20" name="circle-413"/>
          <p:cNvSpPr/>
          <p:nvPr/>
        </p:nvSpPr>
        <p:spPr>
          <a:xfrm>
            <a:off x="457200" y="2843784"/>
            <a:ext cx="457200" cy="457200"/>
          </a:xfrm>
          <a:prstGeom prst="ellipse">
            <a:avLst/>
          </a:prstGeom>
          <a:solidFill>
            <a:schemeClr val="accent3"/>
          </a:solidFill>
          <a:ln w="12700">
            <a:solidFill>
              <a:schemeClr val="accent3"/>
            </a:solidFill>
            <a:prstDash val="solid"/>
          </a:ln>
        </p:spPr>
      </p:sp>
      <p:pic>
        <p:nvPicPr>
          <p:cNvPr id="21" name="icon-414" descr="preencoded.png">    </p:cNvPr>
          <p:cNvPicPr>
            <a:picLocks noChangeAspect="1"/>
          </p:cNvPicPr>
          <p:nvPr/>
        </p:nvPicPr>
        <p:blipFill>
          <a:blip r:embed="rId5"/>
          <a:stretch>
            <a:fillRect/>
          </a:stretch>
        </p:blipFill>
        <p:spPr>
          <a:xfrm>
            <a:off x="576072" y="2962656"/>
            <a:ext cx="219456" cy="219456"/>
          </a:xfrm>
          <a:prstGeom prst="rect">
            <a:avLst/>
          </a:prstGeom>
        </p:spPr>
      </p:pic>
      <p:sp>
        <p:nvSpPr>
          <p:cNvPr id="22" name="text-415"/>
          <p:cNvSpPr txBox="1"/>
          <p:nvPr/>
        </p:nvSpPr>
        <p:spPr>
          <a:xfrm>
            <a:off x="1078992" y="2798064"/>
            <a:ext cx="3383280" cy="274320"/>
          </a:xfrm>
          <a:prstGeom prst="rect">
            <a:avLst/>
          </a:prstGeom>
          <a:noFill/>
          <a:ln/>
        </p:spPr>
        <p:txBody>
          <a:bodyPr wrap="square" lIns="0" tIns="0" rIns="0" bIns="0" rtlCol="0" anchor="t"/>
          <a:lstStyle/>
          <a:p>
            <a:pPr indent="0" marL="0">
              <a:buNone/>
            </a:pPr>
            <a:r>
              <a:rPr lang="en-US" sz="1400" b="1" dirty="0">
                <a:solidFill>
                  <a:schemeClr val="tx2"/>
                </a:solidFill>
              </a:rPr>
              <a:t>Anomaly injector</a:t>
            </a:r>
            <a:endParaRPr lang="en-US" sz="1400" dirty="0"/>
          </a:p>
        </p:txBody>
      </p:sp>
      <p:sp>
        <p:nvSpPr>
          <p:cNvPr id="23" name="text-416"/>
          <p:cNvSpPr txBox="1"/>
          <p:nvPr/>
        </p:nvSpPr>
        <p:spPr>
          <a:xfrm>
            <a:off x="1078992" y="3072384"/>
            <a:ext cx="3429000" cy="502920"/>
          </a:xfrm>
          <a:prstGeom prst="rect">
            <a:avLst/>
          </a:prstGeom>
          <a:noFill/>
          <a:ln/>
        </p:spPr>
        <p:txBody>
          <a:bodyPr wrap="square" lIns="0" tIns="0" rIns="0" bIns="0" rtlCol="0" anchor="t"/>
          <a:lstStyle/>
          <a:p>
            <a:pPr indent="0" marL="0">
              <a:buNone/>
            </a:pPr>
            <a:r>
              <a:rPr lang="en-US" sz="1200" dirty="0">
                <a:solidFill>
                  <a:schemeClr val="accent5"/>
                </a:solidFill>
              </a:rPr>
              <a:t>Inject spoof, collision, loiter, rendezvous, dark or ML scenarios live</a:t>
            </a:r>
            <a:endParaRPr lang="en-US" sz="1200" dirty="0"/>
          </a:p>
        </p:txBody>
      </p:sp>
      <p:sp>
        <p:nvSpPr>
          <p:cNvPr id="24" name="circle-417"/>
          <p:cNvSpPr/>
          <p:nvPr/>
        </p:nvSpPr>
        <p:spPr>
          <a:xfrm>
            <a:off x="4663440" y="2843784"/>
            <a:ext cx="457200" cy="457200"/>
          </a:xfrm>
          <a:prstGeom prst="ellipse">
            <a:avLst/>
          </a:prstGeom>
          <a:solidFill>
            <a:schemeClr val="accent1"/>
          </a:solidFill>
          <a:ln w="12700">
            <a:solidFill>
              <a:schemeClr val="accent1"/>
            </a:solidFill>
            <a:prstDash val="solid"/>
          </a:ln>
        </p:spPr>
      </p:sp>
      <p:pic>
        <p:nvPicPr>
          <p:cNvPr id="25" name="icon-418" descr="preencoded.png">    </p:cNvPr>
          <p:cNvPicPr>
            <a:picLocks noChangeAspect="1"/>
          </p:cNvPicPr>
          <p:nvPr/>
        </p:nvPicPr>
        <p:blipFill>
          <a:blip r:embed="rId6"/>
          <a:stretch>
            <a:fillRect/>
          </a:stretch>
        </p:blipFill>
        <p:spPr>
          <a:xfrm>
            <a:off x="4782312" y="2962656"/>
            <a:ext cx="219456" cy="219456"/>
          </a:xfrm>
          <a:prstGeom prst="rect">
            <a:avLst/>
          </a:prstGeom>
        </p:spPr>
      </p:pic>
      <p:sp>
        <p:nvSpPr>
          <p:cNvPr id="26" name="text-419"/>
          <p:cNvSpPr txBox="1"/>
          <p:nvPr/>
        </p:nvSpPr>
        <p:spPr>
          <a:xfrm>
            <a:off x="5285232" y="2798064"/>
            <a:ext cx="3383280" cy="274320"/>
          </a:xfrm>
          <a:prstGeom prst="rect">
            <a:avLst/>
          </a:prstGeom>
          <a:noFill/>
          <a:ln/>
        </p:spPr>
        <p:txBody>
          <a:bodyPr wrap="square" lIns="0" tIns="0" rIns="0" bIns="0" rtlCol="0" anchor="t"/>
          <a:lstStyle/>
          <a:p>
            <a:pPr indent="0" marL="0">
              <a:buNone/>
            </a:pPr>
            <a:r>
              <a:rPr lang="en-US" sz="1400" b="1" dirty="0">
                <a:solidFill>
                  <a:schemeClr val="tx2"/>
                </a:solidFill>
              </a:rPr>
              <a:t>Pipeline telemetry</a:t>
            </a:r>
            <a:endParaRPr lang="en-US" sz="1400" dirty="0"/>
          </a:p>
        </p:txBody>
      </p:sp>
      <p:sp>
        <p:nvSpPr>
          <p:cNvPr id="27" name="text-420"/>
          <p:cNvSpPr txBox="1"/>
          <p:nvPr/>
        </p:nvSpPr>
        <p:spPr>
          <a:xfrm>
            <a:off x="5285232" y="3072384"/>
            <a:ext cx="3429000" cy="502920"/>
          </a:xfrm>
          <a:prstGeom prst="rect">
            <a:avLst/>
          </a:prstGeom>
          <a:noFill/>
          <a:ln/>
        </p:spPr>
        <p:txBody>
          <a:bodyPr wrap="square" lIns="0" tIns="0" rIns="0" bIns="0" rtlCol="0" anchor="t"/>
          <a:lstStyle/>
          <a:p>
            <a:pPr indent="0" marL="0">
              <a:buNone/>
            </a:pPr>
            <a:r>
              <a:rPr lang="en-US" sz="1200" dirty="0">
                <a:solidFill>
                  <a:schemeClr val="accent5"/>
                </a:solidFill>
              </a:rPr>
              <a:t>Throughput, Kafka consumer lag and DLQ rate in the HUD</a:t>
            </a:r>
            <a:endParaRPr lang="en-US" sz="1200" dirty="0"/>
          </a:p>
        </p:txBody>
      </p:sp>
      <p:sp>
        <p:nvSpPr>
          <p:cNvPr id="28" name="circle-421"/>
          <p:cNvSpPr/>
          <p:nvPr/>
        </p:nvSpPr>
        <p:spPr>
          <a:xfrm>
            <a:off x="457200" y="3739896"/>
            <a:ext cx="457200" cy="457200"/>
          </a:xfrm>
          <a:prstGeom prst="ellipse">
            <a:avLst/>
          </a:prstGeom>
          <a:solidFill>
            <a:schemeClr val="accent1"/>
          </a:solidFill>
          <a:ln w="12700">
            <a:solidFill>
              <a:schemeClr val="accent1"/>
            </a:solidFill>
            <a:prstDash val="solid"/>
          </a:ln>
        </p:spPr>
      </p:sp>
      <p:pic>
        <p:nvPicPr>
          <p:cNvPr id="29" name="icon-422" descr="preencoded.png">    </p:cNvPr>
          <p:cNvPicPr>
            <a:picLocks noChangeAspect="1"/>
          </p:cNvPicPr>
          <p:nvPr/>
        </p:nvPicPr>
        <p:blipFill>
          <a:blip r:embed="rId7"/>
          <a:stretch>
            <a:fillRect/>
          </a:stretch>
        </p:blipFill>
        <p:spPr>
          <a:xfrm>
            <a:off x="576072" y="3858768"/>
            <a:ext cx="219456" cy="219456"/>
          </a:xfrm>
          <a:prstGeom prst="rect">
            <a:avLst/>
          </a:prstGeom>
        </p:spPr>
      </p:pic>
      <p:sp>
        <p:nvSpPr>
          <p:cNvPr id="30" name="text-423"/>
          <p:cNvSpPr txBox="1"/>
          <p:nvPr/>
        </p:nvSpPr>
        <p:spPr>
          <a:xfrm>
            <a:off x="1078992" y="3694176"/>
            <a:ext cx="3383280" cy="274320"/>
          </a:xfrm>
          <a:prstGeom prst="rect">
            <a:avLst/>
          </a:prstGeom>
          <a:noFill/>
          <a:ln/>
        </p:spPr>
        <p:txBody>
          <a:bodyPr wrap="square" lIns="0" tIns="0" rIns="0" bIns="0" rtlCol="0" anchor="t"/>
          <a:lstStyle/>
          <a:p>
            <a:pPr indent="0" marL="0">
              <a:buNone/>
            </a:pPr>
            <a:r>
              <a:rPr lang="en-US" sz="1400" b="1" dirty="0">
                <a:solidFill>
                  <a:schemeClr val="tx2"/>
                </a:solidFill>
              </a:rPr>
              <a:t>Fleet filters &amp; search</a:t>
            </a:r>
            <a:endParaRPr lang="en-US" sz="1400" dirty="0"/>
          </a:p>
        </p:txBody>
      </p:sp>
      <p:sp>
        <p:nvSpPr>
          <p:cNvPr id="31" name="text-424"/>
          <p:cNvSpPr txBox="1"/>
          <p:nvPr/>
        </p:nvSpPr>
        <p:spPr>
          <a:xfrm>
            <a:off x="1078992" y="3968496"/>
            <a:ext cx="3429000" cy="502920"/>
          </a:xfrm>
          <a:prstGeom prst="rect">
            <a:avLst/>
          </a:prstGeom>
          <a:noFill/>
          <a:ln/>
        </p:spPr>
        <p:txBody>
          <a:bodyPr wrap="square" lIns="0" tIns="0" rIns="0" bIns="0" rtlCol="0" anchor="t"/>
          <a:lstStyle/>
          <a:p>
            <a:pPr indent="0" marL="0">
              <a:buNone/>
            </a:pPr>
            <a:r>
              <a:rPr lang="en-US" sz="1200" dirty="0">
                <a:solidFill>
                  <a:schemeClr val="accent5"/>
                </a:solidFill>
              </a:rPr>
              <a:t>Cargo, tanker, fishing, passenger, dark / alerts</a:t>
            </a:r>
            <a:endParaRPr lang="en-US" sz="1200" dirty="0"/>
          </a:p>
        </p:txBody>
      </p:sp>
      <p:sp>
        <p:nvSpPr>
          <p:cNvPr id="32" name="circle-425"/>
          <p:cNvSpPr/>
          <p:nvPr/>
        </p:nvSpPr>
        <p:spPr>
          <a:xfrm>
            <a:off x="4663440" y="3739896"/>
            <a:ext cx="457200" cy="457200"/>
          </a:xfrm>
          <a:prstGeom prst="ellipse">
            <a:avLst/>
          </a:prstGeom>
          <a:solidFill>
            <a:schemeClr val="accent1"/>
          </a:solidFill>
          <a:ln w="12700">
            <a:solidFill>
              <a:schemeClr val="accent1"/>
            </a:solidFill>
            <a:prstDash val="solid"/>
          </a:ln>
        </p:spPr>
      </p:sp>
      <p:pic>
        <p:nvPicPr>
          <p:cNvPr id="33" name="icon-426" descr="preencoded.png">    </p:cNvPr>
          <p:cNvPicPr>
            <a:picLocks noChangeAspect="1"/>
          </p:cNvPicPr>
          <p:nvPr/>
        </p:nvPicPr>
        <p:blipFill>
          <a:blip r:embed="rId8"/>
          <a:stretch>
            <a:fillRect/>
          </a:stretch>
        </p:blipFill>
        <p:spPr>
          <a:xfrm>
            <a:off x="4782312" y="3858768"/>
            <a:ext cx="219456" cy="219456"/>
          </a:xfrm>
          <a:prstGeom prst="rect">
            <a:avLst/>
          </a:prstGeom>
        </p:spPr>
      </p:pic>
      <p:sp>
        <p:nvSpPr>
          <p:cNvPr id="34" name="text-427"/>
          <p:cNvSpPr txBox="1"/>
          <p:nvPr/>
        </p:nvSpPr>
        <p:spPr>
          <a:xfrm>
            <a:off x="5285232" y="3694176"/>
            <a:ext cx="3383280" cy="274320"/>
          </a:xfrm>
          <a:prstGeom prst="rect">
            <a:avLst/>
          </a:prstGeom>
          <a:noFill/>
          <a:ln/>
        </p:spPr>
        <p:txBody>
          <a:bodyPr wrap="square" lIns="0" tIns="0" rIns="0" bIns="0" rtlCol="0" anchor="t"/>
          <a:lstStyle/>
          <a:p>
            <a:pPr indent="0" marL="0">
              <a:buNone/>
            </a:pPr>
            <a:r>
              <a:rPr lang="en-US" sz="1400" b="1" dirty="0">
                <a:solidFill>
                  <a:schemeClr val="tx2"/>
                </a:solidFill>
              </a:rPr>
              <a:t>Built-in docs</a:t>
            </a:r>
            <a:endParaRPr lang="en-US" sz="1400" dirty="0"/>
          </a:p>
        </p:txBody>
      </p:sp>
      <p:sp>
        <p:nvSpPr>
          <p:cNvPr id="35" name="text-428"/>
          <p:cNvSpPr txBox="1"/>
          <p:nvPr/>
        </p:nvSpPr>
        <p:spPr>
          <a:xfrm>
            <a:off x="5285232" y="3968496"/>
            <a:ext cx="3429000" cy="502920"/>
          </a:xfrm>
          <a:prstGeom prst="rect">
            <a:avLst/>
          </a:prstGeom>
          <a:noFill/>
          <a:ln/>
        </p:spPr>
        <p:txBody>
          <a:bodyPr wrap="square" lIns="0" tIns="0" rIns="0" bIns="0" rtlCol="0" anchor="t"/>
          <a:lstStyle/>
          <a:p>
            <a:pPr indent="0" marL="0">
              <a:buNone/>
            </a:pPr>
            <a:r>
              <a:rPr lang="en-US" sz="1200" dirty="0">
                <a:solidFill>
                  <a:schemeClr val="accent5"/>
                </a:solidFill>
              </a:rPr>
              <a:t>Architecture and methodology pages inside the app</a:t>
            </a:r>
            <a:endParaRPr lang="en-US" sz="1200" dirty="0"/>
          </a:p>
        </p:txBody>
      </p:sp>
      <p:sp>
        <p:nvSpPr>
          <p:cNvPr id="25" name="Slide Number Placeholder 0"/>
          <p:cNvSpPr>
            <a:spLocks noGrp="1"/>
          </p:cNvSpPr>
          <p:nvPr>
            <p:ph type="sldNum" sz="quarter" idx="4294967295"/>
          </p:nvPr>
        </p:nvSpPr>
        <p:spPr>
          <a:xfrm>
            <a:off x="8229600" y="479145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800" b="1" dirty="0">
                <a:solidFill>
                  <a:schemeClr val="tx2"/>
                </a:solidFill>
              </a:rPr>
              <a:t>Demo Walkthrough</a:t>
            </a:r>
            <a:endParaRPr lang="en-US" sz="2800" dirty="0"/>
          </a:p>
        </p:txBody>
      </p:sp>
      <p:sp>
        <p:nvSpPr>
          <p:cNvPr id="4" name="card-429"/>
          <p:cNvSpPr/>
          <p:nvPr/>
        </p:nvSpPr>
        <p:spPr>
          <a:xfrm>
            <a:off x="457200" y="1005840"/>
            <a:ext cx="4023360" cy="1024128"/>
          </a:xfrm>
          <a:prstGeom prst="roundRect">
            <a:avLst>
              <a:gd name="adj" fmla="val 7143"/>
            </a:avLst>
          </a:prstGeom>
          <a:solidFill>
            <a:schemeClr val="bg2"/>
          </a:solidFill>
          <a:ln w="12700">
            <a:solidFill>
              <a:schemeClr val="bg2"/>
            </a:solidFill>
            <a:prstDash val="solid"/>
          </a:ln>
        </p:spPr>
      </p:sp>
      <p:sp>
        <p:nvSpPr>
          <p:cNvPr id="5" name="num-430"/>
          <p:cNvSpPr/>
          <p:nvPr/>
        </p:nvSpPr>
        <p:spPr>
          <a:xfrm>
            <a:off x="621792" y="1170432"/>
            <a:ext cx="384048" cy="384048"/>
          </a:xfrm>
          <a:prstGeom prst="ellipse">
            <a:avLst/>
          </a:prstGeom>
          <a:solidFill>
            <a:schemeClr val="accent1"/>
          </a:solidFill>
          <a:ln w="12700">
            <a:solidFill>
              <a:schemeClr val="accent1"/>
            </a:solidFill>
            <a:prstDash val="solid"/>
          </a:ln>
        </p:spPr>
      </p:sp>
      <p:sp>
        <p:nvSpPr>
          <p:cNvPr id="6" name="text-431"/>
          <p:cNvSpPr txBox="1"/>
          <p:nvPr/>
        </p:nvSpPr>
        <p:spPr>
          <a:xfrm>
            <a:off x="621792" y="117043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432"/>
          <p:cNvSpPr txBox="1"/>
          <p:nvPr/>
        </p:nvSpPr>
        <p:spPr>
          <a:xfrm>
            <a:off x="1143000" y="1152144"/>
            <a:ext cx="3200400" cy="274320"/>
          </a:xfrm>
          <a:prstGeom prst="rect">
            <a:avLst/>
          </a:prstGeom>
          <a:noFill/>
          <a:ln/>
        </p:spPr>
        <p:txBody>
          <a:bodyPr wrap="square" lIns="0" tIns="0" rIns="0" bIns="0" rtlCol="0" anchor="t"/>
          <a:lstStyle/>
          <a:p>
            <a:pPr indent="0" marL="0">
              <a:buNone/>
            </a:pPr>
            <a:r>
              <a:rPr lang="en-US" sz="1400" b="1" dirty="0">
                <a:solidFill>
                  <a:schemeClr val="tx2"/>
                </a:solidFill>
              </a:rPr>
              <a:t>Start infrastructure</a:t>
            </a:r>
            <a:endParaRPr lang="en-US" sz="1400" dirty="0"/>
          </a:p>
        </p:txBody>
      </p:sp>
      <p:sp>
        <p:nvSpPr>
          <p:cNvPr id="8" name="text-433"/>
          <p:cNvSpPr txBox="1"/>
          <p:nvPr/>
        </p:nvSpPr>
        <p:spPr>
          <a:xfrm>
            <a:off x="1143000" y="1444752"/>
            <a:ext cx="3200400" cy="246888"/>
          </a:xfrm>
          <a:prstGeom prst="rect">
            <a:avLst/>
          </a:prstGeom>
          <a:noFill/>
          <a:ln/>
        </p:spPr>
        <p:txBody>
          <a:bodyPr wrap="square" lIns="0" tIns="0" rIns="0" bIns="0" rtlCol="0" anchor="t"/>
          <a:lstStyle/>
          <a:p>
            <a:pPr indent="0" marL="0">
              <a:buNone/>
            </a:pPr>
            <a:r>
              <a:rPr lang="en-US" sz="1150" b="1" dirty="0">
                <a:solidFill>
                  <a:schemeClr val="accent2"/>
                </a:solidFill>
                <a:latin typeface="Courier New" pitchFamily="34" charset="0"/>
                <a:ea typeface="Courier New" pitchFamily="34" charset="-122"/>
                <a:cs typeface="Courier New" pitchFamily="34" charset="-120"/>
              </a:rPr>
              <a:t>make up &amp;&amp; make topics</a:t>
            </a:r>
            <a:endParaRPr lang="en-US" sz="1150" dirty="0"/>
          </a:p>
        </p:txBody>
      </p:sp>
      <p:sp>
        <p:nvSpPr>
          <p:cNvPr id="9" name="text-434"/>
          <p:cNvSpPr txBox="1"/>
          <p:nvPr/>
        </p:nvSpPr>
        <p:spPr>
          <a:xfrm>
            <a:off x="1143000" y="1700784"/>
            <a:ext cx="3200400" cy="274320"/>
          </a:xfrm>
          <a:prstGeom prst="rect">
            <a:avLst/>
          </a:prstGeom>
          <a:noFill/>
          <a:ln/>
        </p:spPr>
        <p:txBody>
          <a:bodyPr wrap="square" lIns="0" tIns="0" rIns="0" bIns="0" rtlCol="0" anchor="t"/>
          <a:lstStyle/>
          <a:p>
            <a:pPr indent="0" marL="0">
              <a:buNone/>
            </a:pPr>
            <a:r>
              <a:rPr lang="en-US" sz="1100" dirty="0">
                <a:solidFill>
                  <a:schemeClr val="accent5"/>
                </a:solidFill>
              </a:rPr>
              <a:t>Kafka (KRaft) + PostGIS, 6-partition topics</a:t>
            </a:r>
            <a:endParaRPr lang="en-US" sz="1100" dirty="0"/>
          </a:p>
        </p:txBody>
      </p:sp>
      <p:sp>
        <p:nvSpPr>
          <p:cNvPr id="10" name="card-435"/>
          <p:cNvSpPr/>
          <p:nvPr/>
        </p:nvSpPr>
        <p:spPr>
          <a:xfrm>
            <a:off x="4663440" y="1005840"/>
            <a:ext cx="4023360" cy="1024128"/>
          </a:xfrm>
          <a:prstGeom prst="roundRect">
            <a:avLst>
              <a:gd name="adj" fmla="val 7143"/>
            </a:avLst>
          </a:prstGeom>
          <a:solidFill>
            <a:schemeClr val="bg2"/>
          </a:solidFill>
          <a:ln w="12700">
            <a:solidFill>
              <a:schemeClr val="bg2"/>
            </a:solidFill>
            <a:prstDash val="solid"/>
          </a:ln>
        </p:spPr>
      </p:sp>
      <p:sp>
        <p:nvSpPr>
          <p:cNvPr id="11" name="num-436"/>
          <p:cNvSpPr/>
          <p:nvPr/>
        </p:nvSpPr>
        <p:spPr>
          <a:xfrm>
            <a:off x="4828032" y="1170432"/>
            <a:ext cx="384048" cy="384048"/>
          </a:xfrm>
          <a:prstGeom prst="ellipse">
            <a:avLst/>
          </a:prstGeom>
          <a:solidFill>
            <a:schemeClr val="accent1"/>
          </a:solidFill>
          <a:ln w="12700">
            <a:solidFill>
              <a:schemeClr val="accent1"/>
            </a:solidFill>
            <a:prstDash val="solid"/>
          </a:ln>
        </p:spPr>
      </p:sp>
      <p:sp>
        <p:nvSpPr>
          <p:cNvPr id="12" name="text-437"/>
          <p:cNvSpPr txBox="1"/>
          <p:nvPr/>
        </p:nvSpPr>
        <p:spPr>
          <a:xfrm>
            <a:off x="4828032" y="117043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3" name="text-438"/>
          <p:cNvSpPr txBox="1"/>
          <p:nvPr/>
        </p:nvSpPr>
        <p:spPr>
          <a:xfrm>
            <a:off x="5349240" y="1152144"/>
            <a:ext cx="3200400" cy="274320"/>
          </a:xfrm>
          <a:prstGeom prst="rect">
            <a:avLst/>
          </a:prstGeom>
          <a:noFill/>
          <a:ln/>
        </p:spPr>
        <p:txBody>
          <a:bodyPr wrap="square" lIns="0" tIns="0" rIns="0" bIns="0" rtlCol="0" anchor="t"/>
          <a:lstStyle/>
          <a:p>
            <a:pPr indent="0" marL="0">
              <a:buNone/>
            </a:pPr>
            <a:r>
              <a:rPr lang="en-US" sz="1400" b="1" dirty="0">
                <a:solidFill>
                  <a:schemeClr val="tx2"/>
                </a:solidFill>
              </a:rPr>
              <a:t>Batch layer (Spark)</a:t>
            </a:r>
            <a:endParaRPr lang="en-US" sz="1400" dirty="0"/>
          </a:p>
        </p:txBody>
      </p:sp>
      <p:sp>
        <p:nvSpPr>
          <p:cNvPr id="14" name="text-439"/>
          <p:cNvSpPr txBox="1"/>
          <p:nvPr/>
        </p:nvSpPr>
        <p:spPr>
          <a:xfrm>
            <a:off x="5349240" y="1444752"/>
            <a:ext cx="3200400" cy="246888"/>
          </a:xfrm>
          <a:prstGeom prst="rect">
            <a:avLst/>
          </a:prstGeom>
          <a:noFill/>
          <a:ln/>
        </p:spPr>
        <p:txBody>
          <a:bodyPr wrap="square" lIns="0" tIns="0" rIns="0" bIns="0" rtlCol="0" anchor="t"/>
          <a:lstStyle/>
          <a:p>
            <a:pPr indent="0" marL="0">
              <a:buNone/>
            </a:pPr>
            <a:r>
              <a:rPr lang="en-US" sz="1150" b="1" dirty="0">
                <a:solidFill>
                  <a:schemeClr val="accent2"/>
                </a:solidFill>
                <a:latin typeface="Courier New" pitchFamily="34" charset="0"/>
                <a:ea typeface="Courier New" pitchFamily="34" charset="-122"/>
                <a:cs typeface="Courier New" pitchFamily="34" charset="-120"/>
              </a:rPr>
              <a:t>make geofences prior train</a:t>
            </a:r>
            <a:endParaRPr lang="en-US" sz="1150" dirty="0"/>
          </a:p>
        </p:txBody>
      </p:sp>
      <p:sp>
        <p:nvSpPr>
          <p:cNvPr id="15" name="text-440"/>
          <p:cNvSpPr txBox="1"/>
          <p:nvPr/>
        </p:nvSpPr>
        <p:spPr>
          <a:xfrm>
            <a:off x="5349240" y="1700784"/>
            <a:ext cx="3200400" cy="274320"/>
          </a:xfrm>
          <a:prstGeom prst="rect">
            <a:avLst/>
          </a:prstGeom>
          <a:noFill/>
          <a:ln/>
        </p:spPr>
        <p:txBody>
          <a:bodyPr wrap="square" lIns="0" tIns="0" rIns="0" bIns="0" rtlCol="0" anchor="t"/>
          <a:lstStyle/>
          <a:p>
            <a:pPr indent="0" marL="0">
              <a:buNone/>
            </a:pPr>
            <a:r>
              <a:rPr lang="en-US" sz="1100" dirty="0">
                <a:solidFill>
                  <a:schemeClr val="accent5"/>
                </a:solidFill>
              </a:rPr>
              <a:t>Geofences, H3 coverage prior, MLlib model</a:t>
            </a:r>
            <a:endParaRPr lang="en-US" sz="1100" dirty="0"/>
          </a:p>
        </p:txBody>
      </p:sp>
      <p:sp>
        <p:nvSpPr>
          <p:cNvPr id="16" name="card-441"/>
          <p:cNvSpPr/>
          <p:nvPr/>
        </p:nvSpPr>
        <p:spPr>
          <a:xfrm>
            <a:off x="457200" y="2167128"/>
            <a:ext cx="4023360" cy="1024128"/>
          </a:xfrm>
          <a:prstGeom prst="roundRect">
            <a:avLst>
              <a:gd name="adj" fmla="val 7143"/>
            </a:avLst>
          </a:prstGeom>
          <a:solidFill>
            <a:schemeClr val="bg2"/>
          </a:solidFill>
          <a:ln w="12700">
            <a:solidFill>
              <a:schemeClr val="bg2"/>
            </a:solidFill>
            <a:prstDash val="solid"/>
          </a:ln>
        </p:spPr>
      </p:sp>
      <p:sp>
        <p:nvSpPr>
          <p:cNvPr id="17" name="num-442"/>
          <p:cNvSpPr/>
          <p:nvPr/>
        </p:nvSpPr>
        <p:spPr>
          <a:xfrm>
            <a:off x="621792" y="2331720"/>
            <a:ext cx="384048" cy="384048"/>
          </a:xfrm>
          <a:prstGeom prst="ellipse">
            <a:avLst/>
          </a:prstGeom>
          <a:solidFill>
            <a:schemeClr val="accent1"/>
          </a:solidFill>
          <a:ln w="12700">
            <a:solidFill>
              <a:schemeClr val="accent1"/>
            </a:solidFill>
            <a:prstDash val="solid"/>
          </a:ln>
        </p:spPr>
      </p:sp>
      <p:sp>
        <p:nvSpPr>
          <p:cNvPr id="18" name="text-443"/>
          <p:cNvSpPr txBox="1"/>
          <p:nvPr/>
        </p:nvSpPr>
        <p:spPr>
          <a:xfrm>
            <a:off x="621792" y="233172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9" name="text-444"/>
          <p:cNvSpPr txBox="1"/>
          <p:nvPr/>
        </p:nvSpPr>
        <p:spPr>
          <a:xfrm>
            <a:off x="1143000" y="2313432"/>
            <a:ext cx="3200400" cy="274320"/>
          </a:xfrm>
          <a:prstGeom prst="rect">
            <a:avLst/>
          </a:prstGeom>
          <a:noFill/>
          <a:ln/>
        </p:spPr>
        <p:txBody>
          <a:bodyPr wrap="square" lIns="0" tIns="0" rIns="0" bIns="0" rtlCol="0" anchor="t"/>
          <a:lstStyle/>
          <a:p>
            <a:pPr indent="0" marL="0">
              <a:buNone/>
            </a:pPr>
            <a:r>
              <a:rPr lang="en-US" sz="1400" b="1" dirty="0">
                <a:solidFill>
                  <a:schemeClr val="tx2"/>
                </a:solidFill>
              </a:rPr>
              <a:t>Start the stream</a:t>
            </a:r>
            <a:endParaRPr lang="en-US" sz="1400" dirty="0"/>
          </a:p>
        </p:txBody>
      </p:sp>
      <p:sp>
        <p:nvSpPr>
          <p:cNvPr id="20" name="text-445"/>
          <p:cNvSpPr txBox="1"/>
          <p:nvPr/>
        </p:nvSpPr>
        <p:spPr>
          <a:xfrm>
            <a:off x="1143000" y="2606040"/>
            <a:ext cx="3200400" cy="246888"/>
          </a:xfrm>
          <a:prstGeom prst="rect">
            <a:avLst/>
          </a:prstGeom>
          <a:noFill/>
          <a:ln/>
        </p:spPr>
        <p:txBody>
          <a:bodyPr wrap="square" lIns="0" tIns="0" rIns="0" bIns="0" rtlCol="0" anchor="t"/>
          <a:lstStyle/>
          <a:p>
            <a:pPr indent="0" marL="0">
              <a:buNone/>
            </a:pPr>
            <a:r>
              <a:rPr lang="en-US" sz="1150" b="1" dirty="0">
                <a:solidFill>
                  <a:schemeClr val="accent2"/>
                </a:solidFill>
                <a:latin typeface="Courier New" pitchFamily="34" charset="0"/>
                <a:ea typeface="Courier New" pitchFamily="34" charset="-122"/>
                <a:cs typeface="Courier New" pitchFamily="34" charset="-120"/>
              </a:rPr>
              <a:t>make demo   |   make live</a:t>
            </a:r>
            <a:endParaRPr lang="en-US" sz="1150" dirty="0"/>
          </a:p>
        </p:txBody>
      </p:sp>
      <p:sp>
        <p:nvSpPr>
          <p:cNvPr id="21" name="text-446"/>
          <p:cNvSpPr txBox="1"/>
          <p:nvPr/>
        </p:nvSpPr>
        <p:spPr>
          <a:xfrm>
            <a:off x="1143000" y="2862072"/>
            <a:ext cx="3200400" cy="274320"/>
          </a:xfrm>
          <a:prstGeom prst="rect">
            <a:avLst/>
          </a:prstGeom>
          <a:noFill/>
          <a:ln/>
        </p:spPr>
        <p:txBody>
          <a:bodyPr wrap="square" lIns="0" tIns="0" rIns="0" bIns="0" rtlCol="0" anchor="t"/>
          <a:lstStyle/>
          <a:p>
            <a:pPr indent="0" marL="0">
              <a:buNone/>
            </a:pPr>
            <a:r>
              <a:rPr lang="en-US" sz="1100" dirty="0">
                <a:solidFill>
                  <a:schemeClr val="accent5"/>
                </a:solidFill>
              </a:rPr>
              <a:t>NOAA replay or live aisstream.io feed</a:t>
            </a:r>
            <a:endParaRPr lang="en-US" sz="1100" dirty="0"/>
          </a:p>
        </p:txBody>
      </p:sp>
      <p:sp>
        <p:nvSpPr>
          <p:cNvPr id="22" name="card-447"/>
          <p:cNvSpPr/>
          <p:nvPr/>
        </p:nvSpPr>
        <p:spPr>
          <a:xfrm>
            <a:off x="4663440" y="2167128"/>
            <a:ext cx="4023360" cy="1024128"/>
          </a:xfrm>
          <a:prstGeom prst="roundRect">
            <a:avLst>
              <a:gd name="adj" fmla="val 7143"/>
            </a:avLst>
          </a:prstGeom>
          <a:solidFill>
            <a:schemeClr val="bg2"/>
          </a:solidFill>
          <a:ln w="12700">
            <a:solidFill>
              <a:schemeClr val="bg2"/>
            </a:solidFill>
            <a:prstDash val="solid"/>
          </a:ln>
        </p:spPr>
      </p:sp>
      <p:sp>
        <p:nvSpPr>
          <p:cNvPr id="23" name="num-448"/>
          <p:cNvSpPr/>
          <p:nvPr/>
        </p:nvSpPr>
        <p:spPr>
          <a:xfrm>
            <a:off x="4828032" y="2331720"/>
            <a:ext cx="384048" cy="384048"/>
          </a:xfrm>
          <a:prstGeom prst="ellipse">
            <a:avLst/>
          </a:prstGeom>
          <a:solidFill>
            <a:schemeClr val="accent1"/>
          </a:solidFill>
          <a:ln w="12700">
            <a:solidFill>
              <a:schemeClr val="accent1"/>
            </a:solidFill>
            <a:prstDash val="solid"/>
          </a:ln>
        </p:spPr>
      </p:sp>
      <p:sp>
        <p:nvSpPr>
          <p:cNvPr id="24" name="text-449"/>
          <p:cNvSpPr txBox="1"/>
          <p:nvPr/>
        </p:nvSpPr>
        <p:spPr>
          <a:xfrm>
            <a:off x="4828032" y="233172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5" name="text-450"/>
          <p:cNvSpPr txBox="1"/>
          <p:nvPr/>
        </p:nvSpPr>
        <p:spPr>
          <a:xfrm>
            <a:off x="5349240" y="2313432"/>
            <a:ext cx="3200400" cy="274320"/>
          </a:xfrm>
          <a:prstGeom prst="rect">
            <a:avLst/>
          </a:prstGeom>
          <a:noFill/>
          <a:ln/>
        </p:spPr>
        <p:txBody>
          <a:bodyPr wrap="square" lIns="0" tIns="0" rIns="0" bIns="0" rtlCol="0" anchor="t"/>
          <a:lstStyle/>
          <a:p>
            <a:pPr indent="0" marL="0">
              <a:buNone/>
            </a:pPr>
            <a:r>
              <a:rPr lang="en-US" sz="1400" b="1" dirty="0">
                <a:solidFill>
                  <a:schemeClr val="tx2"/>
                </a:solidFill>
              </a:rPr>
              <a:t>Run the pipeline</a:t>
            </a:r>
            <a:endParaRPr lang="en-US" sz="1400" dirty="0"/>
          </a:p>
        </p:txBody>
      </p:sp>
      <p:sp>
        <p:nvSpPr>
          <p:cNvPr id="26" name="text-451"/>
          <p:cNvSpPr txBox="1"/>
          <p:nvPr/>
        </p:nvSpPr>
        <p:spPr>
          <a:xfrm>
            <a:off x="5349240" y="2606040"/>
            <a:ext cx="3200400" cy="246888"/>
          </a:xfrm>
          <a:prstGeom prst="rect">
            <a:avLst/>
          </a:prstGeom>
          <a:noFill/>
          <a:ln/>
        </p:spPr>
        <p:txBody>
          <a:bodyPr wrap="square" lIns="0" tIns="0" rIns="0" bIns="0" rtlCol="0" anchor="t"/>
          <a:lstStyle/>
          <a:p>
            <a:pPr indent="0" marL="0">
              <a:buNone/>
            </a:pPr>
            <a:r>
              <a:rPr lang="en-US" sz="1150" b="1" dirty="0">
                <a:solidFill>
                  <a:schemeClr val="accent2"/>
                </a:solidFill>
                <a:latin typeface="Courier New" pitchFamily="34" charset="0"/>
                <a:ea typeface="Courier New" pitchFamily="34" charset="-122"/>
                <a:cs typeface="Courier New" pitchFamily="34" charset="-120"/>
              </a:rPr>
              <a:t>make stream</a:t>
            </a:r>
            <a:endParaRPr lang="en-US" sz="1150" dirty="0"/>
          </a:p>
        </p:txBody>
      </p:sp>
      <p:sp>
        <p:nvSpPr>
          <p:cNvPr id="27" name="text-452"/>
          <p:cNvSpPr txBox="1"/>
          <p:nvPr/>
        </p:nvSpPr>
        <p:spPr>
          <a:xfrm>
            <a:off x="5349240" y="2862072"/>
            <a:ext cx="3200400" cy="274320"/>
          </a:xfrm>
          <a:prstGeom prst="rect">
            <a:avLst/>
          </a:prstGeom>
          <a:noFill/>
          <a:ln/>
        </p:spPr>
        <p:txBody>
          <a:bodyPr wrap="square" lIns="0" tIns="0" rIns="0" bIns="0" rtlCol="0" anchor="t"/>
          <a:lstStyle/>
          <a:p>
            <a:pPr indent="0" marL="0">
              <a:buNone/>
            </a:pPr>
            <a:r>
              <a:rPr lang="en-US" sz="1100" dirty="0">
                <a:solidFill>
                  <a:schemeClr val="accent5"/>
                </a:solidFill>
              </a:rPr>
              <a:t>Consumer, sweeper, ML scorer, telemetry</a:t>
            </a:r>
            <a:endParaRPr lang="en-US" sz="1100" dirty="0"/>
          </a:p>
        </p:txBody>
      </p:sp>
      <p:sp>
        <p:nvSpPr>
          <p:cNvPr id="28" name="card-453"/>
          <p:cNvSpPr/>
          <p:nvPr/>
        </p:nvSpPr>
        <p:spPr>
          <a:xfrm>
            <a:off x="457200" y="3328416"/>
            <a:ext cx="4023360" cy="1024128"/>
          </a:xfrm>
          <a:prstGeom prst="roundRect">
            <a:avLst>
              <a:gd name="adj" fmla="val 7143"/>
            </a:avLst>
          </a:prstGeom>
          <a:solidFill>
            <a:schemeClr val="bg2"/>
          </a:solidFill>
          <a:ln w="12700">
            <a:solidFill>
              <a:schemeClr val="bg2"/>
            </a:solidFill>
            <a:prstDash val="solid"/>
          </a:ln>
        </p:spPr>
      </p:sp>
      <p:sp>
        <p:nvSpPr>
          <p:cNvPr id="29" name="num-454"/>
          <p:cNvSpPr/>
          <p:nvPr/>
        </p:nvSpPr>
        <p:spPr>
          <a:xfrm>
            <a:off x="621792" y="3493008"/>
            <a:ext cx="384048" cy="384048"/>
          </a:xfrm>
          <a:prstGeom prst="ellipse">
            <a:avLst/>
          </a:prstGeom>
          <a:solidFill>
            <a:schemeClr val="accent1"/>
          </a:solidFill>
          <a:ln w="12700">
            <a:solidFill>
              <a:schemeClr val="accent1"/>
            </a:solidFill>
            <a:prstDash val="solid"/>
          </a:ln>
        </p:spPr>
      </p:sp>
      <p:sp>
        <p:nvSpPr>
          <p:cNvPr id="30" name="text-455"/>
          <p:cNvSpPr txBox="1"/>
          <p:nvPr/>
        </p:nvSpPr>
        <p:spPr>
          <a:xfrm>
            <a:off x="621792" y="349300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1" name="text-456"/>
          <p:cNvSpPr txBox="1"/>
          <p:nvPr/>
        </p:nvSpPr>
        <p:spPr>
          <a:xfrm>
            <a:off x="1143000" y="3474720"/>
            <a:ext cx="3200400" cy="274320"/>
          </a:xfrm>
          <a:prstGeom prst="rect">
            <a:avLst/>
          </a:prstGeom>
          <a:noFill/>
          <a:ln/>
        </p:spPr>
        <p:txBody>
          <a:bodyPr wrap="square" lIns="0" tIns="0" rIns="0" bIns="0" rtlCol="0" anchor="t"/>
          <a:lstStyle/>
          <a:p>
            <a:pPr indent="0" marL="0">
              <a:buNone/>
            </a:pPr>
            <a:r>
              <a:rPr lang="en-US" sz="1400" b="1" dirty="0">
                <a:solidFill>
                  <a:schemeClr val="tx2"/>
                </a:solidFill>
              </a:rPr>
              <a:t>Open the console</a:t>
            </a:r>
            <a:endParaRPr lang="en-US" sz="1400" dirty="0"/>
          </a:p>
        </p:txBody>
      </p:sp>
      <p:sp>
        <p:nvSpPr>
          <p:cNvPr id="32" name="text-457"/>
          <p:cNvSpPr txBox="1"/>
          <p:nvPr/>
        </p:nvSpPr>
        <p:spPr>
          <a:xfrm>
            <a:off x="1143000" y="3767328"/>
            <a:ext cx="3200400" cy="246888"/>
          </a:xfrm>
          <a:prstGeom prst="rect">
            <a:avLst/>
          </a:prstGeom>
          <a:noFill/>
          <a:ln/>
        </p:spPr>
        <p:txBody>
          <a:bodyPr wrap="square" lIns="0" tIns="0" rIns="0" bIns="0" rtlCol="0" anchor="t"/>
          <a:lstStyle/>
          <a:p>
            <a:pPr indent="0" marL="0">
              <a:buNone/>
            </a:pPr>
            <a:r>
              <a:rPr lang="en-US" sz="1150" b="1" dirty="0">
                <a:solidFill>
                  <a:schemeClr val="accent2"/>
                </a:solidFill>
                <a:latin typeface="Courier New" pitchFamily="34" charset="0"/>
                <a:ea typeface="Courier New" pitchFamily="34" charset="-122"/>
                <a:cs typeface="Courier New" pitchFamily="34" charset="-120"/>
              </a:rPr>
              <a:t>make dashboard</a:t>
            </a:r>
            <a:endParaRPr lang="en-US" sz="1150" dirty="0"/>
          </a:p>
        </p:txBody>
      </p:sp>
      <p:sp>
        <p:nvSpPr>
          <p:cNvPr id="33" name="text-458"/>
          <p:cNvSpPr txBox="1"/>
          <p:nvPr/>
        </p:nvSpPr>
        <p:spPr>
          <a:xfrm>
            <a:off x="1143000" y="4023360"/>
            <a:ext cx="3200400" cy="274320"/>
          </a:xfrm>
          <a:prstGeom prst="rect">
            <a:avLst/>
          </a:prstGeom>
          <a:noFill/>
          <a:ln/>
        </p:spPr>
        <p:txBody>
          <a:bodyPr wrap="square" lIns="0" tIns="0" rIns="0" bIns="0" rtlCol="0" anchor="t"/>
          <a:lstStyle/>
          <a:p>
            <a:pPr indent="0" marL="0">
              <a:buNone/>
            </a:pPr>
            <a:r>
              <a:rPr lang="en-US" sz="1100" dirty="0">
                <a:solidFill>
                  <a:schemeClr val="accent5"/>
                </a:solidFill>
              </a:rPr>
              <a:t>http://localhost:3000</a:t>
            </a:r>
            <a:endParaRPr lang="en-US" sz="1100" dirty="0"/>
          </a:p>
        </p:txBody>
      </p:sp>
      <p:sp>
        <p:nvSpPr>
          <p:cNvPr id="34" name="card-459"/>
          <p:cNvSpPr/>
          <p:nvPr/>
        </p:nvSpPr>
        <p:spPr>
          <a:xfrm>
            <a:off x="4663440" y="3328416"/>
            <a:ext cx="4023360" cy="1024128"/>
          </a:xfrm>
          <a:prstGeom prst="roundRect">
            <a:avLst>
              <a:gd name="adj" fmla="val 7143"/>
            </a:avLst>
          </a:prstGeom>
          <a:solidFill>
            <a:schemeClr val="bg2"/>
          </a:solidFill>
          <a:ln w="12700">
            <a:solidFill>
              <a:schemeClr val="bg2"/>
            </a:solidFill>
            <a:prstDash val="solid"/>
          </a:ln>
        </p:spPr>
      </p:sp>
      <p:sp>
        <p:nvSpPr>
          <p:cNvPr id="35" name="num-460"/>
          <p:cNvSpPr/>
          <p:nvPr/>
        </p:nvSpPr>
        <p:spPr>
          <a:xfrm>
            <a:off x="4828032" y="3493008"/>
            <a:ext cx="384048" cy="384048"/>
          </a:xfrm>
          <a:prstGeom prst="ellipse">
            <a:avLst/>
          </a:prstGeom>
          <a:solidFill>
            <a:schemeClr val="accent3"/>
          </a:solidFill>
          <a:ln w="12700">
            <a:solidFill>
              <a:schemeClr val="accent3"/>
            </a:solidFill>
            <a:prstDash val="solid"/>
          </a:ln>
        </p:spPr>
      </p:sp>
      <p:sp>
        <p:nvSpPr>
          <p:cNvPr id="36" name="text-461"/>
          <p:cNvSpPr txBox="1"/>
          <p:nvPr/>
        </p:nvSpPr>
        <p:spPr>
          <a:xfrm>
            <a:off x="4828032" y="349300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37" name="text-462"/>
          <p:cNvSpPr txBox="1"/>
          <p:nvPr/>
        </p:nvSpPr>
        <p:spPr>
          <a:xfrm>
            <a:off x="5349240" y="3474720"/>
            <a:ext cx="3200400" cy="274320"/>
          </a:xfrm>
          <a:prstGeom prst="rect">
            <a:avLst/>
          </a:prstGeom>
          <a:noFill/>
          <a:ln/>
        </p:spPr>
        <p:txBody>
          <a:bodyPr wrap="square" lIns="0" tIns="0" rIns="0" bIns="0" rtlCol="0" anchor="t"/>
          <a:lstStyle/>
          <a:p>
            <a:pPr indent="0" marL="0">
              <a:buNone/>
            </a:pPr>
            <a:r>
              <a:rPr lang="en-US" sz="1400" b="1" dirty="0">
                <a:solidFill>
                  <a:schemeClr val="tx2"/>
                </a:solidFill>
              </a:rPr>
              <a:t>Inject &amp; evaluate</a:t>
            </a:r>
            <a:endParaRPr lang="en-US" sz="1400" dirty="0"/>
          </a:p>
        </p:txBody>
      </p:sp>
      <p:sp>
        <p:nvSpPr>
          <p:cNvPr id="38" name="text-463"/>
          <p:cNvSpPr txBox="1"/>
          <p:nvPr/>
        </p:nvSpPr>
        <p:spPr>
          <a:xfrm>
            <a:off x="5349240" y="3767328"/>
            <a:ext cx="3200400" cy="246888"/>
          </a:xfrm>
          <a:prstGeom prst="rect">
            <a:avLst/>
          </a:prstGeom>
          <a:noFill/>
          <a:ln/>
        </p:spPr>
        <p:txBody>
          <a:bodyPr wrap="square" lIns="0" tIns="0" rIns="0" bIns="0" rtlCol="0" anchor="t"/>
          <a:lstStyle/>
          <a:p>
            <a:pPr indent="0" marL="0">
              <a:buNone/>
            </a:pPr>
            <a:r>
              <a:rPr lang="en-US" sz="1150" b="1" dirty="0">
                <a:solidFill>
                  <a:schemeClr val="accent2"/>
                </a:solidFill>
                <a:latin typeface="Courier New" pitchFamily="34" charset="0"/>
                <a:ea typeface="Courier New" pitchFamily="34" charset="-122"/>
                <a:cs typeface="Courier New" pitchFamily="34" charset="-120"/>
              </a:rPr>
              <a:t>make inject-all &amp;&amp; make evaluate</a:t>
            </a:r>
            <a:endParaRPr lang="en-US" sz="1150" dirty="0"/>
          </a:p>
        </p:txBody>
      </p:sp>
      <p:sp>
        <p:nvSpPr>
          <p:cNvPr id="39" name="text-464"/>
          <p:cNvSpPr txBox="1"/>
          <p:nvPr/>
        </p:nvSpPr>
        <p:spPr>
          <a:xfrm>
            <a:off x="5349240" y="4023360"/>
            <a:ext cx="3200400" cy="274320"/>
          </a:xfrm>
          <a:prstGeom prst="rect">
            <a:avLst/>
          </a:prstGeom>
          <a:noFill/>
          <a:ln/>
        </p:spPr>
        <p:txBody>
          <a:bodyPr wrap="square" lIns="0" tIns="0" rIns="0" bIns="0" rtlCol="0" anchor="t"/>
          <a:lstStyle/>
          <a:p>
            <a:pPr indent="0" marL="0">
              <a:buNone/>
            </a:pPr>
            <a:r>
              <a:rPr lang="en-US" sz="1100" dirty="0">
                <a:solidFill>
                  <a:schemeClr val="accent5"/>
                </a:solidFill>
              </a:rPr>
              <a:t>Watch alerts fire, then compute P / R / F1</a:t>
            </a:r>
            <a:endParaRPr lang="en-US" sz="1100" dirty="0"/>
          </a:p>
        </p:txBody>
      </p:sp>
      <p:sp>
        <p:nvSpPr>
          <p:cNvPr id="25" name="Slide Number Placeholder 0"/>
          <p:cNvSpPr>
            <a:spLocks noGrp="1"/>
          </p:cNvSpPr>
          <p:nvPr>
            <p:ph type="sldNum" sz="quarter" idx="4294967295"/>
          </p:nvPr>
        </p:nvSpPr>
        <p:spPr>
          <a:xfrm>
            <a:off x="8229600" y="479145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800" b="1" dirty="0">
                <a:solidFill>
                  <a:schemeClr val="tx2"/>
                </a:solidFill>
              </a:rPr>
              <a:t>Results at a Glance</a:t>
            </a:r>
            <a:endParaRPr lang="en-US" sz="2800" dirty="0"/>
          </a:p>
        </p:txBody>
      </p:sp>
      <p:sp>
        <p:nvSpPr>
          <p:cNvPr id="4" name="card-465"/>
          <p:cNvSpPr/>
          <p:nvPr/>
        </p:nvSpPr>
        <p:spPr>
          <a:xfrm>
            <a:off x="457200" y="1051560"/>
            <a:ext cx="1965960" cy="1600200"/>
          </a:xfrm>
          <a:prstGeom prst="roundRect">
            <a:avLst>
              <a:gd name="adj" fmla="val 4571"/>
            </a:avLst>
          </a:prstGeom>
          <a:solidFill>
            <a:schemeClr val="bg2"/>
          </a:solidFill>
          <a:ln w="12700">
            <a:solidFill>
              <a:schemeClr val="bg2"/>
            </a:solidFill>
            <a:prstDash val="solid"/>
          </a:ln>
        </p:spPr>
      </p:sp>
      <p:sp>
        <p:nvSpPr>
          <p:cNvPr id="5" name="text-466"/>
          <p:cNvSpPr txBox="1"/>
          <p:nvPr/>
        </p:nvSpPr>
        <p:spPr>
          <a:xfrm>
            <a:off x="548640" y="1188720"/>
            <a:ext cx="1783080" cy="731520"/>
          </a:xfrm>
          <a:prstGeom prst="rect">
            <a:avLst/>
          </a:prstGeom>
          <a:noFill/>
          <a:ln/>
        </p:spPr>
        <p:txBody>
          <a:bodyPr wrap="square" lIns="0" tIns="0" rIns="0" bIns="0" rtlCol="0" anchor="ctr"/>
          <a:lstStyle/>
          <a:p>
            <a:pPr algn="ctr" indent="0" marL="0">
              <a:buNone/>
            </a:pPr>
            <a:r>
              <a:rPr lang="en-US" sz="3400" b="1" dirty="0">
                <a:solidFill>
                  <a:schemeClr val="accent1"/>
                </a:solidFill>
              </a:rPr>
              <a:t>0.949</a:t>
            </a:r>
            <a:endParaRPr lang="en-US" sz="3400" dirty="0"/>
          </a:p>
        </p:txBody>
      </p:sp>
      <p:sp>
        <p:nvSpPr>
          <p:cNvPr id="6" name="text-467"/>
          <p:cNvSpPr txBox="1"/>
          <p:nvPr/>
        </p:nvSpPr>
        <p:spPr>
          <a:xfrm>
            <a:off x="594360" y="1965960"/>
            <a:ext cx="1691640" cy="548640"/>
          </a:xfrm>
          <a:prstGeom prst="rect">
            <a:avLst/>
          </a:prstGeom>
          <a:noFill/>
          <a:ln/>
        </p:spPr>
        <p:txBody>
          <a:bodyPr wrap="square" lIns="0" tIns="0" rIns="0" bIns="0" rtlCol="0" anchor="t"/>
          <a:lstStyle/>
          <a:p>
            <a:pPr algn="ctr" indent="0" marL="0">
              <a:buNone/>
            </a:pPr>
            <a:r>
              <a:rPr lang="en-US" sz="1200" dirty="0">
                <a:solidFill>
                  <a:schemeClr val="accent5"/>
                </a:solidFill>
              </a:rPr>
              <a:t>Overall F1-score</a:t>
            </a:r>
            <a:endParaRPr lang="en-US" sz="1200" dirty="0"/>
          </a:p>
        </p:txBody>
      </p:sp>
      <p:sp>
        <p:nvSpPr>
          <p:cNvPr id="7" name="card-468"/>
          <p:cNvSpPr/>
          <p:nvPr/>
        </p:nvSpPr>
        <p:spPr>
          <a:xfrm>
            <a:off x="2569464" y="1051560"/>
            <a:ext cx="1965960" cy="1600200"/>
          </a:xfrm>
          <a:prstGeom prst="roundRect">
            <a:avLst>
              <a:gd name="adj" fmla="val 4571"/>
            </a:avLst>
          </a:prstGeom>
          <a:solidFill>
            <a:schemeClr val="bg2"/>
          </a:solidFill>
          <a:ln w="12700">
            <a:solidFill>
              <a:schemeClr val="bg2"/>
            </a:solidFill>
            <a:prstDash val="solid"/>
          </a:ln>
        </p:spPr>
      </p:sp>
      <p:sp>
        <p:nvSpPr>
          <p:cNvPr id="8" name="text-469"/>
          <p:cNvSpPr txBox="1"/>
          <p:nvPr/>
        </p:nvSpPr>
        <p:spPr>
          <a:xfrm>
            <a:off x="2660904" y="1188720"/>
            <a:ext cx="1783080" cy="731520"/>
          </a:xfrm>
          <a:prstGeom prst="rect">
            <a:avLst/>
          </a:prstGeom>
          <a:noFill/>
          <a:ln/>
        </p:spPr>
        <p:txBody>
          <a:bodyPr wrap="square" lIns="0" tIns="0" rIns="0" bIns="0" rtlCol="0" anchor="ctr"/>
          <a:lstStyle/>
          <a:p>
            <a:pPr algn="ctr" indent="0" marL="0">
              <a:buNone/>
            </a:pPr>
            <a:r>
              <a:rPr lang="en-US" sz="3400" b="1" dirty="0">
                <a:solidFill>
                  <a:schemeClr val="accent1"/>
                </a:solidFill>
              </a:rPr>
              <a:t>0.946</a:t>
            </a:r>
            <a:endParaRPr lang="en-US" sz="3400" dirty="0"/>
          </a:p>
        </p:txBody>
      </p:sp>
      <p:sp>
        <p:nvSpPr>
          <p:cNvPr id="9" name="text-470"/>
          <p:cNvSpPr txBox="1"/>
          <p:nvPr/>
        </p:nvSpPr>
        <p:spPr>
          <a:xfrm>
            <a:off x="2706624" y="1965960"/>
            <a:ext cx="1691640" cy="548640"/>
          </a:xfrm>
          <a:prstGeom prst="rect">
            <a:avLst/>
          </a:prstGeom>
          <a:noFill/>
          <a:ln/>
        </p:spPr>
        <p:txBody>
          <a:bodyPr wrap="square" lIns="0" tIns="0" rIns="0" bIns="0" rtlCol="0" anchor="t"/>
          <a:lstStyle/>
          <a:p>
            <a:pPr algn="ctr" indent="0" marL="0">
              <a:buNone/>
            </a:pPr>
            <a:r>
              <a:rPr lang="en-US" sz="1200" dirty="0">
                <a:solidFill>
                  <a:schemeClr val="accent5"/>
                </a:solidFill>
              </a:rPr>
              <a:t>Overall precision</a:t>
            </a:r>
            <a:endParaRPr lang="en-US" sz="1200" dirty="0"/>
          </a:p>
        </p:txBody>
      </p:sp>
      <p:sp>
        <p:nvSpPr>
          <p:cNvPr id="10" name="card-471"/>
          <p:cNvSpPr/>
          <p:nvPr/>
        </p:nvSpPr>
        <p:spPr>
          <a:xfrm>
            <a:off x="4681728" y="1051560"/>
            <a:ext cx="1965960" cy="1600200"/>
          </a:xfrm>
          <a:prstGeom prst="roundRect">
            <a:avLst>
              <a:gd name="adj" fmla="val 4571"/>
            </a:avLst>
          </a:prstGeom>
          <a:solidFill>
            <a:schemeClr val="bg2"/>
          </a:solidFill>
          <a:ln w="12700">
            <a:solidFill>
              <a:schemeClr val="bg2"/>
            </a:solidFill>
            <a:prstDash val="solid"/>
          </a:ln>
        </p:spPr>
      </p:sp>
      <p:sp>
        <p:nvSpPr>
          <p:cNvPr id="11" name="text-472"/>
          <p:cNvSpPr txBox="1"/>
          <p:nvPr/>
        </p:nvSpPr>
        <p:spPr>
          <a:xfrm>
            <a:off x="4773168" y="1188720"/>
            <a:ext cx="1783080" cy="731520"/>
          </a:xfrm>
          <a:prstGeom prst="rect">
            <a:avLst/>
          </a:prstGeom>
          <a:noFill/>
          <a:ln/>
        </p:spPr>
        <p:txBody>
          <a:bodyPr wrap="square" lIns="0" tIns="0" rIns="0" bIns="0" rtlCol="0" anchor="ctr"/>
          <a:lstStyle/>
          <a:p>
            <a:pPr algn="ctr" indent="0" marL="0">
              <a:buNone/>
            </a:pPr>
            <a:r>
              <a:rPr lang="en-US" sz="3400" b="1" dirty="0">
                <a:solidFill>
                  <a:schemeClr val="accent1"/>
                </a:solidFill>
              </a:rPr>
              <a:t>0.952</a:t>
            </a:r>
            <a:endParaRPr lang="en-US" sz="3400" dirty="0"/>
          </a:p>
        </p:txBody>
      </p:sp>
      <p:sp>
        <p:nvSpPr>
          <p:cNvPr id="12" name="text-473"/>
          <p:cNvSpPr txBox="1"/>
          <p:nvPr/>
        </p:nvSpPr>
        <p:spPr>
          <a:xfrm>
            <a:off x="4818888" y="1965960"/>
            <a:ext cx="1691640" cy="548640"/>
          </a:xfrm>
          <a:prstGeom prst="rect">
            <a:avLst/>
          </a:prstGeom>
          <a:noFill/>
          <a:ln/>
        </p:spPr>
        <p:txBody>
          <a:bodyPr wrap="square" lIns="0" tIns="0" rIns="0" bIns="0" rtlCol="0" anchor="t"/>
          <a:lstStyle/>
          <a:p>
            <a:pPr algn="ctr" indent="0" marL="0">
              <a:buNone/>
            </a:pPr>
            <a:r>
              <a:rPr lang="en-US" sz="1200" dirty="0">
                <a:solidFill>
                  <a:schemeClr val="accent5"/>
                </a:solidFill>
              </a:rPr>
              <a:t>Overall recall</a:t>
            </a:r>
            <a:endParaRPr lang="en-US" sz="1200" dirty="0"/>
          </a:p>
        </p:txBody>
      </p:sp>
      <p:sp>
        <p:nvSpPr>
          <p:cNvPr id="13" name="card-474"/>
          <p:cNvSpPr/>
          <p:nvPr/>
        </p:nvSpPr>
        <p:spPr>
          <a:xfrm>
            <a:off x="6793992" y="1051560"/>
            <a:ext cx="1965960" cy="1600200"/>
          </a:xfrm>
          <a:prstGeom prst="roundRect">
            <a:avLst>
              <a:gd name="adj" fmla="val 4571"/>
            </a:avLst>
          </a:prstGeom>
          <a:solidFill>
            <a:schemeClr val="bg2"/>
          </a:solidFill>
          <a:ln w="12700">
            <a:solidFill>
              <a:schemeClr val="bg2"/>
            </a:solidFill>
            <a:prstDash val="solid"/>
          </a:ln>
        </p:spPr>
      </p:sp>
      <p:sp>
        <p:nvSpPr>
          <p:cNvPr id="14" name="text-475"/>
          <p:cNvSpPr txBox="1"/>
          <p:nvPr/>
        </p:nvSpPr>
        <p:spPr>
          <a:xfrm>
            <a:off x="6885432" y="1188720"/>
            <a:ext cx="1783080" cy="731520"/>
          </a:xfrm>
          <a:prstGeom prst="rect">
            <a:avLst/>
          </a:prstGeom>
          <a:noFill/>
          <a:ln/>
        </p:spPr>
        <p:txBody>
          <a:bodyPr wrap="square" lIns="0" tIns="0" rIns="0" bIns="0" rtlCol="0" anchor="ctr"/>
          <a:lstStyle/>
          <a:p>
            <a:pPr algn="ctr" indent="0" marL="0">
              <a:buNone/>
            </a:pPr>
            <a:r>
              <a:rPr lang="en-US" sz="3400" b="1" dirty="0">
                <a:solidFill>
                  <a:schemeClr val="accent3"/>
                </a:solidFill>
              </a:rPr>
              <a:t>−92.9%</a:t>
            </a:r>
            <a:endParaRPr lang="en-US" sz="3400" dirty="0"/>
          </a:p>
        </p:txBody>
      </p:sp>
      <p:sp>
        <p:nvSpPr>
          <p:cNvPr id="15" name="text-476"/>
          <p:cNvSpPr txBox="1"/>
          <p:nvPr/>
        </p:nvSpPr>
        <p:spPr>
          <a:xfrm>
            <a:off x="6931152" y="1965960"/>
            <a:ext cx="1691640" cy="548640"/>
          </a:xfrm>
          <a:prstGeom prst="rect">
            <a:avLst/>
          </a:prstGeom>
          <a:noFill/>
          <a:ln/>
        </p:spPr>
        <p:txBody>
          <a:bodyPr wrap="square" lIns="0" tIns="0" rIns="0" bIns="0" rtlCol="0" anchor="t"/>
          <a:lstStyle/>
          <a:p>
            <a:pPr algn="ctr" indent="0" marL="0">
              <a:buNone/>
            </a:pPr>
            <a:r>
              <a:rPr lang="en-US" sz="1200" dirty="0">
                <a:solidFill>
                  <a:schemeClr val="accent5"/>
                </a:solidFill>
              </a:rPr>
              <a:t>False alarms vs. flat 3-h threshold</a:t>
            </a:r>
            <a:endParaRPr lang="en-US" sz="1200" dirty="0"/>
          </a:p>
        </p:txBody>
      </p:sp>
      <p:sp>
        <p:nvSpPr>
          <p:cNvPr id="16" name="text-477"/>
          <p:cNvSpPr txBox="1"/>
          <p:nvPr/>
        </p:nvSpPr>
        <p:spPr>
          <a:xfrm>
            <a:off x="457200" y="3017520"/>
            <a:ext cx="1965960" cy="457200"/>
          </a:xfrm>
          <a:prstGeom prst="rect">
            <a:avLst/>
          </a:prstGeom>
          <a:noFill/>
          <a:ln/>
        </p:spPr>
        <p:txBody>
          <a:bodyPr wrap="square" lIns="0" tIns="0" rIns="0" bIns="0" rtlCol="0" anchor="t"/>
          <a:lstStyle/>
          <a:p>
            <a:pPr algn="ctr" indent="0" marL="0">
              <a:buNone/>
            </a:pPr>
            <a:r>
              <a:rPr lang="en-US" sz="2400" b="1" dirty="0">
                <a:solidFill>
                  <a:schemeClr val="tx2"/>
                </a:solidFill>
              </a:rPr>
              <a:t>310</a:t>
            </a:r>
            <a:endParaRPr lang="en-US" sz="2400" dirty="0"/>
          </a:p>
        </p:txBody>
      </p:sp>
      <p:sp>
        <p:nvSpPr>
          <p:cNvPr id="17" name="text-478"/>
          <p:cNvSpPr txBox="1"/>
          <p:nvPr/>
        </p:nvSpPr>
        <p:spPr>
          <a:xfrm>
            <a:off x="548640" y="3474720"/>
            <a:ext cx="1783080" cy="502920"/>
          </a:xfrm>
          <a:prstGeom prst="rect">
            <a:avLst/>
          </a:prstGeom>
          <a:noFill/>
          <a:ln/>
        </p:spPr>
        <p:txBody>
          <a:bodyPr wrap="square" lIns="0" tIns="0" rIns="0" bIns="0" rtlCol="0" anchor="t"/>
          <a:lstStyle/>
          <a:p>
            <a:pPr algn="ctr" indent="0" marL="0">
              <a:buNone/>
            </a:pPr>
            <a:r>
              <a:rPr lang="en-US" sz="1150" dirty="0">
                <a:solidFill>
                  <a:schemeClr val="accent5"/>
                </a:solidFill>
              </a:rPr>
              <a:t>labelled anomalies injected</a:t>
            </a:r>
            <a:endParaRPr lang="en-US" sz="1150" dirty="0"/>
          </a:p>
        </p:txBody>
      </p:sp>
      <p:sp>
        <p:nvSpPr>
          <p:cNvPr id="18" name="text-479"/>
          <p:cNvSpPr txBox="1"/>
          <p:nvPr/>
        </p:nvSpPr>
        <p:spPr>
          <a:xfrm>
            <a:off x="2569464" y="3017520"/>
            <a:ext cx="1965960" cy="457200"/>
          </a:xfrm>
          <a:prstGeom prst="rect">
            <a:avLst/>
          </a:prstGeom>
          <a:noFill/>
          <a:ln/>
        </p:spPr>
        <p:txBody>
          <a:bodyPr wrap="square" lIns="0" tIns="0" rIns="0" bIns="0" rtlCol="0" anchor="t"/>
          <a:lstStyle/>
          <a:p>
            <a:pPr algn="ctr" indent="0" marL="0">
              <a:buNone/>
            </a:pPr>
            <a:r>
              <a:rPr lang="en-US" sz="2400" b="1" dirty="0">
                <a:solidFill>
                  <a:schemeClr val="tx2"/>
                </a:solidFill>
              </a:rPr>
              <a:t>295</a:t>
            </a:r>
            <a:endParaRPr lang="en-US" sz="2400" dirty="0"/>
          </a:p>
        </p:txBody>
      </p:sp>
      <p:sp>
        <p:nvSpPr>
          <p:cNvPr id="19" name="text-480"/>
          <p:cNvSpPr txBox="1"/>
          <p:nvPr/>
        </p:nvSpPr>
        <p:spPr>
          <a:xfrm>
            <a:off x="2660904" y="3474720"/>
            <a:ext cx="1783080" cy="502920"/>
          </a:xfrm>
          <a:prstGeom prst="rect">
            <a:avLst/>
          </a:prstGeom>
          <a:noFill/>
          <a:ln/>
        </p:spPr>
        <p:txBody>
          <a:bodyPr wrap="square" lIns="0" tIns="0" rIns="0" bIns="0" rtlCol="0" anchor="t"/>
          <a:lstStyle/>
          <a:p>
            <a:pPr algn="ctr" indent="0" marL="0">
              <a:buNone/>
            </a:pPr>
            <a:r>
              <a:rPr lang="en-US" sz="1150" dirty="0">
                <a:solidFill>
                  <a:schemeClr val="accent5"/>
                </a:solidFill>
              </a:rPr>
              <a:t>true positives</a:t>
            </a:r>
            <a:endParaRPr lang="en-US" sz="1150" dirty="0"/>
          </a:p>
        </p:txBody>
      </p:sp>
      <p:sp>
        <p:nvSpPr>
          <p:cNvPr id="20" name="text-481"/>
          <p:cNvSpPr txBox="1"/>
          <p:nvPr/>
        </p:nvSpPr>
        <p:spPr>
          <a:xfrm>
            <a:off x="4681728" y="3017520"/>
            <a:ext cx="1965960" cy="457200"/>
          </a:xfrm>
          <a:prstGeom prst="rect">
            <a:avLst/>
          </a:prstGeom>
          <a:noFill/>
          <a:ln/>
        </p:spPr>
        <p:txBody>
          <a:bodyPr wrap="square" lIns="0" tIns="0" rIns="0" bIns="0" rtlCol="0" anchor="t"/>
          <a:lstStyle/>
          <a:p>
            <a:pPr algn="ctr" indent="0" marL="0">
              <a:buNone/>
            </a:pPr>
            <a:r>
              <a:rPr lang="en-US" sz="2400" b="1" dirty="0">
                <a:solidFill>
                  <a:schemeClr val="tx2"/>
                </a:solidFill>
              </a:rPr>
              <a:t>17</a:t>
            </a:r>
            <a:endParaRPr lang="en-US" sz="2400" dirty="0"/>
          </a:p>
        </p:txBody>
      </p:sp>
      <p:sp>
        <p:nvSpPr>
          <p:cNvPr id="21" name="text-482"/>
          <p:cNvSpPr txBox="1"/>
          <p:nvPr/>
        </p:nvSpPr>
        <p:spPr>
          <a:xfrm>
            <a:off x="4773168" y="3474720"/>
            <a:ext cx="1783080" cy="502920"/>
          </a:xfrm>
          <a:prstGeom prst="rect">
            <a:avLst/>
          </a:prstGeom>
          <a:noFill/>
          <a:ln/>
        </p:spPr>
        <p:txBody>
          <a:bodyPr wrap="square" lIns="0" tIns="0" rIns="0" bIns="0" rtlCol="0" anchor="t"/>
          <a:lstStyle/>
          <a:p>
            <a:pPr algn="ctr" indent="0" marL="0">
              <a:buNone/>
            </a:pPr>
            <a:r>
              <a:rPr lang="en-US" sz="1150" dirty="0">
                <a:solidFill>
                  <a:schemeClr val="accent5"/>
                </a:solidFill>
              </a:rPr>
              <a:t>false positives</a:t>
            </a:r>
            <a:endParaRPr lang="en-US" sz="1150" dirty="0"/>
          </a:p>
        </p:txBody>
      </p:sp>
      <p:sp>
        <p:nvSpPr>
          <p:cNvPr id="22" name="text-483"/>
          <p:cNvSpPr txBox="1"/>
          <p:nvPr/>
        </p:nvSpPr>
        <p:spPr>
          <a:xfrm>
            <a:off x="6793992" y="3017520"/>
            <a:ext cx="1965960" cy="457200"/>
          </a:xfrm>
          <a:prstGeom prst="rect">
            <a:avLst/>
          </a:prstGeom>
          <a:noFill/>
          <a:ln/>
        </p:spPr>
        <p:txBody>
          <a:bodyPr wrap="square" lIns="0" tIns="0" rIns="0" bIns="0" rtlCol="0" anchor="t"/>
          <a:lstStyle/>
          <a:p>
            <a:pPr algn="ctr" indent="0" marL="0">
              <a:buNone/>
            </a:pPr>
            <a:r>
              <a:rPr lang="en-US" sz="2400" b="1" dirty="0">
                <a:solidFill>
                  <a:schemeClr val="tx2"/>
                </a:solidFill>
              </a:rPr>
              <a:t>2.2×</a:t>
            </a:r>
            <a:endParaRPr lang="en-US" sz="2400" dirty="0"/>
          </a:p>
        </p:txBody>
      </p:sp>
      <p:sp>
        <p:nvSpPr>
          <p:cNvPr id="23" name="text-484"/>
          <p:cNvSpPr txBox="1"/>
          <p:nvPr/>
        </p:nvSpPr>
        <p:spPr>
          <a:xfrm>
            <a:off x="6885432" y="3474720"/>
            <a:ext cx="1783080" cy="502920"/>
          </a:xfrm>
          <a:prstGeom prst="rect">
            <a:avLst/>
          </a:prstGeom>
          <a:noFill/>
          <a:ln/>
        </p:spPr>
        <p:txBody>
          <a:bodyPr wrap="square" lIns="0" tIns="0" rIns="0" bIns="0" rtlCol="0" anchor="t"/>
          <a:lstStyle/>
          <a:p>
            <a:pPr algn="ctr" indent="0" marL="0">
              <a:buNone/>
            </a:pPr>
            <a:r>
              <a:rPr lang="en-US" sz="1150" dirty="0">
                <a:solidFill>
                  <a:schemeClr val="accent5"/>
                </a:solidFill>
              </a:rPr>
              <a:t>precision gain over baseline (target &gt; 2×)</a:t>
            </a:r>
            <a:endParaRPr lang="en-US" sz="1150" dirty="0"/>
          </a:p>
        </p:txBody>
      </p:sp>
      <p:sp>
        <p:nvSpPr>
          <p:cNvPr id="24" name="text-485"/>
          <p:cNvSpPr txBox="1"/>
          <p:nvPr/>
        </p:nvSpPr>
        <p:spPr>
          <a:xfrm>
            <a:off x="457200" y="4206240"/>
            <a:ext cx="8229600" cy="320040"/>
          </a:xfrm>
          <a:prstGeom prst="rect">
            <a:avLst/>
          </a:prstGeom>
          <a:noFill/>
          <a:ln/>
        </p:spPr>
        <p:txBody>
          <a:bodyPr wrap="square" lIns="0" tIns="0" rIns="0" bIns="0" rtlCol="0" anchor="t"/>
          <a:lstStyle/>
          <a:p>
            <a:pPr indent="0" marL="0">
              <a:buNone/>
            </a:pPr>
            <a:r>
              <a:rPr lang="en-US" sz="1000" i="1" dirty="0">
                <a:solidFill>
                  <a:schemeClr val="accent5"/>
                </a:solidFill>
              </a:rPr>
              <a:t>Evaluation: synthetic anomalies injected into real NOAA Marine Cadastre data (California corridor); metrics from backend/evaluation/evaluate.py</a:t>
            </a:r>
            <a:endParaRPr lang="en-US" sz="1000" dirty="0"/>
          </a:p>
        </p:txBody>
      </p:sp>
      <p:sp>
        <p:nvSpPr>
          <p:cNvPr id="25" name="Slide Number Placeholder 0"/>
          <p:cNvSpPr>
            <a:spLocks noGrp="1"/>
          </p:cNvSpPr>
          <p:nvPr>
            <p:ph type="sldNum" sz="quarter" idx="4294967295"/>
          </p:nvPr>
        </p:nvSpPr>
        <p:spPr>
          <a:xfrm>
            <a:off x="8229600" y="479145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800" b="1" dirty="0">
                <a:solidFill>
                  <a:schemeClr val="tx2"/>
                </a:solidFill>
              </a:rPr>
              <a:t>Detection Performance by Anomaly Type</a:t>
            </a:r>
            <a:endParaRPr lang="en-US" sz="2800" dirty="0"/>
          </a:p>
        </p:txBody>
      </p:sp>
      <p:graphicFrame>
        <p:nvGraphicFramePr>
          <p:cNvPr id="4" name="chart-bytype" descr=""/>
          <p:cNvGraphicFramePr/>
          <p:nvPr/>
        </p:nvGraphicFramePr>
        <p:xfrm>
          <a:off x="365760" y="960120"/>
          <a:ext cx="4937760" cy="3566160"/>
        </p:xfrm>
        <a:graphic xmlns:a="http://schemas.openxmlformats.org/drawingml/2006/main">
          <a:graphicData uri="http://schemas.openxmlformats.org/drawingml/2006/chart">
            <c:chart xmlns:c="http://schemas.openxmlformats.org/drawingml/2006/chart" r:id="rId1"/>
          </a:graphicData>
        </a:graphic>
      </p:graphicFrame>
      <p:graphicFrame>
        <p:nvGraphicFramePr>
          <p:cNvPr id="19" name="type-table"/>
          <p:cNvGraphicFramePr>
            <a:graphicFrameLocks noGrp="1"/>
          </p:cNvGraphicFramePr>
          <p:nvPr>
            <p:extLst>
              <p:ext uri="{D42A27DB-BD31-4B8C-83A1-F6EECF244321}">
                <p14:modId xmlns:p14="http://schemas.microsoft.com/office/powerpoint/2010/main" val="1579011935"/>
              </p:ext>
            </p:extLst>
          </p:nvPr>
        </p:nvGraphicFramePr>
        <p:xfrm>
          <a:off x="5577840" y="1097280"/>
          <a:ext cx="3108960" cy="914400"/>
        </p:xfrm>
        <a:graphic>
          <a:graphicData uri="http://schemas.openxmlformats.org/drawingml/2006/table">
            <a:tbl>
              <a:tblPr/>
              <a:tblGrid>
                <a:gridCol w="1325880"/>
                <a:gridCol w="685800"/>
                <a:gridCol w="548640"/>
                <a:gridCol w="548640"/>
              </a:tblGrid>
              <a:tr h="384048">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marL="45720" marR="4572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Injected</a:t>
                      </a:r>
                      <a:endParaRPr lang="en-US" sz="1200" dirty="0">
                        <a:latin typeface="Calibri" charset="0"/>
                        <a:ea typeface="Calibri" charset="0"/>
                        <a:cs typeface="Calibri" charset="0"/>
                      </a:endParaRPr>
                    </a:p>
                  </a:txBody>
                  <a:tcPr marL="45720" marR="4572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TP</a:t>
                      </a:r>
                      <a:endParaRPr lang="en-US" sz="1200" dirty="0">
                        <a:latin typeface="Calibri" charset="0"/>
                        <a:ea typeface="Calibri" charset="0"/>
                        <a:cs typeface="Calibri" charset="0"/>
                      </a:endParaRPr>
                    </a:p>
                  </a:txBody>
                  <a:tcPr marL="45720" marR="4572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FP</a:t>
                      </a:r>
                      <a:endParaRPr lang="en-US" sz="1200" dirty="0">
                        <a:latin typeface="Calibri" charset="0"/>
                        <a:ea typeface="Calibri" charset="0"/>
                        <a:cs typeface="Calibri" charset="0"/>
                      </a:endParaRPr>
                    </a:p>
                  </a:txBody>
                  <a:tcPr marL="45720" marR="4572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chemeClr val="tx2"/>
                    </a:solidFill>
                  </a:tcPr>
                </a:tc>
              </a:tr>
              <a:tr h="384048">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Dark vessel</a:t>
                      </a:r>
                      <a:endParaRPr lang="en-US" sz="1200" dirty="0">
                        <a:latin typeface="Calibri" charset="0"/>
                        <a:ea typeface="Calibri" charset="0"/>
                        <a:cs typeface="Calibri" charset="0"/>
                      </a:endParaRPr>
                    </a:p>
                  </a:txBody>
                  <a:tcPr marL="45720" marR="4572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120</a:t>
                      </a:r>
                      <a:endParaRPr lang="en-US" sz="1200" dirty="0">
                        <a:latin typeface="Calibri" charset="0"/>
                        <a:ea typeface="Calibri" charset="0"/>
                        <a:cs typeface="Calibri" charset="0"/>
                      </a:endParaRPr>
                    </a:p>
                  </a:txBody>
                  <a:tcPr marL="45720" marR="4572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114</a:t>
                      </a:r>
                      <a:endParaRPr lang="en-US" sz="1200" dirty="0">
                        <a:latin typeface="Calibri" charset="0"/>
                        <a:ea typeface="Calibri" charset="0"/>
                        <a:cs typeface="Calibri" charset="0"/>
                      </a:endParaRPr>
                    </a:p>
                  </a:txBody>
                  <a:tcPr marL="45720" marR="4572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45720" marR="4572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r>
              <a:tr h="384048">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GPS spoofing</a:t>
                      </a:r>
                      <a:endParaRPr lang="en-US" sz="1200" dirty="0">
                        <a:latin typeface="Calibri" charset="0"/>
                        <a:ea typeface="Calibri" charset="0"/>
                        <a:cs typeface="Calibri" charset="0"/>
                      </a:endParaRPr>
                    </a:p>
                  </a:txBody>
                  <a:tcPr marL="45720" marR="4572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85</a:t>
                      </a:r>
                      <a:endParaRPr lang="en-US" sz="1200" dirty="0">
                        <a:latin typeface="Calibri" charset="0"/>
                        <a:ea typeface="Calibri" charset="0"/>
                        <a:cs typeface="Calibri" charset="0"/>
                      </a:endParaRPr>
                    </a:p>
                  </a:txBody>
                  <a:tcPr marL="45720" marR="4572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81</a:t>
                      </a:r>
                      <a:endParaRPr lang="en-US" sz="1200" dirty="0">
                        <a:latin typeface="Calibri" charset="0"/>
                        <a:ea typeface="Calibri" charset="0"/>
                        <a:cs typeface="Calibri" charset="0"/>
                      </a:endParaRPr>
                    </a:p>
                  </a:txBody>
                  <a:tcPr marL="45720" marR="4572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45720" marR="4572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r>
              <a:tr h="384048">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MPA loitering</a:t>
                      </a:r>
                      <a:endParaRPr lang="en-US" sz="1200" dirty="0">
                        <a:latin typeface="Calibri" charset="0"/>
                        <a:ea typeface="Calibri" charset="0"/>
                        <a:cs typeface="Calibri" charset="0"/>
                      </a:endParaRPr>
                    </a:p>
                  </a:txBody>
                  <a:tcPr marL="45720" marR="4572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60</a:t>
                      </a:r>
                      <a:endParaRPr lang="en-US" sz="1200" dirty="0">
                        <a:latin typeface="Calibri" charset="0"/>
                        <a:ea typeface="Calibri" charset="0"/>
                        <a:cs typeface="Calibri" charset="0"/>
                      </a:endParaRPr>
                    </a:p>
                  </a:txBody>
                  <a:tcPr marL="45720" marR="4572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56</a:t>
                      </a:r>
                      <a:endParaRPr lang="en-US" sz="1200" dirty="0">
                        <a:latin typeface="Calibri" charset="0"/>
                        <a:ea typeface="Calibri" charset="0"/>
                        <a:cs typeface="Calibri" charset="0"/>
                      </a:endParaRPr>
                    </a:p>
                  </a:txBody>
                  <a:tcPr marL="45720" marR="4572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45720" marR="4572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r>
              <a:tr h="384048">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MMSI collision</a:t>
                      </a:r>
                      <a:endParaRPr lang="en-US" sz="1200" dirty="0">
                        <a:latin typeface="Calibri" charset="0"/>
                        <a:ea typeface="Calibri" charset="0"/>
                        <a:cs typeface="Calibri" charset="0"/>
                      </a:endParaRPr>
                    </a:p>
                  </a:txBody>
                  <a:tcPr marL="45720" marR="4572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45</a:t>
                      </a:r>
                      <a:endParaRPr lang="en-US" sz="1200" dirty="0">
                        <a:latin typeface="Calibri" charset="0"/>
                        <a:ea typeface="Calibri" charset="0"/>
                        <a:cs typeface="Calibri" charset="0"/>
                      </a:endParaRPr>
                    </a:p>
                  </a:txBody>
                  <a:tcPr marL="45720" marR="4572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44</a:t>
                      </a:r>
                      <a:endParaRPr lang="en-US" sz="1200" dirty="0">
                        <a:latin typeface="Calibri" charset="0"/>
                        <a:ea typeface="Calibri" charset="0"/>
                        <a:cs typeface="Calibri" charset="0"/>
                      </a:endParaRPr>
                    </a:p>
                  </a:txBody>
                  <a:tcPr marL="45720" marR="4572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45720" marR="4572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r>
              <a:tr h="384048">
                <a:tc>
                  <a:txBody>
                    <a:bodyPr/>
                    <a:lstStyle/>
                    <a:p>
                      <a:pPr algn="ctr" indent="0" marL="0">
                        <a:buNone/>
                      </a:pPr>
                      <a:r>
                        <a:rPr lang="en-US" sz="1200" b="1" dirty="0">
                          <a:solidFill>
                            <a:schemeClr val="tx1"/>
                          </a:solidFill>
                          <a:latin typeface="Calibri" pitchFamily="34" charset="0"/>
                          <a:ea typeface="Calibri" pitchFamily="34" charset="-122"/>
                          <a:cs typeface="Calibri" pitchFamily="34" charset="-120"/>
                        </a:rPr>
                        <a:t>Overall</a:t>
                      </a:r>
                      <a:endParaRPr lang="en-US" sz="1200" dirty="0">
                        <a:latin typeface="Calibri" charset="0"/>
                        <a:ea typeface="Calibri" charset="0"/>
                        <a:cs typeface="Calibri" charset="0"/>
                      </a:endParaRPr>
                    </a:p>
                  </a:txBody>
                  <a:tcPr marL="45720" marR="4572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algn="ctr" indent="0" marL="0">
                        <a:buNone/>
                      </a:pPr>
                      <a:r>
                        <a:rPr lang="en-US" sz="1200" b="1" dirty="0">
                          <a:solidFill>
                            <a:schemeClr val="tx1"/>
                          </a:solidFill>
                          <a:latin typeface="Calibri" pitchFamily="34" charset="0"/>
                          <a:ea typeface="Calibri" pitchFamily="34" charset="-122"/>
                          <a:cs typeface="Calibri" pitchFamily="34" charset="-120"/>
                        </a:rPr>
                        <a:t>310</a:t>
                      </a:r>
                      <a:endParaRPr lang="en-US" sz="1200" dirty="0">
                        <a:latin typeface="Calibri" charset="0"/>
                        <a:ea typeface="Calibri" charset="0"/>
                        <a:cs typeface="Calibri" charset="0"/>
                      </a:endParaRPr>
                    </a:p>
                  </a:txBody>
                  <a:tcPr marL="45720" marR="4572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algn="ctr" indent="0" marL="0">
                        <a:buNone/>
                      </a:pPr>
                      <a:r>
                        <a:rPr lang="en-US" sz="1200" b="1" dirty="0">
                          <a:solidFill>
                            <a:schemeClr val="tx1"/>
                          </a:solidFill>
                          <a:latin typeface="Calibri" pitchFamily="34" charset="0"/>
                          <a:ea typeface="Calibri" pitchFamily="34" charset="-122"/>
                          <a:cs typeface="Calibri" pitchFamily="34" charset="-120"/>
                        </a:rPr>
                        <a:t>295</a:t>
                      </a:r>
                      <a:endParaRPr lang="en-US" sz="1200" dirty="0">
                        <a:latin typeface="Calibri" charset="0"/>
                        <a:ea typeface="Calibri" charset="0"/>
                        <a:cs typeface="Calibri" charset="0"/>
                      </a:endParaRPr>
                    </a:p>
                  </a:txBody>
                  <a:tcPr marL="45720" marR="4572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algn="ctr" indent="0" marL="0">
                        <a:buNone/>
                      </a:pPr>
                      <a:r>
                        <a:rPr lang="en-US" sz="1200" b="1" dirty="0">
                          <a:solidFill>
                            <a:schemeClr val="tx1"/>
                          </a:solidFill>
                          <a:latin typeface="Calibri" pitchFamily="34" charset="0"/>
                          <a:ea typeface="Calibri" pitchFamily="34" charset="-122"/>
                          <a:cs typeface="Calibri" pitchFamily="34" charset="-120"/>
                        </a:rPr>
                        <a:t>17</a:t>
                      </a:r>
                      <a:endParaRPr lang="en-US" sz="1200" dirty="0">
                        <a:latin typeface="Calibri" charset="0"/>
                        <a:ea typeface="Calibri" charset="0"/>
                        <a:cs typeface="Calibri" charset="0"/>
                      </a:endParaRPr>
                    </a:p>
                  </a:txBody>
                  <a:tcPr marL="45720" marR="4572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r>
            </a:tbl>
          </a:graphicData>
        </a:graphic>
      </p:graphicFrame>
      <p:sp>
        <p:nvSpPr>
          <p:cNvPr id="6" name="text-486"/>
          <p:cNvSpPr txBox="1"/>
          <p:nvPr/>
        </p:nvSpPr>
        <p:spPr>
          <a:xfrm>
            <a:off x="5577840" y="3611880"/>
            <a:ext cx="3108960" cy="731520"/>
          </a:xfrm>
          <a:prstGeom prst="rect">
            <a:avLst/>
          </a:prstGeom>
          <a:noFill/>
          <a:ln/>
        </p:spPr>
        <p:txBody>
          <a:bodyPr wrap="square" lIns="0" tIns="0" rIns="0" bIns="0" rtlCol="0" anchor="t"/>
          <a:lstStyle/>
          <a:p>
            <a:pPr indent="0" marL="0">
              <a:buNone/>
            </a:pPr>
            <a:r>
              <a:rPr lang="en-US" sz="1200" i="1" dirty="0">
                <a:solidFill>
                  <a:schemeClr val="accent5"/>
                </a:solidFill>
              </a:rPr>
              <a:t>Every class beats its target (dark precision &gt; 0.70, recall &gt; 0.80; spoofing precision &gt; 0.85).</a:t>
            </a:r>
            <a:endParaRPr lang="en-US" sz="1200" dirty="0"/>
          </a:p>
        </p:txBody>
      </p:sp>
      <p:sp>
        <p:nvSpPr>
          <p:cNvPr id="25" name="Slide Number Placeholder 0"/>
          <p:cNvSpPr>
            <a:spLocks noGrp="1"/>
          </p:cNvSpPr>
          <p:nvPr>
            <p:ph type="sldNum" sz="quarter" idx="4294967295"/>
          </p:nvPr>
        </p:nvSpPr>
        <p:spPr>
          <a:xfrm>
            <a:off x="8229600" y="479145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800" b="1" dirty="0">
                <a:solidFill>
                  <a:schemeClr val="tx2"/>
                </a:solidFill>
              </a:rPr>
              <a:t>Analysis: Coverage-Prior Ablation</a:t>
            </a:r>
            <a:endParaRPr lang="en-US" sz="2800" dirty="0"/>
          </a:p>
        </p:txBody>
      </p:sp>
      <p:graphicFrame>
        <p:nvGraphicFramePr>
          <p:cNvPr id="4" name="chart-ablation" descr=""/>
          <p:cNvGraphicFramePr/>
          <p:nvPr/>
        </p:nvGraphicFramePr>
        <p:xfrm>
          <a:off x="365760" y="960120"/>
          <a:ext cx="5120640" cy="3566160"/>
        </p:xfrm>
        <a:graphic xmlns:a="http://schemas.openxmlformats.org/drawingml/2006/main">
          <a:graphicData uri="http://schemas.openxmlformats.org/drawingml/2006/chart">
            <c:chart xmlns:c="http://schemas.openxmlformats.org/drawingml/2006/chart" r:id="rId1"/>
          </a:graphicData>
        </a:graphic>
      </p:graphicFrame>
      <p:sp>
        <p:nvSpPr>
          <p:cNvPr id="5" name="card-487"/>
          <p:cNvSpPr/>
          <p:nvPr/>
        </p:nvSpPr>
        <p:spPr>
          <a:xfrm>
            <a:off x="5760720" y="1051560"/>
            <a:ext cx="2926080" cy="1417320"/>
          </a:xfrm>
          <a:prstGeom prst="roundRect">
            <a:avLst>
              <a:gd name="adj" fmla="val 5161"/>
            </a:avLst>
          </a:prstGeom>
          <a:solidFill>
            <a:schemeClr val="tx2"/>
          </a:solidFill>
          <a:ln w="12700">
            <a:solidFill>
              <a:schemeClr val="tx2"/>
            </a:solidFill>
            <a:prstDash val="solid"/>
          </a:ln>
        </p:spPr>
      </p:sp>
      <p:sp>
        <p:nvSpPr>
          <p:cNvPr id="6" name="text-488"/>
          <p:cNvSpPr txBox="1"/>
          <p:nvPr/>
        </p:nvSpPr>
        <p:spPr>
          <a:xfrm>
            <a:off x="5943600" y="1143000"/>
            <a:ext cx="2560320" cy="274320"/>
          </a:xfrm>
          <a:prstGeom prst="rect">
            <a:avLst/>
          </a:prstGeom>
          <a:noFill/>
          <a:ln/>
        </p:spPr>
        <p:txBody>
          <a:bodyPr wrap="square" lIns="0" tIns="0" rIns="0" bIns="0" rtlCol="0" anchor="t"/>
          <a:lstStyle/>
          <a:p>
            <a:pPr indent="0" marL="0">
              <a:buNone/>
            </a:pPr>
            <a:r>
              <a:rPr lang="en-US" sz="1200" b="1" dirty="0">
                <a:solidFill>
                  <a:schemeClr val="accent4"/>
                </a:solidFill>
              </a:rPr>
              <a:t>Precision</a:t>
            </a:r>
            <a:endParaRPr lang="en-US" sz="1200" dirty="0"/>
          </a:p>
        </p:txBody>
      </p:sp>
      <p:sp>
        <p:nvSpPr>
          <p:cNvPr id="7" name="text-489"/>
          <p:cNvSpPr txBox="1"/>
          <p:nvPr/>
        </p:nvSpPr>
        <p:spPr>
          <a:xfrm>
            <a:off x="5943600" y="1417320"/>
            <a:ext cx="2560320" cy="548640"/>
          </a:xfrm>
          <a:prstGeom prst="rect">
            <a:avLst/>
          </a:prstGeom>
          <a:noFill/>
          <a:ln/>
        </p:spPr>
        <p:txBody>
          <a:bodyPr wrap="square" lIns="0" tIns="0" rIns="0" bIns="0" rtlCol="0" anchor="ctr"/>
          <a:lstStyle/>
          <a:p>
            <a:pPr indent="0" marL="0">
              <a:buNone/>
            </a:pPr>
            <a:r>
              <a:rPr lang="en-US" sz="2800" dirty="0">
                <a:solidFill>
                  <a:schemeClr val="accent4"/>
                </a:solidFill>
              </a:rPr>
              <a:t>0.412</a:t>
            </a:r>
            <a:pPr indent="0" marL="0">
              <a:buNone/>
            </a:pPr>
            <a:r>
              <a:rPr lang="en-US" sz="2800" dirty="0">
                <a:solidFill>
                  <a:schemeClr val="accent4"/>
                </a:solidFill>
              </a:rPr>
              <a:t>  →  </a:t>
            </a:r>
            <a:pPr indent="0" marL="0">
              <a:buNone/>
            </a:pPr>
            <a:r>
              <a:rPr lang="en-US" sz="2800" b="1" dirty="0">
                <a:solidFill>
                  <a:schemeClr val="bg1"/>
                </a:solidFill>
              </a:rPr>
              <a:t>0.905</a:t>
            </a:r>
            <a:endParaRPr lang="en-US" sz="2800" dirty="0"/>
          </a:p>
        </p:txBody>
      </p:sp>
      <p:sp>
        <p:nvSpPr>
          <p:cNvPr id="8" name="text-490"/>
          <p:cNvSpPr txBox="1"/>
          <p:nvPr/>
        </p:nvSpPr>
        <p:spPr>
          <a:xfrm>
            <a:off x="5943600" y="2011680"/>
            <a:ext cx="2560320" cy="274320"/>
          </a:xfrm>
          <a:prstGeom prst="rect">
            <a:avLst/>
          </a:prstGeom>
          <a:noFill/>
          <a:ln/>
        </p:spPr>
        <p:txBody>
          <a:bodyPr wrap="square" lIns="0" tIns="0" rIns="0" bIns="0" rtlCol="0" anchor="t"/>
          <a:lstStyle/>
          <a:p>
            <a:pPr indent="0" marL="0">
              <a:buNone/>
            </a:pPr>
            <a:r>
              <a:rPr lang="en-US" sz="1200" b="1" dirty="0">
                <a:solidFill>
                  <a:schemeClr val="accent3"/>
                </a:solidFill>
              </a:rPr>
              <a:t>2.2× improvement (target &gt; 2×)</a:t>
            </a:r>
            <a:endParaRPr lang="en-US" sz="1200" dirty="0"/>
          </a:p>
        </p:txBody>
      </p:sp>
      <p:sp>
        <p:nvSpPr>
          <p:cNvPr id="9" name="text-491"/>
          <p:cNvSpPr txBox="1"/>
          <p:nvPr/>
        </p:nvSpPr>
        <p:spPr>
          <a:xfrm>
            <a:off x="5760720" y="2651760"/>
            <a:ext cx="2926080" cy="18288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chemeClr val="tx1"/>
                </a:solidFill>
              </a:rPr>
              <a:t>False alarms 170 → 12 (−92.9%)</a:t>
            </a:r>
            <a:endParaRPr lang="en-US" sz="1250" dirty="0"/>
          </a:p>
          <a:p>
            <a:pPr marL="342900" indent="-342900">
              <a:spcAft>
                <a:spcPts val="600"/>
              </a:spcAft>
              <a:buSzPct val="100000"/>
              <a:buChar char="•"/>
            </a:pPr>
            <a:r>
              <a:rPr lang="en-US" sz="1250" dirty="0">
                <a:solidFill>
                  <a:schemeClr val="tx1"/>
                </a:solidFill>
              </a:rPr>
              <a:t>Only 5 true detections lost (119 → 114)</a:t>
            </a:r>
            <a:endParaRPr lang="en-US" sz="1250" dirty="0"/>
          </a:p>
          <a:p>
            <a:pPr marL="342900" indent="-342900">
              <a:spcAft>
                <a:spcPts val="600"/>
              </a:spcAft>
              <a:buSzPct val="100000"/>
              <a:buChar char="•"/>
            </a:pPr>
            <a:r>
              <a:rPr lang="en-US" sz="1250" dirty="0">
                <a:solidFill>
                  <a:schemeClr val="tx1"/>
                </a:solidFill>
              </a:rPr>
              <a:t>Naive feed: &gt; 58% of alerts were receiver drop-offs</a:t>
            </a:r>
            <a:endParaRPr lang="en-US" sz="1250" dirty="0"/>
          </a:p>
          <a:p>
            <a:pPr marL="342900" indent="-342900">
              <a:spcAft>
                <a:spcPts val="600"/>
              </a:spcAft>
              <a:buSzPct val="100000"/>
              <a:buChar char="•"/>
            </a:pPr>
            <a:r>
              <a:rPr lang="en-US" sz="1250" dirty="0">
                <a:solidFill>
                  <a:schemeClr val="tx1"/>
                </a:solidFill>
              </a:rPr>
              <a:t>Physics of VHF propagation is built into the data model</a:t>
            </a:r>
            <a:endParaRPr lang="en-US" sz="1250" dirty="0"/>
          </a:p>
        </p:txBody>
      </p:sp>
      <p:sp>
        <p:nvSpPr>
          <p:cNvPr id="25" name="Slide Number Placeholder 0"/>
          <p:cNvSpPr>
            <a:spLocks noGrp="1"/>
          </p:cNvSpPr>
          <p:nvPr>
            <p:ph type="sldNum" sz="quarter" idx="4294967295"/>
          </p:nvPr>
        </p:nvSpPr>
        <p:spPr>
          <a:xfrm>
            <a:off x="8229600" y="479145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800" b="1" dirty="0">
                <a:solidFill>
                  <a:schemeClr val="tx2"/>
                </a:solidFill>
              </a:rPr>
              <a:t>Analysis: Data Quality &amp; Success Targets</a:t>
            </a:r>
            <a:endParaRPr lang="en-US" sz="2800" dirty="0"/>
          </a:p>
        </p:txBody>
      </p:sp>
      <p:graphicFrame>
        <p:nvGraphicFramePr>
          <p:cNvPr id="4" name="chart-dq" descr=""/>
          <p:cNvGraphicFramePr/>
          <p:nvPr/>
        </p:nvGraphicFramePr>
        <p:xfrm>
          <a:off x="365760" y="960120"/>
          <a:ext cx="4480560" cy="3566160"/>
        </p:xfrm>
        <a:graphic xmlns:a="http://schemas.openxmlformats.org/drawingml/2006/main">
          <a:graphicData uri="http://schemas.openxmlformats.org/drawingml/2006/chart">
            <c:chart xmlns:c="http://schemas.openxmlformats.org/drawingml/2006/chart" r:id="rId1"/>
          </a:graphicData>
        </a:graphic>
      </p:graphicFrame>
      <p:graphicFrame>
        <p:nvGraphicFramePr>
          <p:cNvPr id="21" name="target-table"/>
          <p:cNvGraphicFramePr>
            <a:graphicFrameLocks noGrp="1"/>
          </p:cNvGraphicFramePr>
          <p:nvPr>
            <p:extLst>
              <p:ext uri="{D42A27DB-BD31-4B8C-83A1-F6EECF244321}">
                <p14:modId xmlns:p14="http://schemas.microsoft.com/office/powerpoint/2010/main" val="1579011935"/>
              </p:ext>
            </p:extLst>
          </p:nvPr>
        </p:nvGraphicFramePr>
        <p:xfrm>
          <a:off x="5120640" y="1097280"/>
          <a:ext cx="3566160" cy="914400"/>
        </p:xfrm>
        <a:graphic>
          <a:graphicData uri="http://schemas.openxmlformats.org/drawingml/2006/table">
            <a:tbl>
              <a:tblPr/>
              <a:tblGrid>
                <a:gridCol w="1737360"/>
                <a:gridCol w="822960"/>
                <a:gridCol w="1005840"/>
              </a:tblGrid>
              <a:tr h="411480">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marL="54864" marR="54864" marT="54864" marB="54864"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Target</a:t>
                      </a:r>
                      <a:endParaRPr lang="en-US" sz="1200" dirty="0">
                        <a:latin typeface="Calibri" charset="0"/>
                        <a:ea typeface="Calibri" charset="0"/>
                        <a:cs typeface="Calibri" charset="0"/>
                      </a:endParaRPr>
                    </a:p>
                  </a:txBody>
                  <a:tcPr marL="54864" marR="54864" marT="54864" marB="54864"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Achieved</a:t>
                      </a:r>
                      <a:endParaRPr lang="en-US" sz="1200" dirty="0">
                        <a:latin typeface="Calibri" charset="0"/>
                        <a:ea typeface="Calibri" charset="0"/>
                        <a:cs typeface="Calibri" charset="0"/>
                      </a:endParaRPr>
                    </a:p>
                  </a:txBody>
                  <a:tcPr marL="54864" marR="54864" marT="54864" marB="54864"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chemeClr val="tx2"/>
                    </a:solidFill>
                  </a:tcPr>
                </a:tc>
              </a:tr>
              <a:tr h="411480">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Dark-vessel precision</a:t>
                      </a:r>
                      <a:endParaRPr lang="en-US" sz="1200" dirty="0">
                        <a:latin typeface="Calibri" charset="0"/>
                        <a:ea typeface="Calibri" charset="0"/>
                        <a:cs typeface="Calibri" charset="0"/>
                      </a:endParaRPr>
                    </a:p>
                  </a:txBody>
                  <a:tcPr marL="54864" marR="54864" marT="54864" marB="54864"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&gt; 0.70</a:t>
                      </a:r>
                      <a:endParaRPr lang="en-US" sz="1200" dirty="0">
                        <a:latin typeface="Calibri" charset="0"/>
                        <a:ea typeface="Calibri" charset="0"/>
                        <a:cs typeface="Calibri" charset="0"/>
                      </a:endParaRPr>
                    </a:p>
                  </a:txBody>
                  <a:tcPr marL="54864" marR="54864" marT="54864" marB="54864"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indent="0" marL="0">
                        <a:buNone/>
                      </a:pPr>
                      <a:r>
                        <a:rPr lang="en-US" sz="1200" b="1" dirty="0">
                          <a:solidFill>
                            <a:schemeClr val="accent1"/>
                          </a:solidFill>
                          <a:latin typeface="Calibri" pitchFamily="34" charset="0"/>
                          <a:ea typeface="Calibri" pitchFamily="34" charset="-122"/>
                          <a:cs typeface="Calibri" pitchFamily="34" charset="-120"/>
                        </a:rPr>
                        <a:t>0.942</a:t>
                      </a:r>
                      <a:endParaRPr lang="en-US" sz="1200" dirty="0">
                        <a:latin typeface="Calibri" charset="0"/>
                        <a:ea typeface="Calibri" charset="0"/>
                        <a:cs typeface="Calibri" charset="0"/>
                      </a:endParaRPr>
                    </a:p>
                  </a:txBody>
                  <a:tcPr marL="54864" marR="54864" marT="54864" marB="54864"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r>
              <a:tr h="411480">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Dark-vessel recall</a:t>
                      </a:r>
                      <a:endParaRPr lang="en-US" sz="1200" dirty="0">
                        <a:latin typeface="Calibri" charset="0"/>
                        <a:ea typeface="Calibri" charset="0"/>
                        <a:cs typeface="Calibri" charset="0"/>
                      </a:endParaRPr>
                    </a:p>
                  </a:txBody>
                  <a:tcPr marL="54864" marR="54864" marT="54864" marB="54864"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&gt; 0.80</a:t>
                      </a:r>
                      <a:endParaRPr lang="en-US" sz="1200" dirty="0">
                        <a:latin typeface="Calibri" charset="0"/>
                        <a:ea typeface="Calibri" charset="0"/>
                        <a:cs typeface="Calibri" charset="0"/>
                      </a:endParaRPr>
                    </a:p>
                  </a:txBody>
                  <a:tcPr marL="54864" marR="54864" marT="54864" marB="54864"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indent="0" marL="0">
                        <a:buNone/>
                      </a:pPr>
                      <a:r>
                        <a:rPr lang="en-US" sz="1200" b="1" dirty="0">
                          <a:solidFill>
                            <a:schemeClr val="accent1"/>
                          </a:solidFill>
                          <a:latin typeface="Calibri" pitchFamily="34" charset="0"/>
                          <a:ea typeface="Calibri" pitchFamily="34" charset="-122"/>
                          <a:cs typeface="Calibri" pitchFamily="34" charset="-120"/>
                        </a:rPr>
                        <a:t>0.950</a:t>
                      </a:r>
                      <a:endParaRPr lang="en-US" sz="1200" dirty="0">
                        <a:latin typeface="Calibri" charset="0"/>
                        <a:ea typeface="Calibri" charset="0"/>
                        <a:cs typeface="Calibri" charset="0"/>
                      </a:endParaRPr>
                    </a:p>
                  </a:txBody>
                  <a:tcPr marL="54864" marR="54864" marT="54864" marB="54864"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r>
              <a:tr h="411480">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Precision vs baseline</a:t>
                      </a:r>
                      <a:endParaRPr lang="en-US" sz="1200" dirty="0">
                        <a:latin typeface="Calibri" charset="0"/>
                        <a:ea typeface="Calibri" charset="0"/>
                        <a:cs typeface="Calibri" charset="0"/>
                      </a:endParaRPr>
                    </a:p>
                  </a:txBody>
                  <a:tcPr marL="54864" marR="54864" marT="54864" marB="54864"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&gt; 2×</a:t>
                      </a:r>
                      <a:endParaRPr lang="en-US" sz="1200" dirty="0">
                        <a:latin typeface="Calibri" charset="0"/>
                        <a:ea typeface="Calibri" charset="0"/>
                        <a:cs typeface="Calibri" charset="0"/>
                      </a:endParaRPr>
                    </a:p>
                  </a:txBody>
                  <a:tcPr marL="54864" marR="54864" marT="54864" marB="54864"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indent="0" marL="0">
                        <a:buNone/>
                      </a:pPr>
                      <a:r>
                        <a:rPr lang="en-US" sz="1200" b="1" dirty="0">
                          <a:solidFill>
                            <a:schemeClr val="accent1"/>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54864" marR="54864" marT="54864" marB="54864"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r>
              <a:tr h="411480">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Spoofing precision</a:t>
                      </a:r>
                      <a:endParaRPr lang="en-US" sz="1200" dirty="0">
                        <a:latin typeface="Calibri" charset="0"/>
                        <a:ea typeface="Calibri" charset="0"/>
                        <a:cs typeface="Calibri" charset="0"/>
                      </a:endParaRPr>
                    </a:p>
                  </a:txBody>
                  <a:tcPr marL="54864" marR="54864" marT="54864" marB="54864"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&gt; 0.85</a:t>
                      </a:r>
                      <a:endParaRPr lang="en-US" sz="1200" dirty="0">
                        <a:latin typeface="Calibri" charset="0"/>
                        <a:ea typeface="Calibri" charset="0"/>
                        <a:cs typeface="Calibri" charset="0"/>
                      </a:endParaRPr>
                    </a:p>
                  </a:txBody>
                  <a:tcPr marL="54864" marR="54864" marT="54864" marB="54864"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indent="0" marL="0">
                        <a:buNone/>
                      </a:pPr>
                      <a:r>
                        <a:rPr lang="en-US" sz="1200" b="1" dirty="0">
                          <a:solidFill>
                            <a:schemeClr val="accent1"/>
                          </a:solidFill>
                          <a:latin typeface="Calibri" pitchFamily="34" charset="0"/>
                          <a:ea typeface="Calibri" pitchFamily="34" charset="-122"/>
                          <a:cs typeface="Calibri" pitchFamily="34" charset="-120"/>
                        </a:rPr>
                        <a:t>0.953</a:t>
                      </a:r>
                      <a:endParaRPr lang="en-US" sz="1200" dirty="0">
                        <a:latin typeface="Calibri" charset="0"/>
                        <a:ea typeface="Calibri" charset="0"/>
                        <a:cs typeface="Calibri" charset="0"/>
                      </a:endParaRPr>
                    </a:p>
                  </a:txBody>
                  <a:tcPr marL="54864" marR="54864" marT="54864" marB="54864"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r>
              <a:tr h="411480">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DLQ reject rate</a:t>
                      </a:r>
                      <a:endParaRPr lang="en-US" sz="1200" dirty="0">
                        <a:latin typeface="Calibri" charset="0"/>
                        <a:ea typeface="Calibri" charset="0"/>
                        <a:cs typeface="Calibri" charset="0"/>
                      </a:endParaRPr>
                    </a:p>
                  </a:txBody>
                  <a:tcPr marL="54864" marR="54864" marT="54864" marB="54864"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&lt; 2%</a:t>
                      </a:r>
                      <a:endParaRPr lang="en-US" sz="1200" dirty="0">
                        <a:latin typeface="Calibri" charset="0"/>
                        <a:ea typeface="Calibri" charset="0"/>
                        <a:cs typeface="Calibri" charset="0"/>
                      </a:endParaRPr>
                    </a:p>
                  </a:txBody>
                  <a:tcPr marL="54864" marR="54864" marT="54864" marB="54864"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indent="0" marL="0">
                        <a:buNone/>
                      </a:pPr>
                      <a:r>
                        <a:rPr lang="en-US" sz="1200" b="1" dirty="0">
                          <a:solidFill>
                            <a:schemeClr val="accent1"/>
                          </a:solidFill>
                          <a:latin typeface="Calibri" pitchFamily="34" charset="0"/>
                          <a:ea typeface="Calibri" pitchFamily="34" charset="-122"/>
                          <a:cs typeface="Calibri" pitchFamily="34" charset="-120"/>
                        </a:rPr>
                        <a:t>≈ 0.16%</a:t>
                      </a:r>
                      <a:endParaRPr lang="en-US" sz="1200" dirty="0">
                        <a:latin typeface="Calibri" charset="0"/>
                        <a:ea typeface="Calibri" charset="0"/>
                        <a:cs typeface="Calibri" charset="0"/>
                      </a:endParaRPr>
                    </a:p>
                  </a:txBody>
                  <a:tcPr marL="54864" marR="54864" marT="54864" marB="54864"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r>
            </a:tbl>
          </a:graphicData>
        </a:graphic>
      </p:graphicFrame>
      <p:sp>
        <p:nvSpPr>
          <p:cNvPr id="6" name="text-492"/>
          <p:cNvSpPr txBox="1"/>
          <p:nvPr/>
        </p:nvSpPr>
        <p:spPr>
          <a:xfrm>
            <a:off x="5120640" y="3749040"/>
            <a:ext cx="3566160" cy="457200"/>
          </a:xfrm>
          <a:prstGeom prst="rect">
            <a:avLst/>
          </a:prstGeom>
          <a:noFill/>
          <a:ln/>
        </p:spPr>
        <p:txBody>
          <a:bodyPr wrap="square" lIns="0" tIns="0" rIns="0" bIns="0" rtlCol="0" anchor="t"/>
          <a:lstStyle/>
          <a:p>
            <a:pPr indent="0" marL="0">
              <a:buNone/>
            </a:pPr>
            <a:r>
              <a:rPr lang="en-US" sz="1250" i="1" dirty="0">
                <a:solidFill>
                  <a:schemeClr val="accent5"/>
                </a:solidFill>
              </a:rPr>
              <a:t>All primary success metrics from the PRD were met.</a:t>
            </a:r>
            <a:endParaRPr lang="en-US" sz="1250" dirty="0"/>
          </a:p>
        </p:txBody>
      </p:sp>
      <p:sp>
        <p:nvSpPr>
          <p:cNvPr id="25" name="Slide Number Placeholder 0"/>
          <p:cNvSpPr>
            <a:spLocks noGrp="1"/>
          </p:cNvSpPr>
          <p:nvPr>
            <p:ph type="sldNum" sz="quarter" idx="4294967295"/>
          </p:nvPr>
        </p:nvSpPr>
        <p:spPr>
          <a:xfrm>
            <a:off x="8229600" y="479145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800" b="1" dirty="0">
                <a:solidFill>
                  <a:schemeClr val="tx2"/>
                </a:solidFill>
              </a:rPr>
              <a:t>Implementation at a Glance</a:t>
            </a:r>
            <a:endParaRPr lang="en-US" sz="2800" dirty="0"/>
          </a:p>
        </p:txBody>
      </p:sp>
      <p:sp>
        <p:nvSpPr>
          <p:cNvPr id="4" name="card-493"/>
          <p:cNvSpPr/>
          <p:nvPr/>
        </p:nvSpPr>
        <p:spPr>
          <a:xfrm>
            <a:off x="457200" y="1051560"/>
            <a:ext cx="1965960" cy="1554480"/>
          </a:xfrm>
          <a:prstGeom prst="roundRect">
            <a:avLst>
              <a:gd name="adj" fmla="val 4706"/>
            </a:avLst>
          </a:prstGeom>
          <a:solidFill>
            <a:schemeClr val="bg2"/>
          </a:solidFill>
          <a:ln w="12700">
            <a:solidFill>
              <a:schemeClr val="bg2"/>
            </a:solidFill>
            <a:prstDash val="solid"/>
          </a:ln>
        </p:spPr>
      </p:sp>
      <p:sp>
        <p:nvSpPr>
          <p:cNvPr id="5" name="text-494"/>
          <p:cNvSpPr txBox="1"/>
          <p:nvPr/>
        </p:nvSpPr>
        <p:spPr>
          <a:xfrm>
            <a:off x="548640" y="1234440"/>
            <a:ext cx="1783080" cy="685800"/>
          </a:xfrm>
          <a:prstGeom prst="rect">
            <a:avLst/>
          </a:prstGeom>
          <a:noFill/>
          <a:ln/>
        </p:spPr>
        <p:txBody>
          <a:bodyPr wrap="square" lIns="0" tIns="0" rIns="0" bIns="0" rtlCol="0" anchor="ctr"/>
          <a:lstStyle/>
          <a:p>
            <a:pPr algn="ctr" indent="0" marL="0">
              <a:buNone/>
            </a:pPr>
            <a:r>
              <a:rPr lang="en-US" sz="3200" b="1" dirty="0">
                <a:solidFill>
                  <a:schemeClr val="accent1"/>
                </a:solidFill>
              </a:rPr>
              <a:t>9</a:t>
            </a:r>
            <a:endParaRPr lang="en-US" sz="3200" dirty="0"/>
          </a:p>
        </p:txBody>
      </p:sp>
      <p:sp>
        <p:nvSpPr>
          <p:cNvPr id="6" name="text-495"/>
          <p:cNvSpPr txBox="1"/>
          <p:nvPr/>
        </p:nvSpPr>
        <p:spPr>
          <a:xfrm>
            <a:off x="594360" y="1965960"/>
            <a:ext cx="1691640" cy="548640"/>
          </a:xfrm>
          <a:prstGeom prst="rect">
            <a:avLst/>
          </a:prstGeom>
          <a:noFill/>
          <a:ln/>
        </p:spPr>
        <p:txBody>
          <a:bodyPr wrap="square" lIns="0" tIns="0" rIns="0" bIns="0" rtlCol="0" anchor="t"/>
          <a:lstStyle/>
          <a:p>
            <a:pPr algn="ctr" indent="0" marL="0">
              <a:buNone/>
            </a:pPr>
            <a:r>
              <a:rPr lang="en-US" sz="1200" dirty="0">
                <a:solidFill>
                  <a:schemeClr val="accent5"/>
                </a:solidFill>
              </a:rPr>
              <a:t>Docker Compose services</a:t>
            </a:r>
            <a:endParaRPr lang="en-US" sz="1200" dirty="0"/>
          </a:p>
        </p:txBody>
      </p:sp>
      <p:sp>
        <p:nvSpPr>
          <p:cNvPr id="7" name="card-496"/>
          <p:cNvSpPr/>
          <p:nvPr/>
        </p:nvSpPr>
        <p:spPr>
          <a:xfrm>
            <a:off x="2569464" y="1051560"/>
            <a:ext cx="1965960" cy="1554480"/>
          </a:xfrm>
          <a:prstGeom prst="roundRect">
            <a:avLst>
              <a:gd name="adj" fmla="val 4706"/>
            </a:avLst>
          </a:prstGeom>
          <a:solidFill>
            <a:schemeClr val="bg2"/>
          </a:solidFill>
          <a:ln w="12700">
            <a:solidFill>
              <a:schemeClr val="bg2"/>
            </a:solidFill>
            <a:prstDash val="solid"/>
          </a:ln>
        </p:spPr>
      </p:sp>
      <p:sp>
        <p:nvSpPr>
          <p:cNvPr id="8" name="text-497"/>
          <p:cNvSpPr txBox="1"/>
          <p:nvPr/>
        </p:nvSpPr>
        <p:spPr>
          <a:xfrm>
            <a:off x="2660904" y="1234440"/>
            <a:ext cx="1783080" cy="685800"/>
          </a:xfrm>
          <a:prstGeom prst="rect">
            <a:avLst/>
          </a:prstGeom>
          <a:noFill/>
          <a:ln/>
        </p:spPr>
        <p:txBody>
          <a:bodyPr wrap="square" lIns="0" tIns="0" rIns="0" bIns="0" rtlCol="0" anchor="ctr"/>
          <a:lstStyle/>
          <a:p>
            <a:pPr algn="ctr" indent="0" marL="0">
              <a:buNone/>
            </a:pPr>
            <a:r>
              <a:rPr lang="en-US" sz="3200" b="1" dirty="0">
                <a:solidFill>
                  <a:schemeClr val="accent1"/>
                </a:solidFill>
              </a:rPr>
              <a:t>6</a:t>
            </a:r>
            <a:endParaRPr lang="en-US" sz="3200" dirty="0"/>
          </a:p>
        </p:txBody>
      </p:sp>
      <p:sp>
        <p:nvSpPr>
          <p:cNvPr id="9" name="text-498"/>
          <p:cNvSpPr txBox="1"/>
          <p:nvPr/>
        </p:nvSpPr>
        <p:spPr>
          <a:xfrm>
            <a:off x="2706624" y="1965960"/>
            <a:ext cx="1691640" cy="548640"/>
          </a:xfrm>
          <a:prstGeom prst="rect">
            <a:avLst/>
          </a:prstGeom>
          <a:noFill/>
          <a:ln/>
        </p:spPr>
        <p:txBody>
          <a:bodyPr wrap="square" lIns="0" tIns="0" rIns="0" bIns="0" rtlCol="0" anchor="t"/>
          <a:lstStyle/>
          <a:p>
            <a:pPr algn="ctr" indent="0" marL="0">
              <a:buNone/>
            </a:pPr>
            <a:r>
              <a:rPr lang="en-US" sz="1200" dirty="0">
                <a:solidFill>
                  <a:schemeClr val="accent5"/>
                </a:solidFill>
              </a:rPr>
              <a:t>Kafka partitions (MMSI-keyed)</a:t>
            </a:r>
            <a:endParaRPr lang="en-US" sz="1200" dirty="0"/>
          </a:p>
        </p:txBody>
      </p:sp>
      <p:sp>
        <p:nvSpPr>
          <p:cNvPr id="10" name="card-499"/>
          <p:cNvSpPr/>
          <p:nvPr/>
        </p:nvSpPr>
        <p:spPr>
          <a:xfrm>
            <a:off x="4681728" y="1051560"/>
            <a:ext cx="1965960" cy="1554480"/>
          </a:xfrm>
          <a:prstGeom prst="roundRect">
            <a:avLst>
              <a:gd name="adj" fmla="val 4706"/>
            </a:avLst>
          </a:prstGeom>
          <a:solidFill>
            <a:schemeClr val="bg2"/>
          </a:solidFill>
          <a:ln w="12700">
            <a:solidFill>
              <a:schemeClr val="bg2"/>
            </a:solidFill>
            <a:prstDash val="solid"/>
          </a:ln>
        </p:spPr>
      </p:sp>
      <p:sp>
        <p:nvSpPr>
          <p:cNvPr id="11" name="text-500"/>
          <p:cNvSpPr txBox="1"/>
          <p:nvPr/>
        </p:nvSpPr>
        <p:spPr>
          <a:xfrm>
            <a:off x="4773168" y="1234440"/>
            <a:ext cx="1783080" cy="685800"/>
          </a:xfrm>
          <a:prstGeom prst="rect">
            <a:avLst/>
          </a:prstGeom>
          <a:noFill/>
          <a:ln/>
        </p:spPr>
        <p:txBody>
          <a:bodyPr wrap="square" lIns="0" tIns="0" rIns="0" bIns="0" rtlCol="0" anchor="ctr"/>
          <a:lstStyle/>
          <a:p>
            <a:pPr algn="ctr" indent="0" marL="0">
              <a:buNone/>
            </a:pPr>
            <a:r>
              <a:rPr lang="en-US" sz="3200" b="1" dirty="0">
                <a:solidFill>
                  <a:schemeClr val="accent1"/>
                </a:solidFill>
              </a:rPr>
              <a:t>41</a:t>
            </a:r>
            <a:endParaRPr lang="en-US" sz="3200" dirty="0"/>
          </a:p>
        </p:txBody>
      </p:sp>
      <p:sp>
        <p:nvSpPr>
          <p:cNvPr id="12" name="text-501"/>
          <p:cNvSpPr txBox="1"/>
          <p:nvPr/>
        </p:nvSpPr>
        <p:spPr>
          <a:xfrm>
            <a:off x="4818888" y="1965960"/>
            <a:ext cx="1691640" cy="548640"/>
          </a:xfrm>
          <a:prstGeom prst="rect">
            <a:avLst/>
          </a:prstGeom>
          <a:noFill/>
          <a:ln/>
        </p:spPr>
        <p:txBody>
          <a:bodyPr wrap="square" lIns="0" tIns="0" rIns="0" bIns="0" rtlCol="0" anchor="t"/>
          <a:lstStyle/>
          <a:p>
            <a:pPr algn="ctr" indent="0" marL="0">
              <a:buNone/>
            </a:pPr>
            <a:r>
              <a:rPr lang="en-US" sz="1200" dirty="0">
                <a:solidFill>
                  <a:schemeClr val="accent5"/>
                </a:solidFill>
              </a:rPr>
              <a:t>pytest tests in 11 modules + CI</a:t>
            </a:r>
            <a:endParaRPr lang="en-US" sz="1200" dirty="0"/>
          </a:p>
        </p:txBody>
      </p:sp>
      <p:sp>
        <p:nvSpPr>
          <p:cNvPr id="13" name="card-502"/>
          <p:cNvSpPr/>
          <p:nvPr/>
        </p:nvSpPr>
        <p:spPr>
          <a:xfrm>
            <a:off x="6793992" y="1051560"/>
            <a:ext cx="1965960" cy="1554480"/>
          </a:xfrm>
          <a:prstGeom prst="roundRect">
            <a:avLst>
              <a:gd name="adj" fmla="val 4706"/>
            </a:avLst>
          </a:prstGeom>
          <a:solidFill>
            <a:schemeClr val="bg2"/>
          </a:solidFill>
          <a:ln w="12700">
            <a:solidFill>
              <a:schemeClr val="bg2"/>
            </a:solidFill>
            <a:prstDash val="solid"/>
          </a:ln>
        </p:spPr>
      </p:sp>
      <p:sp>
        <p:nvSpPr>
          <p:cNvPr id="14" name="text-503"/>
          <p:cNvSpPr txBox="1"/>
          <p:nvPr/>
        </p:nvSpPr>
        <p:spPr>
          <a:xfrm>
            <a:off x="6885432" y="1234440"/>
            <a:ext cx="1783080" cy="685800"/>
          </a:xfrm>
          <a:prstGeom prst="rect">
            <a:avLst/>
          </a:prstGeom>
          <a:noFill/>
          <a:ln/>
        </p:spPr>
        <p:txBody>
          <a:bodyPr wrap="square" lIns="0" tIns="0" rIns="0" bIns="0" rtlCol="0" anchor="ctr"/>
          <a:lstStyle/>
          <a:p>
            <a:pPr algn="ctr" indent="0" marL="0">
              <a:buNone/>
            </a:pPr>
            <a:r>
              <a:rPr lang="en-US" sz="3200" b="1" dirty="0">
                <a:solidFill>
                  <a:schemeClr val="accent1"/>
                </a:solidFill>
              </a:rPr>
              <a:t>10</a:t>
            </a:r>
            <a:endParaRPr lang="en-US" sz="3200" dirty="0"/>
          </a:p>
        </p:txBody>
      </p:sp>
      <p:sp>
        <p:nvSpPr>
          <p:cNvPr id="15" name="text-504"/>
          <p:cNvSpPr txBox="1"/>
          <p:nvPr/>
        </p:nvSpPr>
        <p:spPr>
          <a:xfrm>
            <a:off x="6931152" y="1965960"/>
            <a:ext cx="1691640" cy="548640"/>
          </a:xfrm>
          <a:prstGeom prst="rect">
            <a:avLst/>
          </a:prstGeom>
          <a:noFill/>
          <a:ln/>
        </p:spPr>
        <p:txBody>
          <a:bodyPr wrap="square" lIns="0" tIns="0" rIns="0" bIns="0" rtlCol="0" anchor="t"/>
          <a:lstStyle/>
          <a:p>
            <a:pPr algn="ctr" indent="0" marL="0">
              <a:buNone/>
            </a:pPr>
            <a:r>
              <a:rPr lang="en-US" sz="1200" dirty="0">
                <a:solidFill>
                  <a:schemeClr val="accent5"/>
                </a:solidFill>
              </a:rPr>
              <a:t>ML trajectory features</a:t>
            </a:r>
            <a:endParaRPr lang="en-US" sz="1200" dirty="0"/>
          </a:p>
        </p:txBody>
      </p:sp>
      <p:sp>
        <p:nvSpPr>
          <p:cNvPr id="16" name="card-505"/>
          <p:cNvSpPr/>
          <p:nvPr/>
        </p:nvSpPr>
        <p:spPr>
          <a:xfrm>
            <a:off x="457200" y="2788920"/>
            <a:ext cx="1965960" cy="1554480"/>
          </a:xfrm>
          <a:prstGeom prst="roundRect">
            <a:avLst>
              <a:gd name="adj" fmla="val 4706"/>
            </a:avLst>
          </a:prstGeom>
          <a:solidFill>
            <a:schemeClr val="bg2"/>
          </a:solidFill>
          <a:ln w="12700">
            <a:solidFill>
              <a:schemeClr val="bg2"/>
            </a:solidFill>
            <a:prstDash val="solid"/>
          </a:ln>
        </p:spPr>
      </p:sp>
      <p:sp>
        <p:nvSpPr>
          <p:cNvPr id="17" name="text-506"/>
          <p:cNvSpPr txBox="1"/>
          <p:nvPr/>
        </p:nvSpPr>
        <p:spPr>
          <a:xfrm>
            <a:off x="548640" y="2971800"/>
            <a:ext cx="1783080" cy="685800"/>
          </a:xfrm>
          <a:prstGeom prst="rect">
            <a:avLst/>
          </a:prstGeom>
          <a:noFill/>
          <a:ln/>
        </p:spPr>
        <p:txBody>
          <a:bodyPr wrap="square" lIns="0" tIns="0" rIns="0" bIns="0" rtlCol="0" anchor="ctr"/>
          <a:lstStyle/>
          <a:p>
            <a:pPr algn="ctr" indent="0" marL="0">
              <a:buNone/>
            </a:pPr>
            <a:r>
              <a:rPr lang="en-US" sz="3200" b="1" dirty="0">
                <a:solidFill>
                  <a:schemeClr val="accent2"/>
                </a:solidFill>
              </a:rPr>
              <a:t>~5.3k</a:t>
            </a:r>
            <a:endParaRPr lang="en-US" sz="3200" dirty="0"/>
          </a:p>
        </p:txBody>
      </p:sp>
      <p:sp>
        <p:nvSpPr>
          <p:cNvPr id="18" name="text-507"/>
          <p:cNvSpPr txBox="1"/>
          <p:nvPr/>
        </p:nvSpPr>
        <p:spPr>
          <a:xfrm>
            <a:off x="594360" y="3703320"/>
            <a:ext cx="1691640" cy="548640"/>
          </a:xfrm>
          <a:prstGeom prst="rect">
            <a:avLst/>
          </a:prstGeom>
          <a:noFill/>
          <a:ln/>
        </p:spPr>
        <p:txBody>
          <a:bodyPr wrap="square" lIns="0" tIns="0" rIns="0" bIns="0" rtlCol="0" anchor="t"/>
          <a:lstStyle/>
          <a:p>
            <a:pPr algn="ctr" indent="0" marL="0">
              <a:buNone/>
            </a:pPr>
            <a:r>
              <a:rPr lang="en-US" sz="1200" dirty="0">
                <a:solidFill>
                  <a:schemeClr val="accent5"/>
                </a:solidFill>
              </a:rPr>
              <a:t>lines of Python (backend)</a:t>
            </a:r>
            <a:endParaRPr lang="en-US" sz="1200" dirty="0"/>
          </a:p>
        </p:txBody>
      </p:sp>
      <p:sp>
        <p:nvSpPr>
          <p:cNvPr id="19" name="card-508"/>
          <p:cNvSpPr/>
          <p:nvPr/>
        </p:nvSpPr>
        <p:spPr>
          <a:xfrm>
            <a:off x="2569464" y="2788920"/>
            <a:ext cx="1965960" cy="1554480"/>
          </a:xfrm>
          <a:prstGeom prst="roundRect">
            <a:avLst>
              <a:gd name="adj" fmla="val 4706"/>
            </a:avLst>
          </a:prstGeom>
          <a:solidFill>
            <a:schemeClr val="bg2"/>
          </a:solidFill>
          <a:ln w="12700">
            <a:solidFill>
              <a:schemeClr val="bg2"/>
            </a:solidFill>
            <a:prstDash val="solid"/>
          </a:ln>
        </p:spPr>
      </p:sp>
      <p:sp>
        <p:nvSpPr>
          <p:cNvPr id="20" name="text-509"/>
          <p:cNvSpPr txBox="1"/>
          <p:nvPr/>
        </p:nvSpPr>
        <p:spPr>
          <a:xfrm>
            <a:off x="2660904" y="2971800"/>
            <a:ext cx="1783080" cy="685800"/>
          </a:xfrm>
          <a:prstGeom prst="rect">
            <a:avLst/>
          </a:prstGeom>
          <a:noFill/>
          <a:ln/>
        </p:spPr>
        <p:txBody>
          <a:bodyPr wrap="square" lIns="0" tIns="0" rIns="0" bIns="0" rtlCol="0" anchor="ctr"/>
          <a:lstStyle/>
          <a:p>
            <a:pPr algn="ctr" indent="0" marL="0">
              <a:buNone/>
            </a:pPr>
            <a:r>
              <a:rPr lang="en-US" sz="3200" b="1" dirty="0">
                <a:solidFill>
                  <a:schemeClr val="accent2"/>
                </a:solidFill>
              </a:rPr>
              <a:t>~9.9k</a:t>
            </a:r>
            <a:endParaRPr lang="en-US" sz="3200" dirty="0"/>
          </a:p>
        </p:txBody>
      </p:sp>
      <p:sp>
        <p:nvSpPr>
          <p:cNvPr id="21" name="text-510"/>
          <p:cNvSpPr txBox="1"/>
          <p:nvPr/>
        </p:nvSpPr>
        <p:spPr>
          <a:xfrm>
            <a:off x="2706624" y="3703320"/>
            <a:ext cx="1691640" cy="548640"/>
          </a:xfrm>
          <a:prstGeom prst="rect">
            <a:avLst/>
          </a:prstGeom>
          <a:noFill/>
          <a:ln/>
        </p:spPr>
        <p:txBody>
          <a:bodyPr wrap="square" lIns="0" tIns="0" rIns="0" bIns="0" rtlCol="0" anchor="t"/>
          <a:lstStyle/>
          <a:p>
            <a:pPr algn="ctr" indent="0" marL="0">
              <a:buNone/>
            </a:pPr>
            <a:r>
              <a:rPr lang="en-US" sz="1200" dirty="0">
                <a:solidFill>
                  <a:schemeClr val="accent5"/>
                </a:solidFill>
              </a:rPr>
              <a:t>lines of TypeScript (console)</a:t>
            </a:r>
            <a:endParaRPr lang="en-US" sz="1200" dirty="0"/>
          </a:p>
        </p:txBody>
      </p:sp>
      <p:sp>
        <p:nvSpPr>
          <p:cNvPr id="22" name="card-511"/>
          <p:cNvSpPr/>
          <p:nvPr/>
        </p:nvSpPr>
        <p:spPr>
          <a:xfrm>
            <a:off x="4681728" y="2788920"/>
            <a:ext cx="1965960" cy="1554480"/>
          </a:xfrm>
          <a:prstGeom prst="roundRect">
            <a:avLst>
              <a:gd name="adj" fmla="val 4706"/>
            </a:avLst>
          </a:prstGeom>
          <a:solidFill>
            <a:schemeClr val="bg2"/>
          </a:solidFill>
          <a:ln w="12700">
            <a:solidFill>
              <a:schemeClr val="bg2"/>
            </a:solidFill>
            <a:prstDash val="solid"/>
          </a:ln>
        </p:spPr>
      </p:sp>
      <p:sp>
        <p:nvSpPr>
          <p:cNvPr id="23" name="text-512"/>
          <p:cNvSpPr txBox="1"/>
          <p:nvPr/>
        </p:nvSpPr>
        <p:spPr>
          <a:xfrm>
            <a:off x="4773168" y="2971800"/>
            <a:ext cx="1783080" cy="685800"/>
          </a:xfrm>
          <a:prstGeom prst="rect">
            <a:avLst/>
          </a:prstGeom>
          <a:noFill/>
          <a:ln/>
        </p:spPr>
        <p:txBody>
          <a:bodyPr wrap="square" lIns="0" tIns="0" rIns="0" bIns="0" rtlCol="0" anchor="ctr"/>
          <a:lstStyle/>
          <a:p>
            <a:pPr algn="ctr" indent="0" marL="0">
              <a:buNone/>
            </a:pPr>
            <a:r>
              <a:rPr lang="en-US" sz="3200" b="1" dirty="0">
                <a:solidFill>
                  <a:schemeClr val="accent2"/>
                </a:solidFill>
              </a:rPr>
              <a:t>60 s</a:t>
            </a:r>
            <a:endParaRPr lang="en-US" sz="3200" dirty="0"/>
          </a:p>
        </p:txBody>
      </p:sp>
      <p:sp>
        <p:nvSpPr>
          <p:cNvPr id="24" name="text-513"/>
          <p:cNvSpPr txBox="1"/>
          <p:nvPr/>
        </p:nvSpPr>
        <p:spPr>
          <a:xfrm>
            <a:off x="4818888" y="3703320"/>
            <a:ext cx="1691640" cy="548640"/>
          </a:xfrm>
          <a:prstGeom prst="rect">
            <a:avLst/>
          </a:prstGeom>
          <a:noFill/>
          <a:ln/>
        </p:spPr>
        <p:txBody>
          <a:bodyPr wrap="square" lIns="0" tIns="0" rIns="0" bIns="0" rtlCol="0" anchor="t"/>
          <a:lstStyle/>
          <a:p>
            <a:pPr algn="ctr" indent="0" marL="0">
              <a:buNone/>
            </a:pPr>
            <a:r>
              <a:rPr lang="en-US" sz="1200" dirty="0">
                <a:solidFill>
                  <a:schemeClr val="accent5"/>
                </a:solidFill>
              </a:rPr>
              <a:t>absence-sweep interval</a:t>
            </a:r>
            <a:endParaRPr lang="en-US" sz="1200" dirty="0"/>
          </a:p>
        </p:txBody>
      </p:sp>
      <p:sp>
        <p:nvSpPr>
          <p:cNvPr id="25" name="card-514"/>
          <p:cNvSpPr/>
          <p:nvPr/>
        </p:nvSpPr>
        <p:spPr>
          <a:xfrm>
            <a:off x="6793992" y="2788920"/>
            <a:ext cx="1965960" cy="1554480"/>
          </a:xfrm>
          <a:prstGeom prst="roundRect">
            <a:avLst>
              <a:gd name="adj" fmla="val 4706"/>
            </a:avLst>
          </a:prstGeom>
          <a:solidFill>
            <a:schemeClr val="bg2"/>
          </a:solidFill>
          <a:ln w="12700">
            <a:solidFill>
              <a:schemeClr val="bg2"/>
            </a:solidFill>
            <a:prstDash val="solid"/>
          </a:ln>
        </p:spPr>
      </p:sp>
      <p:sp>
        <p:nvSpPr>
          <p:cNvPr id="26" name="text-515"/>
          <p:cNvSpPr txBox="1"/>
          <p:nvPr/>
        </p:nvSpPr>
        <p:spPr>
          <a:xfrm>
            <a:off x="6885432" y="2971800"/>
            <a:ext cx="1783080" cy="685800"/>
          </a:xfrm>
          <a:prstGeom prst="rect">
            <a:avLst/>
          </a:prstGeom>
          <a:noFill/>
          <a:ln/>
        </p:spPr>
        <p:txBody>
          <a:bodyPr wrap="square" lIns="0" tIns="0" rIns="0" bIns="0" rtlCol="0" anchor="ctr"/>
          <a:lstStyle/>
          <a:p>
            <a:pPr algn="ctr" indent="0" marL="0">
              <a:buNone/>
            </a:pPr>
            <a:r>
              <a:rPr lang="en-US" sz="3200" b="1" dirty="0">
                <a:solidFill>
                  <a:schemeClr val="accent2"/>
                </a:solidFill>
              </a:rPr>
              <a:t>6 h</a:t>
            </a:r>
            <a:endParaRPr lang="en-US" sz="3200" dirty="0"/>
          </a:p>
        </p:txBody>
      </p:sp>
      <p:sp>
        <p:nvSpPr>
          <p:cNvPr id="27" name="text-516"/>
          <p:cNvSpPr txBox="1"/>
          <p:nvPr/>
        </p:nvSpPr>
        <p:spPr>
          <a:xfrm>
            <a:off x="6931152" y="3703320"/>
            <a:ext cx="1691640" cy="548640"/>
          </a:xfrm>
          <a:prstGeom prst="rect">
            <a:avLst/>
          </a:prstGeom>
          <a:noFill/>
          <a:ln/>
        </p:spPr>
        <p:txBody>
          <a:bodyPr wrap="square" lIns="0" tIns="0" rIns="0" bIns="0" rtlCol="0" anchor="t"/>
          <a:lstStyle/>
          <a:p>
            <a:pPr algn="ctr" indent="0" marL="0">
              <a:buNone/>
            </a:pPr>
            <a:r>
              <a:rPr lang="en-US" sz="1200" dirty="0">
                <a:solidFill>
                  <a:schemeClr val="accent5"/>
                </a:solidFill>
              </a:rPr>
              <a:t>alert de-duplication window</a:t>
            </a:r>
            <a:endParaRPr lang="en-US" sz="1200" dirty="0"/>
          </a:p>
        </p:txBody>
      </p:sp>
      <p:sp>
        <p:nvSpPr>
          <p:cNvPr id="25" name="Slide Number Placeholder 0"/>
          <p:cNvSpPr>
            <a:spLocks noGrp="1"/>
          </p:cNvSpPr>
          <p:nvPr>
            <p:ph type="sldNum" sz="quarter" idx="4294967295"/>
          </p:nvPr>
        </p:nvSpPr>
        <p:spPr>
          <a:xfrm>
            <a:off x="8229600" y="479145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800" b="1" dirty="0">
                <a:solidFill>
                  <a:schemeClr val="tx2"/>
                </a:solidFill>
              </a:rPr>
              <a:t>Challenges &amp; How We Solved Them</a:t>
            </a:r>
            <a:endParaRPr lang="en-US" sz="2800" dirty="0"/>
          </a:p>
        </p:txBody>
      </p:sp>
      <p:sp>
        <p:nvSpPr>
          <p:cNvPr id="4" name="text-517"/>
          <p:cNvSpPr txBox="1"/>
          <p:nvPr/>
        </p:nvSpPr>
        <p:spPr>
          <a:xfrm>
            <a:off x="457200" y="914400"/>
            <a:ext cx="3657600" cy="228600"/>
          </a:xfrm>
          <a:prstGeom prst="rect">
            <a:avLst/>
          </a:prstGeom>
          <a:noFill/>
          <a:ln/>
        </p:spPr>
        <p:txBody>
          <a:bodyPr wrap="square" lIns="0" tIns="0" rIns="0" bIns="0" rtlCol="0" anchor="t"/>
          <a:lstStyle/>
          <a:p>
            <a:pPr indent="0" marL="0">
              <a:buNone/>
            </a:pPr>
            <a:r>
              <a:rPr lang="en-US" sz="1100" b="1" spc="100" kern="0" dirty="0">
                <a:solidFill>
                  <a:schemeClr val="accent5"/>
                </a:solidFill>
              </a:rPr>
              <a:t>CHALLENGE</a:t>
            </a:r>
            <a:endParaRPr lang="en-US" sz="1100" dirty="0"/>
          </a:p>
        </p:txBody>
      </p:sp>
      <p:sp>
        <p:nvSpPr>
          <p:cNvPr id="5" name="text-518"/>
          <p:cNvSpPr txBox="1"/>
          <p:nvPr/>
        </p:nvSpPr>
        <p:spPr>
          <a:xfrm>
            <a:off x="4663440" y="914400"/>
            <a:ext cx="3657600" cy="228600"/>
          </a:xfrm>
          <a:prstGeom prst="rect">
            <a:avLst/>
          </a:prstGeom>
          <a:noFill/>
          <a:ln/>
        </p:spPr>
        <p:txBody>
          <a:bodyPr wrap="square" lIns="0" tIns="0" rIns="0" bIns="0" rtlCol="0" anchor="t"/>
          <a:lstStyle/>
          <a:p>
            <a:pPr indent="0" marL="0">
              <a:buNone/>
            </a:pPr>
            <a:r>
              <a:rPr lang="en-US" sz="1100" b="1" spc="100" kern="0" dirty="0">
                <a:solidFill>
                  <a:schemeClr val="accent5"/>
                </a:solidFill>
              </a:rPr>
              <a:t>SOLUTION</a:t>
            </a:r>
            <a:endParaRPr lang="en-US" sz="1100" dirty="0"/>
          </a:p>
        </p:txBody>
      </p:sp>
      <p:sp>
        <p:nvSpPr>
          <p:cNvPr id="6" name="card-519"/>
          <p:cNvSpPr/>
          <p:nvPr/>
        </p:nvSpPr>
        <p:spPr>
          <a:xfrm>
            <a:off x="457200" y="1188720"/>
            <a:ext cx="3886200" cy="402336"/>
          </a:xfrm>
          <a:prstGeom prst="roundRect">
            <a:avLst>
              <a:gd name="adj" fmla="val 18182"/>
            </a:avLst>
          </a:prstGeom>
          <a:solidFill>
            <a:schemeClr val="bg2"/>
          </a:solidFill>
          <a:ln w="12700">
            <a:solidFill>
              <a:schemeClr val="bg2"/>
            </a:solidFill>
            <a:prstDash val="solid"/>
          </a:ln>
        </p:spPr>
      </p:sp>
      <p:sp>
        <p:nvSpPr>
          <p:cNvPr id="7" name="text-520"/>
          <p:cNvSpPr txBox="1"/>
          <p:nvPr/>
        </p:nvSpPr>
        <p:spPr>
          <a:xfrm>
            <a:off x="594360" y="1188720"/>
            <a:ext cx="3657600" cy="402336"/>
          </a:xfrm>
          <a:prstGeom prst="rect">
            <a:avLst/>
          </a:prstGeom>
          <a:noFill/>
          <a:ln/>
        </p:spPr>
        <p:txBody>
          <a:bodyPr wrap="square" lIns="0" tIns="0" rIns="0" bIns="0" rtlCol="0" anchor="ctr"/>
          <a:lstStyle/>
          <a:p>
            <a:pPr indent="0" marL="0">
              <a:buNone/>
            </a:pPr>
            <a:r>
              <a:rPr lang="en-US" sz="1250" dirty="0">
                <a:solidFill>
                  <a:schemeClr val="tx1"/>
                </a:solidFill>
              </a:rPr>
              <a:t>Coverage bias floods alerts</a:t>
            </a:r>
            <a:endParaRPr lang="en-US" sz="1250" dirty="0"/>
          </a:p>
        </p:txBody>
      </p:sp>
      <p:sp>
        <p:nvSpPr>
          <p:cNvPr id="8" name="arrow-521"/>
          <p:cNvSpPr/>
          <p:nvPr/>
        </p:nvSpPr>
        <p:spPr>
          <a:xfrm>
            <a:off x="4370832" y="1389888"/>
            <a:ext cx="246888" cy="0"/>
          </a:xfrm>
          <a:prstGeom prst="line">
            <a:avLst/>
          </a:prstGeom>
          <a:noFill/>
          <a:ln w="19050">
            <a:solidFill>
              <a:schemeClr val="accent5"/>
            </a:solidFill>
            <a:prstDash val="solid"/>
            <a:tailEnd type="triangle"/>
          </a:ln>
        </p:spPr>
      </p:sp>
      <p:sp>
        <p:nvSpPr>
          <p:cNvPr id="9" name="card-522"/>
          <p:cNvSpPr/>
          <p:nvPr/>
        </p:nvSpPr>
        <p:spPr>
          <a:xfrm>
            <a:off x="4663440" y="1188720"/>
            <a:ext cx="4023360" cy="402336"/>
          </a:xfrm>
          <a:prstGeom prst="roundRect">
            <a:avLst>
              <a:gd name="adj" fmla="val 18182"/>
            </a:avLst>
          </a:prstGeom>
          <a:solidFill>
            <a:schemeClr val="tx2"/>
          </a:solidFill>
          <a:ln w="12700">
            <a:solidFill>
              <a:schemeClr val="tx2"/>
            </a:solidFill>
            <a:prstDash val="solid"/>
          </a:ln>
        </p:spPr>
      </p:sp>
      <p:sp>
        <p:nvSpPr>
          <p:cNvPr id="10" name="text-523"/>
          <p:cNvSpPr txBox="1"/>
          <p:nvPr/>
        </p:nvSpPr>
        <p:spPr>
          <a:xfrm>
            <a:off x="4800600" y="1188720"/>
            <a:ext cx="3794760" cy="402336"/>
          </a:xfrm>
          <a:prstGeom prst="rect">
            <a:avLst/>
          </a:prstGeom>
          <a:noFill/>
          <a:ln/>
        </p:spPr>
        <p:txBody>
          <a:bodyPr wrap="square" lIns="0" tIns="0" rIns="0" bIns="0" rtlCol="0" anchor="ctr"/>
          <a:lstStyle/>
          <a:p>
            <a:pPr indent="0" marL="0">
              <a:buNone/>
            </a:pPr>
            <a:r>
              <a:rPr lang="en-US" sz="1250" dirty="0">
                <a:solidFill>
                  <a:schemeClr val="bg1"/>
                </a:solidFill>
              </a:rPr>
              <a:t>Per-cell, per-class p99 coverage prior (H3)</a:t>
            </a:r>
            <a:endParaRPr lang="en-US" sz="1250" dirty="0"/>
          </a:p>
        </p:txBody>
      </p:sp>
      <p:sp>
        <p:nvSpPr>
          <p:cNvPr id="11" name="card-524"/>
          <p:cNvSpPr/>
          <p:nvPr/>
        </p:nvSpPr>
        <p:spPr>
          <a:xfrm>
            <a:off x="457200" y="1664208"/>
            <a:ext cx="3886200" cy="402336"/>
          </a:xfrm>
          <a:prstGeom prst="roundRect">
            <a:avLst>
              <a:gd name="adj" fmla="val 18182"/>
            </a:avLst>
          </a:prstGeom>
          <a:solidFill>
            <a:schemeClr val="bg2"/>
          </a:solidFill>
          <a:ln w="12700">
            <a:solidFill>
              <a:schemeClr val="bg2"/>
            </a:solidFill>
            <a:prstDash val="solid"/>
          </a:ln>
        </p:spPr>
      </p:sp>
      <p:sp>
        <p:nvSpPr>
          <p:cNvPr id="12" name="text-525"/>
          <p:cNvSpPr txBox="1"/>
          <p:nvPr/>
        </p:nvSpPr>
        <p:spPr>
          <a:xfrm>
            <a:off x="594360" y="1664208"/>
            <a:ext cx="3657600" cy="402336"/>
          </a:xfrm>
          <a:prstGeom prst="rect">
            <a:avLst/>
          </a:prstGeom>
          <a:noFill/>
          <a:ln/>
        </p:spPr>
        <p:txBody>
          <a:bodyPr wrap="square" lIns="0" tIns="0" rIns="0" bIns="0" rtlCol="0" anchor="ctr"/>
          <a:lstStyle/>
          <a:p>
            <a:pPr indent="0" marL="0">
              <a:buNone/>
            </a:pPr>
            <a:r>
              <a:rPr lang="en-US" sz="1250" dirty="0">
                <a:solidFill>
                  <a:schemeClr val="tx1"/>
                </a:solidFill>
              </a:rPr>
              <a:t>Silence produces no event to react to</a:t>
            </a:r>
            <a:endParaRPr lang="en-US" sz="1250" dirty="0"/>
          </a:p>
        </p:txBody>
      </p:sp>
      <p:sp>
        <p:nvSpPr>
          <p:cNvPr id="13" name="arrow-526"/>
          <p:cNvSpPr/>
          <p:nvPr/>
        </p:nvSpPr>
        <p:spPr>
          <a:xfrm>
            <a:off x="4370832" y="1865376"/>
            <a:ext cx="246888" cy="0"/>
          </a:xfrm>
          <a:prstGeom prst="line">
            <a:avLst/>
          </a:prstGeom>
          <a:noFill/>
          <a:ln w="19050">
            <a:solidFill>
              <a:schemeClr val="accent5"/>
            </a:solidFill>
            <a:prstDash val="solid"/>
            <a:tailEnd type="triangle"/>
          </a:ln>
        </p:spPr>
      </p:sp>
      <p:sp>
        <p:nvSpPr>
          <p:cNvPr id="14" name="card-527"/>
          <p:cNvSpPr/>
          <p:nvPr/>
        </p:nvSpPr>
        <p:spPr>
          <a:xfrm>
            <a:off x="4663440" y="1664208"/>
            <a:ext cx="4023360" cy="402336"/>
          </a:xfrm>
          <a:prstGeom prst="roundRect">
            <a:avLst>
              <a:gd name="adj" fmla="val 18182"/>
            </a:avLst>
          </a:prstGeom>
          <a:solidFill>
            <a:schemeClr val="tx2"/>
          </a:solidFill>
          <a:ln w="12700">
            <a:solidFill>
              <a:schemeClr val="tx2"/>
            </a:solidFill>
            <a:prstDash val="solid"/>
          </a:ln>
        </p:spPr>
      </p:sp>
      <p:sp>
        <p:nvSpPr>
          <p:cNvPr id="15" name="text-528"/>
          <p:cNvSpPr txBox="1"/>
          <p:nvPr/>
        </p:nvSpPr>
        <p:spPr>
          <a:xfrm>
            <a:off x="4800600" y="1664208"/>
            <a:ext cx="3794760" cy="402336"/>
          </a:xfrm>
          <a:prstGeom prst="rect">
            <a:avLst/>
          </a:prstGeom>
          <a:noFill/>
          <a:ln/>
        </p:spPr>
        <p:txBody>
          <a:bodyPr wrap="square" lIns="0" tIns="0" rIns="0" bIns="0" rtlCol="0" anchor="ctr"/>
          <a:lstStyle/>
          <a:p>
            <a:pPr indent="0" marL="0">
              <a:buNone/>
            </a:pPr>
            <a:r>
              <a:rPr lang="en-US" sz="1250" dirty="0">
                <a:solidFill>
                  <a:schemeClr val="bg1"/>
                </a:solidFill>
              </a:rPr>
              <a:t>Absence-triggered sweeper over hot state every 60 s</a:t>
            </a:r>
            <a:endParaRPr lang="en-US" sz="1250" dirty="0"/>
          </a:p>
        </p:txBody>
      </p:sp>
      <p:sp>
        <p:nvSpPr>
          <p:cNvPr id="16" name="card-529"/>
          <p:cNvSpPr/>
          <p:nvPr/>
        </p:nvSpPr>
        <p:spPr>
          <a:xfrm>
            <a:off x="457200" y="2139696"/>
            <a:ext cx="3886200" cy="402336"/>
          </a:xfrm>
          <a:prstGeom prst="roundRect">
            <a:avLst>
              <a:gd name="adj" fmla="val 18182"/>
            </a:avLst>
          </a:prstGeom>
          <a:solidFill>
            <a:schemeClr val="bg2"/>
          </a:solidFill>
          <a:ln w="12700">
            <a:solidFill>
              <a:schemeClr val="bg2"/>
            </a:solidFill>
            <a:prstDash val="solid"/>
          </a:ln>
        </p:spPr>
      </p:sp>
      <p:sp>
        <p:nvSpPr>
          <p:cNvPr id="17" name="text-530"/>
          <p:cNvSpPr txBox="1"/>
          <p:nvPr/>
        </p:nvSpPr>
        <p:spPr>
          <a:xfrm>
            <a:off x="594360" y="2139696"/>
            <a:ext cx="3657600" cy="402336"/>
          </a:xfrm>
          <a:prstGeom prst="rect">
            <a:avLst/>
          </a:prstGeom>
          <a:noFill/>
          <a:ln/>
        </p:spPr>
        <p:txBody>
          <a:bodyPr wrap="square" lIns="0" tIns="0" rIns="0" bIns="0" rtlCol="0" anchor="ctr"/>
          <a:lstStyle/>
          <a:p>
            <a:pPr indent="0" marL="0">
              <a:buNone/>
            </a:pPr>
            <a:r>
              <a:rPr lang="en-US" sz="1250" dirty="0">
                <a:solidFill>
                  <a:schemeClr val="tx1"/>
                </a:solidFill>
              </a:rPr>
              <a:t>Same vessel re-alerted every sweep</a:t>
            </a:r>
            <a:endParaRPr lang="en-US" sz="1250" dirty="0"/>
          </a:p>
        </p:txBody>
      </p:sp>
      <p:sp>
        <p:nvSpPr>
          <p:cNvPr id="18" name="arrow-531"/>
          <p:cNvSpPr/>
          <p:nvPr/>
        </p:nvSpPr>
        <p:spPr>
          <a:xfrm>
            <a:off x="4370832" y="2340864"/>
            <a:ext cx="246888" cy="0"/>
          </a:xfrm>
          <a:prstGeom prst="line">
            <a:avLst/>
          </a:prstGeom>
          <a:noFill/>
          <a:ln w="19050">
            <a:solidFill>
              <a:schemeClr val="accent5"/>
            </a:solidFill>
            <a:prstDash val="solid"/>
            <a:tailEnd type="triangle"/>
          </a:ln>
        </p:spPr>
      </p:sp>
      <p:sp>
        <p:nvSpPr>
          <p:cNvPr id="19" name="card-532"/>
          <p:cNvSpPr/>
          <p:nvPr/>
        </p:nvSpPr>
        <p:spPr>
          <a:xfrm>
            <a:off x="4663440" y="2139696"/>
            <a:ext cx="4023360" cy="402336"/>
          </a:xfrm>
          <a:prstGeom prst="roundRect">
            <a:avLst>
              <a:gd name="adj" fmla="val 18182"/>
            </a:avLst>
          </a:prstGeom>
          <a:solidFill>
            <a:schemeClr val="tx2"/>
          </a:solidFill>
          <a:ln w="12700">
            <a:solidFill>
              <a:schemeClr val="tx2"/>
            </a:solidFill>
            <a:prstDash val="solid"/>
          </a:ln>
        </p:spPr>
      </p:sp>
      <p:sp>
        <p:nvSpPr>
          <p:cNvPr id="20" name="text-533"/>
          <p:cNvSpPr txBox="1"/>
          <p:nvPr/>
        </p:nvSpPr>
        <p:spPr>
          <a:xfrm>
            <a:off x="4800600" y="2139696"/>
            <a:ext cx="3794760" cy="402336"/>
          </a:xfrm>
          <a:prstGeom prst="rect">
            <a:avLst/>
          </a:prstGeom>
          <a:noFill/>
          <a:ln/>
        </p:spPr>
        <p:txBody>
          <a:bodyPr wrap="square" lIns="0" tIns="0" rIns="0" bIns="0" rtlCol="0" anchor="ctr"/>
          <a:lstStyle/>
          <a:p>
            <a:pPr indent="0" marL="0">
              <a:buNone/>
            </a:pPr>
            <a:r>
              <a:rPr lang="en-US" sz="1250" dirty="0">
                <a:solidFill>
                  <a:schemeClr val="bg1"/>
                </a:solidFill>
              </a:rPr>
              <a:t>Dedup index: one alert per vessel / type / 6 h</a:t>
            </a:r>
            <a:endParaRPr lang="en-US" sz="1250" dirty="0"/>
          </a:p>
        </p:txBody>
      </p:sp>
      <p:sp>
        <p:nvSpPr>
          <p:cNvPr id="21" name="card-534"/>
          <p:cNvSpPr/>
          <p:nvPr/>
        </p:nvSpPr>
        <p:spPr>
          <a:xfrm>
            <a:off x="457200" y="2615184"/>
            <a:ext cx="3886200" cy="402336"/>
          </a:xfrm>
          <a:prstGeom prst="roundRect">
            <a:avLst>
              <a:gd name="adj" fmla="val 18182"/>
            </a:avLst>
          </a:prstGeom>
          <a:solidFill>
            <a:schemeClr val="bg2"/>
          </a:solidFill>
          <a:ln w="12700">
            <a:solidFill>
              <a:schemeClr val="bg2"/>
            </a:solidFill>
            <a:prstDash val="solid"/>
          </a:ln>
        </p:spPr>
      </p:sp>
      <p:sp>
        <p:nvSpPr>
          <p:cNvPr id="22" name="text-535"/>
          <p:cNvSpPr txBox="1"/>
          <p:nvPr/>
        </p:nvSpPr>
        <p:spPr>
          <a:xfrm>
            <a:off x="594360" y="2615184"/>
            <a:ext cx="3657600" cy="402336"/>
          </a:xfrm>
          <a:prstGeom prst="rect">
            <a:avLst/>
          </a:prstGeom>
          <a:noFill/>
          <a:ln/>
        </p:spPr>
        <p:txBody>
          <a:bodyPr wrap="square" lIns="0" tIns="0" rIns="0" bIns="0" rtlCol="0" anchor="ctr"/>
          <a:lstStyle/>
          <a:p>
            <a:pPr indent="0" marL="0">
              <a:buNone/>
            </a:pPr>
            <a:r>
              <a:rPr lang="en-US" sz="1250" dirty="0">
                <a:solidFill>
                  <a:schemeClr val="tx1"/>
                </a:solidFill>
              </a:rPr>
              <a:t>Sentinel values fake impossible speeds</a:t>
            </a:r>
            <a:endParaRPr lang="en-US" sz="1250" dirty="0"/>
          </a:p>
        </p:txBody>
      </p:sp>
      <p:sp>
        <p:nvSpPr>
          <p:cNvPr id="23" name="arrow-536"/>
          <p:cNvSpPr/>
          <p:nvPr/>
        </p:nvSpPr>
        <p:spPr>
          <a:xfrm>
            <a:off x="4370832" y="2816352"/>
            <a:ext cx="246888" cy="0"/>
          </a:xfrm>
          <a:prstGeom prst="line">
            <a:avLst/>
          </a:prstGeom>
          <a:noFill/>
          <a:ln w="19050">
            <a:solidFill>
              <a:schemeClr val="accent5"/>
            </a:solidFill>
            <a:prstDash val="solid"/>
            <a:tailEnd type="triangle"/>
          </a:ln>
        </p:spPr>
      </p:sp>
      <p:sp>
        <p:nvSpPr>
          <p:cNvPr id="24" name="card-537"/>
          <p:cNvSpPr/>
          <p:nvPr/>
        </p:nvSpPr>
        <p:spPr>
          <a:xfrm>
            <a:off x="4663440" y="2615184"/>
            <a:ext cx="4023360" cy="402336"/>
          </a:xfrm>
          <a:prstGeom prst="roundRect">
            <a:avLst>
              <a:gd name="adj" fmla="val 18182"/>
            </a:avLst>
          </a:prstGeom>
          <a:solidFill>
            <a:schemeClr val="tx2"/>
          </a:solidFill>
          <a:ln w="12700">
            <a:solidFill>
              <a:schemeClr val="tx2"/>
            </a:solidFill>
            <a:prstDash val="solid"/>
          </a:ln>
        </p:spPr>
      </p:sp>
      <p:sp>
        <p:nvSpPr>
          <p:cNvPr id="25" name="text-538"/>
          <p:cNvSpPr txBox="1"/>
          <p:nvPr/>
        </p:nvSpPr>
        <p:spPr>
          <a:xfrm>
            <a:off x="4800600" y="2615184"/>
            <a:ext cx="3794760" cy="402336"/>
          </a:xfrm>
          <a:prstGeom prst="rect">
            <a:avLst/>
          </a:prstGeom>
          <a:noFill/>
          <a:ln/>
        </p:spPr>
        <p:txBody>
          <a:bodyPr wrap="square" lIns="0" tIns="0" rIns="0" bIns="0" rtlCol="0" anchor="ctr"/>
          <a:lstStyle/>
          <a:p>
            <a:pPr indent="0" marL="0">
              <a:buNone/>
            </a:pPr>
            <a:r>
              <a:rPr lang="en-US" sz="1250" dirty="0">
                <a:solidFill>
                  <a:schemeClr val="bg1"/>
                </a:solidFill>
              </a:rPr>
              <a:t>Single shared validator + dead-letter queue</a:t>
            </a:r>
            <a:endParaRPr lang="en-US" sz="1250" dirty="0"/>
          </a:p>
        </p:txBody>
      </p:sp>
      <p:sp>
        <p:nvSpPr>
          <p:cNvPr id="26" name="card-539"/>
          <p:cNvSpPr/>
          <p:nvPr/>
        </p:nvSpPr>
        <p:spPr>
          <a:xfrm>
            <a:off x="457200" y="3090672"/>
            <a:ext cx="3886200" cy="402336"/>
          </a:xfrm>
          <a:prstGeom prst="roundRect">
            <a:avLst>
              <a:gd name="adj" fmla="val 18182"/>
            </a:avLst>
          </a:prstGeom>
          <a:solidFill>
            <a:schemeClr val="bg2"/>
          </a:solidFill>
          <a:ln w="12700">
            <a:solidFill>
              <a:schemeClr val="bg2"/>
            </a:solidFill>
            <a:prstDash val="solid"/>
          </a:ln>
        </p:spPr>
      </p:sp>
      <p:sp>
        <p:nvSpPr>
          <p:cNvPr id="27" name="text-540"/>
          <p:cNvSpPr txBox="1"/>
          <p:nvPr/>
        </p:nvSpPr>
        <p:spPr>
          <a:xfrm>
            <a:off x="594360" y="3090672"/>
            <a:ext cx="3657600" cy="402336"/>
          </a:xfrm>
          <a:prstGeom prst="rect">
            <a:avLst/>
          </a:prstGeom>
          <a:noFill/>
          <a:ln/>
        </p:spPr>
        <p:txBody>
          <a:bodyPr wrap="square" lIns="0" tIns="0" rIns="0" bIns="0" rtlCol="0" anchor="ctr"/>
          <a:lstStyle/>
          <a:p>
            <a:pPr indent="0" marL="0">
              <a:buNone/>
            </a:pPr>
            <a:r>
              <a:rPr lang="en-US" sz="1250" dirty="0">
                <a:solidFill>
                  <a:schemeClr val="tx1"/>
                </a:solidFill>
              </a:rPr>
              <a:t>Ordering &amp; crash safety</a:t>
            </a:r>
            <a:endParaRPr lang="en-US" sz="1250" dirty="0"/>
          </a:p>
        </p:txBody>
      </p:sp>
      <p:sp>
        <p:nvSpPr>
          <p:cNvPr id="28" name="arrow-541"/>
          <p:cNvSpPr/>
          <p:nvPr/>
        </p:nvSpPr>
        <p:spPr>
          <a:xfrm>
            <a:off x="4370832" y="3291840"/>
            <a:ext cx="246888" cy="0"/>
          </a:xfrm>
          <a:prstGeom prst="line">
            <a:avLst/>
          </a:prstGeom>
          <a:noFill/>
          <a:ln w="19050">
            <a:solidFill>
              <a:schemeClr val="accent5"/>
            </a:solidFill>
            <a:prstDash val="solid"/>
            <a:tailEnd type="triangle"/>
          </a:ln>
        </p:spPr>
      </p:sp>
      <p:sp>
        <p:nvSpPr>
          <p:cNvPr id="29" name="card-542"/>
          <p:cNvSpPr/>
          <p:nvPr/>
        </p:nvSpPr>
        <p:spPr>
          <a:xfrm>
            <a:off x="4663440" y="3090672"/>
            <a:ext cx="4023360" cy="402336"/>
          </a:xfrm>
          <a:prstGeom prst="roundRect">
            <a:avLst>
              <a:gd name="adj" fmla="val 18182"/>
            </a:avLst>
          </a:prstGeom>
          <a:solidFill>
            <a:schemeClr val="tx2"/>
          </a:solidFill>
          <a:ln w="12700">
            <a:solidFill>
              <a:schemeClr val="tx2"/>
            </a:solidFill>
            <a:prstDash val="solid"/>
          </a:ln>
        </p:spPr>
      </p:sp>
      <p:sp>
        <p:nvSpPr>
          <p:cNvPr id="30" name="text-543"/>
          <p:cNvSpPr txBox="1"/>
          <p:nvPr/>
        </p:nvSpPr>
        <p:spPr>
          <a:xfrm>
            <a:off x="4800600" y="3090672"/>
            <a:ext cx="3794760" cy="402336"/>
          </a:xfrm>
          <a:prstGeom prst="rect">
            <a:avLst/>
          </a:prstGeom>
          <a:noFill/>
          <a:ln/>
        </p:spPr>
        <p:txBody>
          <a:bodyPr wrap="square" lIns="0" tIns="0" rIns="0" bIns="0" rtlCol="0" anchor="ctr"/>
          <a:lstStyle/>
          <a:p>
            <a:pPr indent="0" marL="0">
              <a:buNone/>
            </a:pPr>
            <a:r>
              <a:rPr lang="en-US" sz="1250" dirty="0">
                <a:solidFill>
                  <a:schemeClr val="bg1"/>
                </a:solidFill>
              </a:rPr>
              <a:t>MMSI keys, idempotent (mmsi, ts), commit after DB txn</a:t>
            </a:r>
            <a:endParaRPr lang="en-US" sz="1250" dirty="0"/>
          </a:p>
        </p:txBody>
      </p:sp>
      <p:sp>
        <p:nvSpPr>
          <p:cNvPr id="31" name="card-544"/>
          <p:cNvSpPr/>
          <p:nvPr/>
        </p:nvSpPr>
        <p:spPr>
          <a:xfrm>
            <a:off x="457200" y="3566160"/>
            <a:ext cx="3886200" cy="402336"/>
          </a:xfrm>
          <a:prstGeom prst="roundRect">
            <a:avLst>
              <a:gd name="adj" fmla="val 18182"/>
            </a:avLst>
          </a:prstGeom>
          <a:solidFill>
            <a:schemeClr val="bg2"/>
          </a:solidFill>
          <a:ln w="12700">
            <a:solidFill>
              <a:schemeClr val="bg2"/>
            </a:solidFill>
            <a:prstDash val="solid"/>
          </a:ln>
        </p:spPr>
      </p:sp>
      <p:sp>
        <p:nvSpPr>
          <p:cNvPr id="32" name="text-545"/>
          <p:cNvSpPr txBox="1"/>
          <p:nvPr/>
        </p:nvSpPr>
        <p:spPr>
          <a:xfrm>
            <a:off x="594360" y="3566160"/>
            <a:ext cx="3657600" cy="402336"/>
          </a:xfrm>
          <a:prstGeom prst="rect">
            <a:avLst/>
          </a:prstGeom>
          <a:noFill/>
          <a:ln/>
        </p:spPr>
        <p:txBody>
          <a:bodyPr wrap="square" lIns="0" tIns="0" rIns="0" bIns="0" rtlCol="0" anchor="ctr"/>
          <a:lstStyle/>
          <a:p>
            <a:pPr indent="0" marL="0">
              <a:buNone/>
            </a:pPr>
            <a:r>
              <a:rPr lang="en-US" sz="1250" dirty="0">
                <a:solidFill>
                  <a:schemeClr val="tx1"/>
                </a:solidFill>
              </a:rPr>
              <a:t>Leaflet stalls past ~2k markers</a:t>
            </a:r>
            <a:endParaRPr lang="en-US" sz="1250" dirty="0"/>
          </a:p>
        </p:txBody>
      </p:sp>
      <p:sp>
        <p:nvSpPr>
          <p:cNvPr id="33" name="arrow-546"/>
          <p:cNvSpPr/>
          <p:nvPr/>
        </p:nvSpPr>
        <p:spPr>
          <a:xfrm>
            <a:off x="4370832" y="3767328"/>
            <a:ext cx="246888" cy="0"/>
          </a:xfrm>
          <a:prstGeom prst="line">
            <a:avLst/>
          </a:prstGeom>
          <a:noFill/>
          <a:ln w="19050">
            <a:solidFill>
              <a:schemeClr val="accent5"/>
            </a:solidFill>
            <a:prstDash val="solid"/>
            <a:tailEnd type="triangle"/>
          </a:ln>
        </p:spPr>
      </p:sp>
      <p:sp>
        <p:nvSpPr>
          <p:cNvPr id="34" name="card-547"/>
          <p:cNvSpPr/>
          <p:nvPr/>
        </p:nvSpPr>
        <p:spPr>
          <a:xfrm>
            <a:off x="4663440" y="3566160"/>
            <a:ext cx="4023360" cy="402336"/>
          </a:xfrm>
          <a:prstGeom prst="roundRect">
            <a:avLst>
              <a:gd name="adj" fmla="val 18182"/>
            </a:avLst>
          </a:prstGeom>
          <a:solidFill>
            <a:schemeClr val="tx2"/>
          </a:solidFill>
          <a:ln w="12700">
            <a:solidFill>
              <a:schemeClr val="tx2"/>
            </a:solidFill>
            <a:prstDash val="solid"/>
          </a:ln>
        </p:spPr>
      </p:sp>
      <p:sp>
        <p:nvSpPr>
          <p:cNvPr id="35" name="text-548"/>
          <p:cNvSpPr txBox="1"/>
          <p:nvPr/>
        </p:nvSpPr>
        <p:spPr>
          <a:xfrm>
            <a:off x="4800600" y="3566160"/>
            <a:ext cx="3794760" cy="402336"/>
          </a:xfrm>
          <a:prstGeom prst="rect">
            <a:avLst/>
          </a:prstGeom>
          <a:noFill/>
          <a:ln/>
        </p:spPr>
        <p:txBody>
          <a:bodyPr wrap="square" lIns="0" tIns="0" rIns="0" bIns="0" rtlCol="0" anchor="ctr"/>
          <a:lstStyle/>
          <a:p>
            <a:pPr indent="0" marL="0">
              <a:buNone/>
            </a:pPr>
            <a:r>
              <a:rPr lang="en-US" sz="1250" dirty="0">
                <a:solidFill>
                  <a:schemeClr val="bg1"/>
                </a:solidFill>
              </a:rPr>
              <a:t>Deck.gl WebGL layers, in-place updates</a:t>
            </a:r>
            <a:endParaRPr lang="en-US" sz="1250" dirty="0"/>
          </a:p>
        </p:txBody>
      </p:sp>
      <p:sp>
        <p:nvSpPr>
          <p:cNvPr id="36" name="card-549"/>
          <p:cNvSpPr/>
          <p:nvPr/>
        </p:nvSpPr>
        <p:spPr>
          <a:xfrm>
            <a:off x="457200" y="4041648"/>
            <a:ext cx="3886200" cy="402336"/>
          </a:xfrm>
          <a:prstGeom prst="roundRect">
            <a:avLst>
              <a:gd name="adj" fmla="val 18182"/>
            </a:avLst>
          </a:prstGeom>
          <a:solidFill>
            <a:schemeClr val="bg2"/>
          </a:solidFill>
          <a:ln w="12700">
            <a:solidFill>
              <a:schemeClr val="bg2"/>
            </a:solidFill>
            <a:prstDash val="solid"/>
          </a:ln>
        </p:spPr>
      </p:sp>
      <p:sp>
        <p:nvSpPr>
          <p:cNvPr id="37" name="text-550"/>
          <p:cNvSpPr txBox="1"/>
          <p:nvPr/>
        </p:nvSpPr>
        <p:spPr>
          <a:xfrm>
            <a:off x="594360" y="4041648"/>
            <a:ext cx="3657600" cy="402336"/>
          </a:xfrm>
          <a:prstGeom prst="rect">
            <a:avLst/>
          </a:prstGeom>
          <a:noFill/>
          <a:ln/>
        </p:spPr>
        <p:txBody>
          <a:bodyPr wrap="square" lIns="0" tIns="0" rIns="0" bIns="0" rtlCol="0" anchor="ctr"/>
          <a:lstStyle/>
          <a:p>
            <a:pPr indent="0" marL="0">
              <a:buNone/>
            </a:pPr>
            <a:r>
              <a:rPr lang="en-US" sz="1250" dirty="0">
                <a:solidFill>
                  <a:schemeClr val="tx1"/>
                </a:solidFill>
              </a:rPr>
              <a:t>Spark + stream exceed laptop RAM</a:t>
            </a:r>
            <a:endParaRPr lang="en-US" sz="1250" dirty="0"/>
          </a:p>
        </p:txBody>
      </p:sp>
      <p:sp>
        <p:nvSpPr>
          <p:cNvPr id="38" name="arrow-551"/>
          <p:cNvSpPr/>
          <p:nvPr/>
        </p:nvSpPr>
        <p:spPr>
          <a:xfrm>
            <a:off x="4370832" y="4242816"/>
            <a:ext cx="246888" cy="0"/>
          </a:xfrm>
          <a:prstGeom prst="line">
            <a:avLst/>
          </a:prstGeom>
          <a:noFill/>
          <a:ln w="19050">
            <a:solidFill>
              <a:schemeClr val="accent5"/>
            </a:solidFill>
            <a:prstDash val="solid"/>
            <a:tailEnd type="triangle"/>
          </a:ln>
        </p:spPr>
      </p:sp>
      <p:sp>
        <p:nvSpPr>
          <p:cNvPr id="39" name="card-552"/>
          <p:cNvSpPr/>
          <p:nvPr/>
        </p:nvSpPr>
        <p:spPr>
          <a:xfrm>
            <a:off x="4663440" y="4041648"/>
            <a:ext cx="4023360" cy="402336"/>
          </a:xfrm>
          <a:prstGeom prst="roundRect">
            <a:avLst>
              <a:gd name="adj" fmla="val 18182"/>
            </a:avLst>
          </a:prstGeom>
          <a:solidFill>
            <a:schemeClr val="tx2"/>
          </a:solidFill>
          <a:ln w="12700">
            <a:solidFill>
              <a:schemeClr val="tx2"/>
            </a:solidFill>
            <a:prstDash val="solid"/>
          </a:ln>
        </p:spPr>
      </p:sp>
      <p:sp>
        <p:nvSpPr>
          <p:cNvPr id="40" name="text-553"/>
          <p:cNvSpPr txBox="1"/>
          <p:nvPr/>
        </p:nvSpPr>
        <p:spPr>
          <a:xfrm>
            <a:off x="4800600" y="4041648"/>
            <a:ext cx="3794760" cy="402336"/>
          </a:xfrm>
          <a:prstGeom prst="rect">
            <a:avLst/>
          </a:prstGeom>
          <a:noFill/>
          <a:ln/>
        </p:spPr>
        <p:txBody>
          <a:bodyPr wrap="square" lIns="0" tIns="0" rIns="0" bIns="0" rtlCol="0" anchor="ctr"/>
          <a:lstStyle/>
          <a:p>
            <a:pPr indent="0" marL="0">
              <a:buNone/>
            </a:pPr>
            <a:r>
              <a:rPr lang="en-US" sz="1250" dirty="0">
                <a:solidFill>
                  <a:schemeClr val="bg1"/>
                </a:solidFill>
              </a:rPr>
              <a:t>Separate batch / stream Compose profiles, mem limits</a:t>
            </a:r>
            <a:endParaRPr lang="en-US" sz="1250" dirty="0"/>
          </a:p>
        </p:txBody>
      </p:sp>
      <p:sp>
        <p:nvSpPr>
          <p:cNvPr id="25" name="Slide Number Placeholder 0"/>
          <p:cNvSpPr>
            <a:spLocks noGrp="1"/>
          </p:cNvSpPr>
          <p:nvPr>
            <p:ph type="sldNum" sz="quarter" idx="4294967295"/>
          </p:nvPr>
        </p:nvSpPr>
        <p:spPr>
          <a:xfrm>
            <a:off x="8229600" y="479145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800" b="1" dirty="0">
                <a:solidFill>
                  <a:schemeClr val="tx2"/>
                </a:solidFill>
              </a:rPr>
              <a:t>Limitations &amp; Future Work</a:t>
            </a:r>
            <a:endParaRPr lang="en-US" sz="2800" dirty="0"/>
          </a:p>
        </p:txBody>
      </p:sp>
      <p:sp>
        <p:nvSpPr>
          <p:cNvPr id="4" name="card-554"/>
          <p:cNvSpPr/>
          <p:nvPr/>
        </p:nvSpPr>
        <p:spPr>
          <a:xfrm>
            <a:off x="457200" y="1005840"/>
            <a:ext cx="3977640" cy="3474720"/>
          </a:xfrm>
          <a:prstGeom prst="roundRect">
            <a:avLst>
              <a:gd name="adj" fmla="val 2105"/>
            </a:avLst>
          </a:prstGeom>
          <a:solidFill>
            <a:schemeClr val="bg2"/>
          </a:solidFill>
          <a:ln w="12700">
            <a:solidFill>
              <a:schemeClr val="bg2"/>
            </a:solidFill>
            <a:prstDash val="solid"/>
          </a:ln>
        </p:spPr>
      </p:sp>
      <p:sp>
        <p:nvSpPr>
          <p:cNvPr id="5" name="text-555"/>
          <p:cNvSpPr txBox="1"/>
          <p:nvPr/>
        </p:nvSpPr>
        <p:spPr>
          <a:xfrm>
            <a:off x="685800" y="1143000"/>
            <a:ext cx="3566160" cy="320040"/>
          </a:xfrm>
          <a:prstGeom prst="rect">
            <a:avLst/>
          </a:prstGeom>
          <a:noFill/>
          <a:ln/>
        </p:spPr>
        <p:txBody>
          <a:bodyPr wrap="square" lIns="0" tIns="0" rIns="0" bIns="0" rtlCol="0" anchor="t"/>
          <a:lstStyle/>
          <a:p>
            <a:pPr indent="0" marL="0">
              <a:buNone/>
            </a:pPr>
            <a:r>
              <a:rPr lang="en-US" sz="1600" b="1" dirty="0">
                <a:solidFill>
                  <a:schemeClr val="tx2"/>
                </a:solidFill>
              </a:rPr>
              <a:t>Limitations</a:t>
            </a:r>
            <a:endParaRPr lang="en-US" sz="1600" dirty="0"/>
          </a:p>
        </p:txBody>
      </p:sp>
      <p:sp>
        <p:nvSpPr>
          <p:cNvPr id="6" name="text-556"/>
          <p:cNvSpPr txBox="1"/>
          <p:nvPr/>
        </p:nvSpPr>
        <p:spPr>
          <a:xfrm>
            <a:off x="685800" y="1600200"/>
            <a:ext cx="3566160" cy="27432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~1-minute downsampling: sub-minute disablings are undetectable</a:t>
            </a:r>
            <a:endParaRPr lang="en-US" sz="1300" dirty="0"/>
          </a:p>
          <a:p>
            <a:pPr marL="342900" indent="-342900">
              <a:spcAft>
                <a:spcPts val="800"/>
              </a:spcAft>
              <a:buSzPct val="100000"/>
              <a:buChar char="•"/>
            </a:pPr>
            <a:r>
              <a:rPr lang="en-US" sz="1300" dirty="0">
                <a:solidFill>
                  <a:schemeClr val="tx1"/>
                </a:solidFill>
              </a:rPr>
              <a:t>AIS is cooperative: a vessel dark from port departure leaves no trail</a:t>
            </a:r>
            <a:endParaRPr lang="en-US" sz="1300" dirty="0"/>
          </a:p>
          <a:p>
            <a:pPr marL="342900" indent="-342900">
              <a:spcAft>
                <a:spcPts val="800"/>
              </a:spcAft>
              <a:buSzPct val="100000"/>
              <a:buChar char="•"/>
            </a:pPr>
            <a:r>
              <a:rPr lang="en-US" sz="1300" dirty="0">
                <a:solidFill>
                  <a:schemeClr val="tx1"/>
                </a:solidFill>
              </a:rPr>
              <a:t>Evaluation uses synthetic labels injected into real data</a:t>
            </a:r>
            <a:endParaRPr lang="en-US" sz="1300" dirty="0"/>
          </a:p>
          <a:p>
            <a:pPr marL="342900" indent="-342900">
              <a:spcAft>
                <a:spcPts val="800"/>
              </a:spcAft>
              <a:buSzPct val="100000"/>
              <a:buChar char="•"/>
            </a:pPr>
            <a:r>
              <a:rPr lang="en-US" sz="1300" dirty="0">
                <a:solidFill>
                  <a:schemeClr val="tx1"/>
                </a:solidFill>
              </a:rPr>
              <a:t>Scope limited to US coastal waters (Marine Cadastre)</a:t>
            </a:r>
            <a:endParaRPr lang="en-US" sz="1300" dirty="0"/>
          </a:p>
        </p:txBody>
      </p:sp>
      <p:sp>
        <p:nvSpPr>
          <p:cNvPr id="7" name="card-557"/>
          <p:cNvSpPr/>
          <p:nvPr/>
        </p:nvSpPr>
        <p:spPr>
          <a:xfrm>
            <a:off x="4709160" y="1005840"/>
            <a:ext cx="3977640" cy="3474720"/>
          </a:xfrm>
          <a:prstGeom prst="roundRect">
            <a:avLst>
              <a:gd name="adj" fmla="val 2105"/>
            </a:avLst>
          </a:prstGeom>
          <a:solidFill>
            <a:schemeClr val="tx2"/>
          </a:solidFill>
          <a:ln w="12700">
            <a:solidFill>
              <a:schemeClr val="tx2"/>
            </a:solidFill>
            <a:prstDash val="solid"/>
          </a:ln>
        </p:spPr>
      </p:sp>
      <p:sp>
        <p:nvSpPr>
          <p:cNvPr id="8" name="circle-558"/>
          <p:cNvSpPr/>
          <p:nvPr/>
        </p:nvSpPr>
        <p:spPr>
          <a:xfrm>
            <a:off x="4937760" y="1143000"/>
            <a:ext cx="384048" cy="384048"/>
          </a:xfrm>
          <a:prstGeom prst="ellipse">
            <a:avLst/>
          </a:prstGeom>
          <a:solidFill>
            <a:schemeClr val="accent2"/>
          </a:solidFill>
          <a:ln w="12700">
            <a:solidFill>
              <a:schemeClr val="accent2"/>
            </a:solidFill>
            <a:prstDash val="solid"/>
          </a:ln>
        </p:spPr>
      </p:sp>
      <p:pic>
        <p:nvPicPr>
          <p:cNvPr id="9" name="icon-559" descr="preencoded.png">    </p:cNvPr>
          <p:cNvPicPr>
            <a:picLocks noChangeAspect="1"/>
          </p:cNvPicPr>
          <p:nvPr/>
        </p:nvPicPr>
        <p:blipFill>
          <a:blip r:embed="rId1"/>
          <a:stretch>
            <a:fillRect/>
          </a:stretch>
        </p:blipFill>
        <p:spPr>
          <a:xfrm>
            <a:off x="5037612" y="1242852"/>
            <a:ext cx="184343" cy="184343"/>
          </a:xfrm>
          <a:prstGeom prst="rect">
            <a:avLst/>
          </a:prstGeom>
        </p:spPr>
      </p:pic>
      <p:sp>
        <p:nvSpPr>
          <p:cNvPr id="10" name="text-560"/>
          <p:cNvSpPr txBox="1"/>
          <p:nvPr/>
        </p:nvSpPr>
        <p:spPr>
          <a:xfrm>
            <a:off x="5440680" y="1143000"/>
            <a:ext cx="3108960" cy="384048"/>
          </a:xfrm>
          <a:prstGeom prst="rect">
            <a:avLst/>
          </a:prstGeom>
          <a:noFill/>
          <a:ln/>
        </p:spPr>
        <p:txBody>
          <a:bodyPr wrap="square" lIns="0" tIns="0" rIns="0" bIns="0" rtlCol="0" anchor="ctr"/>
          <a:lstStyle/>
          <a:p>
            <a:pPr indent="0" marL="0">
              <a:buNone/>
            </a:pPr>
            <a:r>
              <a:rPr lang="en-US" sz="1600" b="1" dirty="0">
                <a:solidFill>
                  <a:schemeClr val="bg1"/>
                </a:solidFill>
              </a:rPr>
              <a:t>Future work</a:t>
            </a:r>
            <a:endParaRPr lang="en-US" sz="1600" dirty="0"/>
          </a:p>
        </p:txBody>
      </p:sp>
      <p:sp>
        <p:nvSpPr>
          <p:cNvPr id="11" name="text-561"/>
          <p:cNvSpPr txBox="1"/>
          <p:nvPr/>
        </p:nvSpPr>
        <p:spPr>
          <a:xfrm>
            <a:off x="4937760" y="1691640"/>
            <a:ext cx="3566160" cy="26517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bg1"/>
                </a:solidFill>
              </a:rPr>
              <a:t>Sentinel-1 SAR fusion: radar contacts with no matching AIS = verified dark vessels</a:t>
            </a:r>
            <a:endParaRPr lang="en-US" sz="1300" dirty="0"/>
          </a:p>
          <a:p>
            <a:pPr marL="342900" indent="-342900">
              <a:spcAft>
                <a:spcPts val="800"/>
              </a:spcAft>
              <a:buSzPct val="100000"/>
              <a:buChar char="•"/>
            </a:pPr>
            <a:r>
              <a:rPr lang="en-US" sz="1300" dirty="0">
                <a:solidFill>
                  <a:schemeClr val="bg1"/>
                </a:solidFill>
              </a:rPr>
              <a:t>Cross-check against Global Fishing Watch disabling events</a:t>
            </a:r>
            <a:endParaRPr lang="en-US" sz="1300" dirty="0"/>
          </a:p>
          <a:p>
            <a:pPr marL="342900" indent="-342900">
              <a:spcAft>
                <a:spcPts val="800"/>
              </a:spcAft>
              <a:buSzPct val="100000"/>
              <a:buChar char="•"/>
            </a:pPr>
            <a:r>
              <a:rPr lang="en-US" sz="1300" dirty="0">
                <a:solidFill>
                  <a:schemeClr val="bg1"/>
                </a:solidFill>
              </a:rPr>
              <a:t>Spark Structured Streaming foreachBatch adapter for horizontal scale</a:t>
            </a:r>
            <a:endParaRPr lang="en-US" sz="1300" dirty="0"/>
          </a:p>
          <a:p>
            <a:pPr marL="342900" indent="-342900">
              <a:spcAft>
                <a:spcPts val="800"/>
              </a:spcAft>
              <a:buSzPct val="100000"/>
              <a:buChar char="•"/>
            </a:pPr>
            <a:r>
              <a:rPr lang="en-US" sz="1300" dirty="0">
                <a:solidFill>
                  <a:schemeClr val="bg1"/>
                </a:solidFill>
              </a:rPr>
              <a:t>Sequence models (e.g. LSTM autoencoders) for richer trajectories</a:t>
            </a:r>
            <a:endParaRPr lang="en-US" sz="1300" dirty="0"/>
          </a:p>
        </p:txBody>
      </p:sp>
      <p:sp>
        <p:nvSpPr>
          <p:cNvPr id="25" name="Slide Number Placeholder 0"/>
          <p:cNvSpPr>
            <a:spLocks noGrp="1"/>
          </p:cNvSpPr>
          <p:nvPr>
            <p:ph type="sldNum" sz="quarter" idx="4294967295"/>
          </p:nvPr>
        </p:nvSpPr>
        <p:spPr>
          <a:xfrm>
            <a:off x="8229600" y="479145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562"/>
          <p:cNvSpPr txBox="1"/>
          <p:nvPr/>
        </p:nvSpPr>
        <p:spPr>
          <a:xfrm>
            <a:off x="548640" y="411480"/>
            <a:ext cx="7315200" cy="640080"/>
          </a:xfrm>
          <a:prstGeom prst="rect">
            <a:avLst/>
          </a:prstGeom>
          <a:noFill/>
          <a:ln/>
        </p:spPr>
        <p:txBody>
          <a:bodyPr wrap="square" lIns="0" tIns="0" rIns="0" bIns="0" rtlCol="0" anchor="t"/>
          <a:lstStyle/>
          <a:p>
            <a:pPr indent="0" marL="0">
              <a:buNone/>
            </a:pPr>
            <a:r>
              <a:rPr lang="en-US" sz="3200" b="1" dirty="0">
                <a:solidFill>
                  <a:schemeClr val="bg1"/>
                </a:solidFill>
              </a:rPr>
              <a:t>Conclusion</a:t>
            </a:r>
            <a:endParaRPr lang="en-US" sz="3200" dirty="0"/>
          </a:p>
        </p:txBody>
      </p:sp>
      <p:sp>
        <p:nvSpPr>
          <p:cNvPr id="3" name="circle-563"/>
          <p:cNvSpPr/>
          <p:nvPr/>
        </p:nvSpPr>
        <p:spPr>
          <a:xfrm>
            <a:off x="548640" y="1325880"/>
            <a:ext cx="475488" cy="475488"/>
          </a:xfrm>
          <a:prstGeom prst="ellipse">
            <a:avLst/>
          </a:prstGeom>
          <a:solidFill>
            <a:schemeClr val="accent2"/>
          </a:solidFill>
          <a:ln w="12700">
            <a:solidFill>
              <a:schemeClr val="accent2"/>
            </a:solidFill>
            <a:prstDash val="solid"/>
          </a:ln>
        </p:spPr>
      </p:sp>
      <p:pic>
        <p:nvPicPr>
          <p:cNvPr id="4" name="icon-564" descr="preencoded.png">    </p:cNvPr>
          <p:cNvPicPr>
            <a:picLocks noChangeAspect="1"/>
          </p:cNvPicPr>
          <p:nvPr/>
        </p:nvPicPr>
        <p:blipFill>
          <a:blip r:embed="rId1"/>
          <a:stretch>
            <a:fillRect/>
          </a:stretch>
        </p:blipFill>
        <p:spPr>
          <a:xfrm>
            <a:off x="672267" y="1449507"/>
            <a:ext cx="228234" cy="228234"/>
          </a:xfrm>
          <a:prstGeom prst="rect">
            <a:avLst/>
          </a:prstGeom>
        </p:spPr>
      </p:pic>
      <p:sp>
        <p:nvSpPr>
          <p:cNvPr id="5" name="text-565"/>
          <p:cNvSpPr txBox="1"/>
          <p:nvPr/>
        </p:nvSpPr>
        <p:spPr>
          <a:xfrm>
            <a:off x="1188720" y="1325880"/>
            <a:ext cx="3246120" cy="320040"/>
          </a:xfrm>
          <a:prstGeom prst="rect">
            <a:avLst/>
          </a:prstGeom>
          <a:noFill/>
          <a:ln/>
        </p:spPr>
        <p:txBody>
          <a:bodyPr wrap="square" lIns="0" tIns="0" rIns="0" bIns="0" rtlCol="0" anchor="t"/>
          <a:lstStyle/>
          <a:p>
            <a:pPr indent="0" marL="0">
              <a:buNone/>
            </a:pPr>
            <a:r>
              <a:rPr lang="en-US" sz="1600" b="1" dirty="0">
                <a:solidFill>
                  <a:schemeClr val="bg1"/>
                </a:solidFill>
              </a:rPr>
              <a:t>Gap ≠ dark vessel</a:t>
            </a:r>
            <a:endParaRPr lang="en-US" sz="1600" dirty="0"/>
          </a:p>
        </p:txBody>
      </p:sp>
      <p:sp>
        <p:nvSpPr>
          <p:cNvPr id="6" name="text-566"/>
          <p:cNvSpPr txBox="1"/>
          <p:nvPr/>
        </p:nvSpPr>
        <p:spPr>
          <a:xfrm>
            <a:off x="1188720" y="1673352"/>
            <a:ext cx="3246120" cy="914400"/>
          </a:xfrm>
          <a:prstGeom prst="rect">
            <a:avLst/>
          </a:prstGeom>
          <a:noFill/>
          <a:ln/>
        </p:spPr>
        <p:txBody>
          <a:bodyPr wrap="square" lIns="0" tIns="0" rIns="0" bIns="0" rtlCol="0" anchor="t"/>
          <a:lstStyle/>
          <a:p>
            <a:pPr indent="0" marL="0">
              <a:buNone/>
            </a:pPr>
            <a:r>
              <a:rPr lang="en-US" sz="1300" dirty="0">
                <a:solidFill>
                  <a:schemeClr val="accent4"/>
                </a:solidFill>
              </a:rPr>
              <a:t>Normalising silence against learned receiver coverage turns an unusable alert feed into a trustworthy one.</a:t>
            </a:r>
            <a:endParaRPr lang="en-US" sz="1300" dirty="0"/>
          </a:p>
        </p:txBody>
      </p:sp>
      <p:sp>
        <p:nvSpPr>
          <p:cNvPr id="7" name="circle-567"/>
          <p:cNvSpPr/>
          <p:nvPr/>
        </p:nvSpPr>
        <p:spPr>
          <a:xfrm>
            <a:off x="4663440" y="1325880"/>
            <a:ext cx="475488" cy="475488"/>
          </a:xfrm>
          <a:prstGeom prst="ellipse">
            <a:avLst/>
          </a:prstGeom>
          <a:solidFill>
            <a:schemeClr val="accent2"/>
          </a:solidFill>
          <a:ln w="12700">
            <a:solidFill>
              <a:schemeClr val="accent2"/>
            </a:solidFill>
            <a:prstDash val="solid"/>
          </a:ln>
        </p:spPr>
      </p:sp>
      <p:pic>
        <p:nvPicPr>
          <p:cNvPr id="8" name="icon-568" descr="preencoded.png">    </p:cNvPr>
          <p:cNvPicPr>
            <a:picLocks noChangeAspect="1"/>
          </p:cNvPicPr>
          <p:nvPr/>
        </p:nvPicPr>
        <p:blipFill>
          <a:blip r:embed="rId2"/>
          <a:stretch>
            <a:fillRect/>
          </a:stretch>
        </p:blipFill>
        <p:spPr>
          <a:xfrm>
            <a:off x="4787067" y="1449507"/>
            <a:ext cx="228234" cy="228234"/>
          </a:xfrm>
          <a:prstGeom prst="rect">
            <a:avLst/>
          </a:prstGeom>
        </p:spPr>
      </p:pic>
      <p:sp>
        <p:nvSpPr>
          <p:cNvPr id="9" name="text-569"/>
          <p:cNvSpPr txBox="1"/>
          <p:nvPr/>
        </p:nvSpPr>
        <p:spPr>
          <a:xfrm>
            <a:off x="5303520" y="1325880"/>
            <a:ext cx="3246120" cy="320040"/>
          </a:xfrm>
          <a:prstGeom prst="rect">
            <a:avLst/>
          </a:prstGeom>
          <a:noFill/>
          <a:ln/>
        </p:spPr>
        <p:txBody>
          <a:bodyPr wrap="square" lIns="0" tIns="0" rIns="0" bIns="0" rtlCol="0" anchor="t"/>
          <a:lstStyle/>
          <a:p>
            <a:pPr indent="0" marL="0">
              <a:buNone/>
            </a:pPr>
            <a:r>
              <a:rPr lang="en-US" sz="1600" b="1" dirty="0">
                <a:solidFill>
                  <a:schemeClr val="bg1"/>
                </a:solidFill>
              </a:rPr>
              <a:t>Three genuinely integrated tools</a:t>
            </a:r>
            <a:endParaRPr lang="en-US" sz="1600" dirty="0"/>
          </a:p>
        </p:txBody>
      </p:sp>
      <p:sp>
        <p:nvSpPr>
          <p:cNvPr id="10" name="text-570"/>
          <p:cNvSpPr txBox="1"/>
          <p:nvPr/>
        </p:nvSpPr>
        <p:spPr>
          <a:xfrm>
            <a:off x="5303520" y="1673352"/>
            <a:ext cx="3246120" cy="914400"/>
          </a:xfrm>
          <a:prstGeom prst="rect">
            <a:avLst/>
          </a:prstGeom>
          <a:noFill/>
          <a:ln/>
        </p:spPr>
        <p:txBody>
          <a:bodyPr wrap="square" lIns="0" tIns="0" rIns="0" bIns="0" rtlCol="0" anchor="t"/>
          <a:lstStyle/>
          <a:p>
            <a:pPr indent="0" marL="0">
              <a:buNone/>
            </a:pPr>
            <a:r>
              <a:rPr lang="en-US" sz="1300" dirty="0">
                <a:solidFill>
                  <a:schemeClr val="accent4"/>
                </a:solidFill>
              </a:rPr>
              <a:t>Kafka streams it, Spark learns the coverage prior, MLlib learns normal trajectories — each stage feeds the next.</a:t>
            </a:r>
            <a:endParaRPr lang="en-US" sz="1300" dirty="0"/>
          </a:p>
        </p:txBody>
      </p:sp>
      <p:sp>
        <p:nvSpPr>
          <p:cNvPr id="11" name="circle-571"/>
          <p:cNvSpPr/>
          <p:nvPr/>
        </p:nvSpPr>
        <p:spPr>
          <a:xfrm>
            <a:off x="548640" y="2926080"/>
            <a:ext cx="475488" cy="475488"/>
          </a:xfrm>
          <a:prstGeom prst="ellipse">
            <a:avLst/>
          </a:prstGeom>
          <a:solidFill>
            <a:schemeClr val="accent2"/>
          </a:solidFill>
          <a:ln w="12700">
            <a:solidFill>
              <a:schemeClr val="accent2"/>
            </a:solidFill>
            <a:prstDash val="solid"/>
          </a:ln>
        </p:spPr>
      </p:sp>
      <p:pic>
        <p:nvPicPr>
          <p:cNvPr id="12" name="icon-572" descr="preencoded.png">    </p:cNvPr>
          <p:cNvPicPr>
            <a:picLocks noChangeAspect="1"/>
          </p:cNvPicPr>
          <p:nvPr/>
        </p:nvPicPr>
        <p:blipFill>
          <a:blip r:embed="rId3"/>
          <a:stretch>
            <a:fillRect/>
          </a:stretch>
        </p:blipFill>
        <p:spPr>
          <a:xfrm>
            <a:off x="672267" y="3049707"/>
            <a:ext cx="228234" cy="228234"/>
          </a:xfrm>
          <a:prstGeom prst="rect">
            <a:avLst/>
          </a:prstGeom>
        </p:spPr>
      </p:pic>
      <p:sp>
        <p:nvSpPr>
          <p:cNvPr id="13" name="text-573"/>
          <p:cNvSpPr txBox="1"/>
          <p:nvPr/>
        </p:nvSpPr>
        <p:spPr>
          <a:xfrm>
            <a:off x="1188720" y="2926080"/>
            <a:ext cx="3246120" cy="320040"/>
          </a:xfrm>
          <a:prstGeom prst="rect">
            <a:avLst/>
          </a:prstGeom>
          <a:noFill/>
          <a:ln/>
        </p:spPr>
        <p:txBody>
          <a:bodyPr wrap="square" lIns="0" tIns="0" rIns="0" bIns="0" rtlCol="0" anchor="t"/>
          <a:lstStyle/>
          <a:p>
            <a:pPr indent="0" marL="0">
              <a:buNone/>
            </a:pPr>
            <a:r>
              <a:rPr lang="en-US" sz="1600" b="1" dirty="0">
                <a:solidFill>
                  <a:schemeClr val="bg1"/>
                </a:solidFill>
              </a:rPr>
              <a:t>Measured, not claimed</a:t>
            </a:r>
            <a:endParaRPr lang="en-US" sz="1600" dirty="0"/>
          </a:p>
        </p:txBody>
      </p:sp>
      <p:sp>
        <p:nvSpPr>
          <p:cNvPr id="14" name="text-574"/>
          <p:cNvSpPr txBox="1"/>
          <p:nvPr/>
        </p:nvSpPr>
        <p:spPr>
          <a:xfrm>
            <a:off x="1188720" y="3273552"/>
            <a:ext cx="3246120" cy="914400"/>
          </a:xfrm>
          <a:prstGeom prst="rect">
            <a:avLst/>
          </a:prstGeom>
          <a:noFill/>
          <a:ln/>
        </p:spPr>
        <p:txBody>
          <a:bodyPr wrap="square" lIns="0" tIns="0" rIns="0" bIns="0" rtlCol="0" anchor="t"/>
          <a:lstStyle/>
          <a:p>
            <a:pPr indent="0" marL="0">
              <a:buNone/>
            </a:pPr>
            <a:r>
              <a:rPr lang="en-US" sz="1300" dirty="0">
                <a:solidFill>
                  <a:schemeClr val="accent4"/>
                </a:solidFill>
              </a:rPr>
              <a:t>0.949 F1 overall and a 2.2× precision gain with 92.9% fewer false alarms, proven by ablation.</a:t>
            </a:r>
            <a:endParaRPr lang="en-US" sz="1300" dirty="0"/>
          </a:p>
        </p:txBody>
      </p:sp>
      <p:sp>
        <p:nvSpPr>
          <p:cNvPr id="15" name="circle-575"/>
          <p:cNvSpPr/>
          <p:nvPr/>
        </p:nvSpPr>
        <p:spPr>
          <a:xfrm>
            <a:off x="4663440" y="2926080"/>
            <a:ext cx="475488" cy="475488"/>
          </a:xfrm>
          <a:prstGeom prst="ellipse">
            <a:avLst/>
          </a:prstGeom>
          <a:solidFill>
            <a:schemeClr val="accent2"/>
          </a:solidFill>
          <a:ln w="12700">
            <a:solidFill>
              <a:schemeClr val="accent2"/>
            </a:solidFill>
            <a:prstDash val="solid"/>
          </a:ln>
        </p:spPr>
      </p:sp>
      <p:pic>
        <p:nvPicPr>
          <p:cNvPr id="16" name="icon-576" descr="preencoded.png">    </p:cNvPr>
          <p:cNvPicPr>
            <a:picLocks noChangeAspect="1"/>
          </p:cNvPicPr>
          <p:nvPr/>
        </p:nvPicPr>
        <p:blipFill>
          <a:blip r:embed="rId4"/>
          <a:stretch>
            <a:fillRect/>
          </a:stretch>
        </p:blipFill>
        <p:spPr>
          <a:xfrm>
            <a:off x="4787067" y="3049707"/>
            <a:ext cx="228234" cy="228234"/>
          </a:xfrm>
          <a:prstGeom prst="rect">
            <a:avLst/>
          </a:prstGeom>
        </p:spPr>
      </p:pic>
      <p:sp>
        <p:nvSpPr>
          <p:cNvPr id="17" name="text-577"/>
          <p:cNvSpPr txBox="1"/>
          <p:nvPr/>
        </p:nvSpPr>
        <p:spPr>
          <a:xfrm>
            <a:off x="5303520" y="2926080"/>
            <a:ext cx="3246120" cy="320040"/>
          </a:xfrm>
          <a:prstGeom prst="rect">
            <a:avLst/>
          </a:prstGeom>
          <a:noFill/>
          <a:ln/>
        </p:spPr>
        <p:txBody>
          <a:bodyPr wrap="square" lIns="0" tIns="0" rIns="0" bIns="0" rtlCol="0" anchor="t"/>
          <a:lstStyle/>
          <a:p>
            <a:pPr indent="0" marL="0">
              <a:buNone/>
            </a:pPr>
            <a:r>
              <a:rPr lang="en-US" sz="1600" b="1" dirty="0">
                <a:solidFill>
                  <a:schemeClr val="bg1"/>
                </a:solidFill>
              </a:rPr>
              <a:t>Usable end to end</a:t>
            </a:r>
            <a:endParaRPr lang="en-US" sz="1600" dirty="0"/>
          </a:p>
        </p:txBody>
      </p:sp>
      <p:sp>
        <p:nvSpPr>
          <p:cNvPr id="18" name="text-578"/>
          <p:cNvSpPr txBox="1"/>
          <p:nvPr/>
        </p:nvSpPr>
        <p:spPr>
          <a:xfrm>
            <a:off x="5303520" y="3273552"/>
            <a:ext cx="3246120" cy="914400"/>
          </a:xfrm>
          <a:prstGeom prst="rect">
            <a:avLst/>
          </a:prstGeom>
          <a:noFill/>
          <a:ln/>
        </p:spPr>
        <p:txBody>
          <a:bodyPr wrap="square" lIns="0" tIns="0" rIns="0" bIns="0" rtlCol="0" anchor="t"/>
          <a:lstStyle/>
          <a:p>
            <a:pPr indent="0" marL="0">
              <a:buNone/>
            </a:pPr>
            <a:r>
              <a:rPr lang="en-US" sz="1300" dirty="0">
                <a:solidFill>
                  <a:schemeClr val="accent4"/>
                </a:solidFill>
              </a:rPr>
              <a:t>Reproducible with make commands, from raw AIS to a live 60 FPS tactical console.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ring-579"/>
          <p:cNvSpPr/>
          <p:nvPr/>
        </p:nvSpPr>
        <p:spPr>
          <a:xfrm>
            <a:off x="4160520" y="1188720"/>
            <a:ext cx="822960" cy="822960"/>
          </a:xfrm>
          <a:prstGeom prst="ellipse">
            <a:avLst/>
          </a:prstGeom>
          <a:solidFill>
            <a:schemeClr val="tx2">
              <a:alpha val="0"/>
            </a:schemeClr>
          </a:solidFill>
          <a:ln w="9525">
            <a:solidFill>
              <a:schemeClr val="accent4">
                <a:alpha val="45000"/>
              </a:schemeClr>
            </a:solidFill>
            <a:prstDash val="solid"/>
          </a:ln>
        </p:spPr>
      </p:sp>
      <p:sp>
        <p:nvSpPr>
          <p:cNvPr id="3" name="ring-580"/>
          <p:cNvSpPr/>
          <p:nvPr/>
        </p:nvSpPr>
        <p:spPr>
          <a:xfrm>
            <a:off x="3794760" y="822960"/>
            <a:ext cx="1554480" cy="1554480"/>
          </a:xfrm>
          <a:prstGeom prst="ellipse">
            <a:avLst/>
          </a:prstGeom>
          <a:solidFill>
            <a:schemeClr val="tx2">
              <a:alpha val="0"/>
            </a:schemeClr>
          </a:solidFill>
          <a:ln w="9525">
            <a:solidFill>
              <a:schemeClr val="accent4">
                <a:alpha val="45000"/>
              </a:schemeClr>
            </a:solidFill>
            <a:prstDash val="solid"/>
          </a:ln>
        </p:spPr>
      </p:sp>
      <p:sp>
        <p:nvSpPr>
          <p:cNvPr id="4" name="ring-581"/>
          <p:cNvSpPr/>
          <p:nvPr/>
        </p:nvSpPr>
        <p:spPr>
          <a:xfrm>
            <a:off x="3429000" y="457200"/>
            <a:ext cx="2286000" cy="2286000"/>
          </a:xfrm>
          <a:prstGeom prst="ellipse">
            <a:avLst/>
          </a:prstGeom>
          <a:solidFill>
            <a:schemeClr val="tx2">
              <a:alpha val="0"/>
            </a:schemeClr>
          </a:solidFill>
          <a:ln w="9525">
            <a:solidFill>
              <a:schemeClr val="accent4">
                <a:alpha val="45000"/>
              </a:schemeClr>
            </a:solidFill>
            <a:prstDash val="solid"/>
          </a:ln>
        </p:spPr>
      </p:sp>
      <p:sp>
        <p:nvSpPr>
          <p:cNvPr id="5" name="axis-582"/>
          <p:cNvSpPr/>
          <p:nvPr/>
        </p:nvSpPr>
        <p:spPr>
          <a:xfrm>
            <a:off x="3429000" y="1600200"/>
            <a:ext cx="2286000" cy="0"/>
          </a:xfrm>
          <a:prstGeom prst="line">
            <a:avLst/>
          </a:prstGeom>
          <a:noFill/>
          <a:ln w="6350">
            <a:solidFill>
              <a:schemeClr val="accent4">
                <a:alpha val="30000"/>
              </a:schemeClr>
            </a:solidFill>
            <a:prstDash val="solid"/>
          </a:ln>
        </p:spPr>
      </p:sp>
      <p:sp>
        <p:nvSpPr>
          <p:cNvPr id="6" name="axis-583"/>
          <p:cNvSpPr/>
          <p:nvPr/>
        </p:nvSpPr>
        <p:spPr>
          <a:xfrm>
            <a:off x="4572000" y="457200"/>
            <a:ext cx="0" cy="2286000"/>
          </a:xfrm>
          <a:prstGeom prst="line">
            <a:avLst/>
          </a:prstGeom>
          <a:noFill/>
          <a:ln w="6350">
            <a:solidFill>
              <a:schemeClr val="accent4">
                <a:alpha val="30000"/>
              </a:schemeClr>
            </a:solidFill>
            <a:prstDash val="solid"/>
          </a:ln>
        </p:spPr>
      </p:sp>
      <p:sp>
        <p:nvSpPr>
          <p:cNvPr id="7" name="dot-584"/>
          <p:cNvSpPr/>
          <p:nvPr/>
        </p:nvSpPr>
        <p:spPr>
          <a:xfrm>
            <a:off x="4160520" y="1234440"/>
            <a:ext cx="91440" cy="91440"/>
          </a:xfrm>
          <a:prstGeom prst="ellipse">
            <a:avLst/>
          </a:prstGeom>
          <a:solidFill>
            <a:schemeClr val="accent4"/>
          </a:solidFill>
          <a:ln w="12700">
            <a:solidFill>
              <a:schemeClr val="accent4"/>
            </a:solidFill>
            <a:prstDash val="solid"/>
          </a:ln>
        </p:spPr>
      </p:sp>
      <p:sp>
        <p:nvSpPr>
          <p:cNvPr id="8" name="dot-585"/>
          <p:cNvSpPr/>
          <p:nvPr/>
        </p:nvSpPr>
        <p:spPr>
          <a:xfrm>
            <a:off x="5029200" y="1737360"/>
            <a:ext cx="91440" cy="91440"/>
          </a:xfrm>
          <a:prstGeom prst="ellipse">
            <a:avLst/>
          </a:prstGeom>
          <a:solidFill>
            <a:schemeClr val="accent4"/>
          </a:solidFill>
          <a:ln w="12700">
            <a:solidFill>
              <a:schemeClr val="accent4"/>
            </a:solidFill>
            <a:prstDash val="solid"/>
          </a:ln>
        </p:spPr>
      </p:sp>
      <p:sp>
        <p:nvSpPr>
          <p:cNvPr id="9" name="dot-586"/>
          <p:cNvSpPr/>
          <p:nvPr/>
        </p:nvSpPr>
        <p:spPr>
          <a:xfrm>
            <a:off x="4023360" y="2057400"/>
            <a:ext cx="91440" cy="91440"/>
          </a:xfrm>
          <a:prstGeom prst="ellipse">
            <a:avLst/>
          </a:prstGeom>
          <a:solidFill>
            <a:schemeClr val="accent4"/>
          </a:solidFill>
          <a:ln w="12700">
            <a:solidFill>
              <a:schemeClr val="accent4"/>
            </a:solidFill>
            <a:prstDash val="solid"/>
          </a:ln>
        </p:spPr>
      </p:sp>
      <p:sp>
        <p:nvSpPr>
          <p:cNvPr id="10" name="dot-587"/>
          <p:cNvSpPr/>
          <p:nvPr/>
        </p:nvSpPr>
        <p:spPr>
          <a:xfrm>
            <a:off x="4828032" y="804672"/>
            <a:ext cx="128016" cy="128016"/>
          </a:xfrm>
          <a:prstGeom prst="ellipse">
            <a:avLst/>
          </a:prstGeom>
          <a:solidFill>
            <a:schemeClr val="accent3"/>
          </a:solidFill>
          <a:ln w="12700">
            <a:solidFill>
              <a:schemeClr val="accent3"/>
            </a:solidFill>
            <a:prstDash val="solid"/>
          </a:ln>
        </p:spPr>
      </p:sp>
      <p:sp>
        <p:nvSpPr>
          <p:cNvPr id="11" name="text-588"/>
          <p:cNvSpPr txBox="1"/>
          <p:nvPr/>
        </p:nvSpPr>
        <p:spPr>
          <a:xfrm>
            <a:off x="914400" y="2880360"/>
            <a:ext cx="7315200" cy="640080"/>
          </a:xfrm>
          <a:prstGeom prst="rect">
            <a:avLst/>
          </a:prstGeom>
          <a:noFill/>
          <a:ln/>
        </p:spPr>
        <p:txBody>
          <a:bodyPr wrap="square" lIns="0" tIns="0" rIns="0" bIns="0" rtlCol="0" anchor="t"/>
          <a:lstStyle/>
          <a:p>
            <a:pPr algn="ctr" indent="0" marL="0">
              <a:buNone/>
            </a:pPr>
            <a:r>
              <a:rPr lang="en-US" sz="3600" b="1" dirty="0">
                <a:solidFill>
                  <a:schemeClr val="bg1"/>
                </a:solidFill>
              </a:rPr>
              <a:t>Thank You</a:t>
            </a:r>
            <a:endParaRPr lang="en-US" sz="3600" dirty="0"/>
          </a:p>
        </p:txBody>
      </p:sp>
      <p:sp>
        <p:nvSpPr>
          <p:cNvPr id="12" name="text-589"/>
          <p:cNvSpPr txBox="1"/>
          <p:nvPr/>
        </p:nvSpPr>
        <p:spPr>
          <a:xfrm>
            <a:off x="914400" y="3474720"/>
            <a:ext cx="7315200" cy="365760"/>
          </a:xfrm>
          <a:prstGeom prst="rect">
            <a:avLst/>
          </a:prstGeom>
          <a:noFill/>
          <a:ln/>
        </p:spPr>
        <p:txBody>
          <a:bodyPr wrap="square" lIns="0" tIns="0" rIns="0" bIns="0" rtlCol="0" anchor="t"/>
          <a:lstStyle/>
          <a:p>
            <a:pPr algn="ctr" indent="0" marL="0">
              <a:buNone/>
            </a:pPr>
            <a:r>
              <a:rPr lang="en-US" sz="1600" dirty="0">
                <a:solidFill>
                  <a:schemeClr val="accent4"/>
                </a:solidFill>
              </a:rPr>
              <a:t>Questions?</a:t>
            </a:r>
            <a:endParaRPr lang="en-US" sz="1600" dirty="0"/>
          </a:p>
        </p:txBody>
      </p:sp>
      <p:sp>
        <p:nvSpPr>
          <p:cNvPr id="13" name="text-590"/>
          <p:cNvSpPr txBox="1"/>
          <p:nvPr/>
        </p:nvSpPr>
        <p:spPr>
          <a:xfrm>
            <a:off x="457200" y="4069080"/>
            <a:ext cx="8229600" cy="274320"/>
          </a:xfrm>
          <a:prstGeom prst="rect">
            <a:avLst/>
          </a:prstGeom>
          <a:noFill/>
          <a:ln/>
        </p:spPr>
        <p:txBody>
          <a:bodyPr wrap="square" lIns="0" tIns="0" rIns="0" bIns="0" rtlCol="0" anchor="t"/>
          <a:lstStyle/>
          <a:p>
            <a:pPr algn="ctr" indent="0" marL="0">
              <a:buNone/>
            </a:pPr>
            <a:r>
              <a:rPr lang="en-US" sz="1200" dirty="0">
                <a:solidFill>
                  <a:schemeClr val="bg1"/>
                </a:solidFill>
              </a:rPr>
              <a:t>Mayank Verma (2023BCS0204)   ·   Anoushka Samanta (2023BCS0147)   ·   Priyansh Gautam (2023BCS0186)</a:t>
            </a:r>
            <a:endParaRPr lang="en-US" sz="1200" dirty="0"/>
          </a:p>
        </p:txBody>
      </p:sp>
      <p:sp>
        <p:nvSpPr>
          <p:cNvPr id="14" name="text-591">
            <a:hlinkClick r:id="rId1" tooltip=""/>
          </p:cNvPr>
          <p:cNvSpPr txBox="1"/>
          <p:nvPr/>
        </p:nvSpPr>
        <p:spPr>
          <a:xfrm>
            <a:off x="457200" y="4389120"/>
            <a:ext cx="8229600" cy="274320"/>
          </a:xfrm>
          <a:prstGeom prst="rect">
            <a:avLst/>
          </a:prstGeom>
          <a:noFill/>
          <a:ln/>
        </p:spPr>
        <p:txBody>
          <a:bodyPr wrap="square" lIns="0" tIns="0" rIns="0" bIns="0" rtlCol="0" anchor="t"/>
          <a:lstStyle/>
          <a:p>
            <a:pPr algn="ctr" indent="0" marL="0">
              <a:buNone/>
            </a:pPr>
            <a:r>
              <a:rPr lang="en-US" sz="1100" u="sng" dirty="0">
                <a:solidFill>
                  <a:schemeClr val="accent4"/>
                </a:solidFill>
                <a:hlinkClick r:id="rId1" invalidUrl="" action="" tgtFrame="" tooltip="" history="1" highlightClick="0" endSnd="0">
                  <a:extLst>
                    <a:ext uri="{A12FA001-AC4F-418D-AE19-62706E023703}">
                      <ahyp:hlinkClr xmlns:ahyp="http://schemas.microsoft.com/office/drawing/2018/hyperlinkcolor" val="tx"/>
                    </a:ext>
                  </a:extLst>
                </a:hlinkClick>
              </a:rPr>
              <a:t>github.com/AnoushkaSamanta/big-data-project</a:t>
            </a:r>
            <a:endParaRPr lang="en-US" sz="1100" dirty="0"/>
          </a:p>
        </p:txBody>
      </p:sp>
    </p:spTree>
  </p:cSld>
  <p:clrMapOvr>
    <a:masterClrMapping/>
  </p:clrMapOvr>
</p:sld>
</file>

<file path=ppt/theme/theme1.xml><?xml version="1.0" encoding="utf-8"?>
<a:theme xmlns:a="http://schemas.openxmlformats.org/drawingml/2006/main" name="Dark Vessel Detection">
  <a:themeElements>
    <a:clrScheme name="Dark Vessel Detection">
      <a:dk1>
        <a:srgbClr val="1A2230"/>
      </a:dk1>
      <a:lt1>
        <a:srgbClr val="FFFFFF"/>
      </a:lt1>
      <a:dk2>
        <a:srgbClr val="0F2438"/>
      </a:dk2>
      <a:lt2>
        <a:srgbClr val="F0F3F6"/>
      </a:lt2>
      <a:accent1>
        <a:srgbClr val="1B4F72"/>
      </a:accent1>
      <a:accent2>
        <a:srgbClr val="2A7F8F"/>
      </a:accent2>
      <a:accent3>
        <a:srgbClr val="D08A1E"/>
      </a:accent3>
      <a:accent4>
        <a:srgbClr val="8FA8BF"/>
      </a:accent4>
      <a:accent5>
        <a:srgbClr val="5B6B7B"/>
      </a:accent5>
      <a:accent6>
        <a:srgbClr val="B03A2E"/>
      </a:accent6>
      <a:hlink>
        <a:srgbClr val="1B4F72"/>
      </a:hlink>
      <a:folHlink>
        <a:srgbClr val="5B6B7B"/>
      </a:folHlink>
    </a:clrScheme>
    <a:fontScheme name="Dark Vessel Detectio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Dark Vessel Detection System</dc:title>
  <dc:subject>PptxGenJS Presentation</dc:subject>
  <dc:creator>Mayank Verma, Anoushka Samanta, Priyansh Gautam</dc:creator>
  <cp:lastModifiedBy>Mayank Verma, Anoushka Samanta, Priyansh Gautam</cp:lastModifiedBy>
  <cp:revision>1</cp:revision>
  <dcterms:created xsi:type="dcterms:W3CDTF">2026-10-17T10:00:10Z</dcterms:created>
  <dcterms:modified xsi:type="dcterms:W3CDTF">2026-10-17T10:00:10Z</dcterms:modified>
</cp:coreProperties>
</file>